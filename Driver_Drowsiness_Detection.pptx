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4.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5.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Training time (s)</c:v>
                </c:pt>
              </c:strCache>
            </c:strRef>
          </c:tx>
          <c:spPr>
            <a:solidFill>
              <a:srgbClr val="1B2A4A"/>
            </a:solidFill>
            <a:effectLst/>
          </c:spPr>
          <c:invertIfNegative val="0"/>
          <c:dLbls>
            <c:numFmt formatCode="0.0" sourceLinked="0"/>
            <c:txPr>
              <a:bodyPr/>
              <a:lstStyle/>
              <a:p>
                <a:pPr>
                  <a:defRPr b="0" i="0" strike="noStrike" sz="1050" u="none">
                    <a:solidFill>
                      <a:srgbClr val="1B2430"/>
                    </a:solidFill>
                    <a:latin typeface="Arial"/>
                  </a:defRPr>
                </a:pPr>
              </a:p>
            </c:txPr>
            <c:showLegendKey val="0"/>
            <c:showVal val="1"/>
            <c:showCatName val="0"/>
            <c:showSerName val="0"/>
            <c:showPercent val="0"/>
            <c:showBubbleSize val="0"/>
            <c:showLeaderLines val="0"/>
          </c:dLbls>
          <c:cat>
            <c:multiLvlStrRef>
              <c:f>Sheet1!$A$2:$A$5</c:f>
              <c:multiLvlStrCache>
                <c:ptCount val="4"/>
                <c:lvl>
                  <c:pt idx="0">
                    <c:v>Eye Custom CNN</c:v>
                  </c:pt>
                  <c:pt idx="1">
                    <c:v>Eye MobileNetV2</c:v>
                  </c:pt>
                  <c:pt idx="2">
                    <c:v>Mouth Custom CNN</c:v>
                  </c:pt>
                  <c:pt idx="3">
                    <c:v>Mouth MobileNetV2</c:v>
                  </c:pt>
                </c:lvl>
              </c:multiLvlStrCache>
            </c:multiLvlStrRef>
          </c:cat>
          <c:val>
            <c:numRef>
              <c:f>Sheet1!$B$2:$B$5</c:f>
              <c:numCache>
                <c:formatCode>General</c:formatCode>
                <c:ptCount val="4"/>
                <c:pt idx="0">
                  <c:v>87.97</c:v>
                </c:pt>
                <c:pt idx="1">
                  <c:v>79.59</c:v>
                </c:pt>
                <c:pt idx="2">
                  <c:v>90.6</c:v>
                </c:pt>
                <c:pt idx="3">
                  <c:v>114.91</c:v>
                </c:pt>
              </c:numCache>
            </c:numRef>
          </c:val>
        </c:ser>
        <c:dLbls>
          <c:numFmt formatCode="0.0" sourceLinked="0"/>
          <c:txPr>
            <a:bodyPr/>
            <a:lstStyle/>
            <a:p>
              <a:pPr>
                <a:defRPr b="0" i="0" strike="noStrike" sz="1050" u="none">
                  <a:solidFill>
                    <a:srgbClr val="1B243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1B243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4EAEA"/>
              </a:solidFill>
              <a:prstDash val="solid"/>
              <a:round/>
            </a:ln>
          </c:spPr>
        </c:majorGridlines>
        <c:title>
          <c:tx>
            <c:rich>
              <a:bodyPr/>
              <a:lstStyle/>
              <a:p>
                <a:pPr>
                  <a:defRPr sz="1000" b="0" i="0" u="none" strike="noStrike">
                    <a:solidFill>
                      <a:srgbClr val="000000"/>
                    </a:solidFill>
                    <a:latin typeface="Arial"/>
                  </a:defRPr>
                </a:pPr>
                <a:r>
                  <a:rPr sz="1000" b="0" i="0" u="none" strike="noStrike">
                    <a:solidFill>
                      <a:srgbClr val="000000"/>
                    </a:solidFill>
                    <a:latin typeface="Arial"/>
                  </a:rPr>
                  <a:t>Seconds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C6773"/>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Custom CNN</c:v>
                </c:pt>
              </c:strCache>
            </c:strRef>
          </c:tx>
          <c:spPr>
            <a:solidFill>
              <a:srgbClr val="1B2A4A"/>
            </a:solidFill>
            <a:effectLst/>
          </c:spPr>
          <c:invertIfNegative val="0"/>
          <c:dLbls>
            <c:numFmt formatCode="#,##0" sourceLinked="0"/>
            <c:txPr>
              <a:bodyPr/>
              <a:lstStyle/>
              <a:p>
                <a:pPr>
                  <a:defRPr b="0" i="0" strike="noStrike" sz="900" u="none">
                    <a:solidFill>
                      <a:srgbClr val="1B2430"/>
                    </a:solidFill>
                    <a:latin typeface="Arial"/>
                  </a:defRPr>
                </a:pPr>
              </a:p>
            </c:txPr>
            <c:showLegendKey val="0"/>
            <c:showVal val="1"/>
            <c:showCatName val="0"/>
            <c:showSerName val="0"/>
            <c:showPercent val="0"/>
            <c:showBubbleSize val="0"/>
            <c:showLeaderLines val="0"/>
          </c:dLbls>
          <c:cat>
            <c:multiLvlStrRef>
              <c:f>Sheet1!$A$2:$A$5</c:f>
              <c:multiLvlStrCache>
                <c:ptCount val="4"/>
                <c:lvl>
                  <c:pt idx="0">
                    <c:v>Accuracy</c:v>
                  </c:pt>
                  <c:pt idx="1">
                    <c:v>Precision</c:v>
                  </c:pt>
                  <c:pt idx="2">
                    <c:v>Recall</c:v>
                  </c:pt>
                  <c:pt idx="3">
                    <c:v>F1-Score</c:v>
                  </c:pt>
                </c:lvl>
              </c:multiLvlStrCache>
            </c:multiLvlStrRef>
          </c:cat>
          <c:val>
            <c:numRef>
              <c:f>Sheet1!$B$2:$B$5</c:f>
              <c:numCache>
                <c:formatCode>General</c:formatCode>
                <c:ptCount val="4"/>
                <c:pt idx="0">
                  <c:v>87.61</c:v>
                </c:pt>
                <c:pt idx="1">
                  <c:v>85.34</c:v>
                </c:pt>
                <c:pt idx="2">
                  <c:v>90.83</c:v>
                </c:pt>
                <c:pt idx="3">
                  <c:v>88</c:v>
                </c:pt>
              </c:numCache>
            </c:numRef>
          </c:val>
        </c:ser>
        <c:ser>
          <c:idx val="1"/>
          <c:order val="1"/>
          <c:tx>
            <c:strRef>
              <c:f>Sheet1!$C$1</c:f>
              <c:strCache>
                <c:ptCount val="1"/>
                <c:pt idx="0">
                  <c:v>MobileNetV2</c:v>
                </c:pt>
              </c:strCache>
            </c:strRef>
          </c:tx>
          <c:spPr>
            <a:solidFill>
              <a:srgbClr val="2FA47A"/>
            </a:solidFill>
            <a:effectLst/>
          </c:spPr>
          <c:invertIfNegative val="0"/>
          <c:dLbls>
            <c:numFmt formatCode="#,##0" sourceLinked="0"/>
            <c:txPr>
              <a:bodyPr/>
              <a:lstStyle/>
              <a:p>
                <a:pPr>
                  <a:defRPr b="0" i="0" strike="noStrike" sz="900" u="none">
                    <a:solidFill>
                      <a:srgbClr val="1B2430"/>
                    </a:solidFill>
                    <a:latin typeface="Arial"/>
                  </a:defRPr>
                </a:pPr>
              </a:p>
            </c:txPr>
            <c:showLegendKey val="0"/>
            <c:showVal val="1"/>
            <c:showCatName val="0"/>
            <c:showSerName val="0"/>
            <c:showPercent val="0"/>
            <c:showBubbleSize val="0"/>
            <c:showLeaderLines val="0"/>
          </c:dLbls>
          <c:cat>
            <c:multiLvlStrRef>
              <c:f>Sheet1!$A$2:$A$5</c:f>
              <c:multiLvlStrCache>
                <c:ptCount val="4"/>
                <c:lvl>
                  <c:pt idx="0">
                    <c:v>Accuracy</c:v>
                  </c:pt>
                  <c:pt idx="1">
                    <c:v>Precision</c:v>
                  </c:pt>
                  <c:pt idx="2">
                    <c:v>Recall</c:v>
                  </c:pt>
                  <c:pt idx="3">
                    <c:v>F1-Score</c:v>
                  </c:pt>
                </c:lvl>
              </c:multiLvlStrCache>
            </c:multiLvlStrRef>
          </c:cat>
          <c:val>
            <c:numRef>
              <c:f>Sheet1!$C$2:$C$5</c:f>
              <c:numCache>
                <c:formatCode>General</c:formatCode>
                <c:ptCount val="4"/>
                <c:pt idx="0">
                  <c:v>99.08</c:v>
                </c:pt>
                <c:pt idx="1">
                  <c:v>99.08</c:v>
                </c:pt>
                <c:pt idx="2">
                  <c:v>99.08</c:v>
                </c:pt>
                <c:pt idx="3">
                  <c:v>99.08</c:v>
                </c:pt>
              </c:numCache>
            </c:numRef>
          </c:val>
        </c:ser>
        <c:dLbls>
          <c:numFmt formatCode="#,##0" sourceLinked="0"/>
          <c:txPr>
            <a:bodyPr/>
            <a:lstStyle/>
            <a:p>
              <a:pPr>
                <a:defRPr b="0" i="0" strike="noStrike" sz="900" u="none">
                  <a:solidFill>
                    <a:srgbClr val="1B243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1B2430"/>
                </a:solidFill>
                <a:latin typeface="Arial"/>
              </a:defRPr>
            </a:pPr>
            <a:endParaRPr lang="en-US"/>
          </a:p>
        </c:txPr>
        <c:crossAx val="2094734552"/>
        <c:crosses val="autoZero"/>
        <c:auto val="1"/>
        <c:lblAlgn val="ctr"/>
        <c:noMultiLvlLbl val="1"/>
      </c:catAx>
      <c:valAx>
        <c:axId val="2094734552"/>
        <c:scaling>
          <c:orientation val="minMax"/>
          <c:max val="110"/>
          <c:min val="0"/>
        </c:scaling>
        <c:delete val="0"/>
        <c:axPos val="l"/>
        <c:majorGridlines>
          <c:spPr>
            <a:ln w="9525" cap="flat">
              <a:solidFill>
                <a:srgbClr val="E4EAEA"/>
              </a:solidFill>
              <a:prstDash val="solid"/>
              <a:round/>
            </a:ln>
          </c:spPr>
        </c:majorGridlines>
        <c:title>
          <c:tx>
            <c:rich>
              <a:bodyPr/>
              <a:lstStyle/>
              <a:p>
                <a:pPr>
                  <a:defRPr sz="1000" b="0" i="0" u="none" strike="noStrike">
                    <a:solidFill>
                      <a:srgbClr val="000000"/>
                    </a:solidFill>
                    <a:latin typeface="Arial"/>
                  </a:defRPr>
                </a:pPr>
                <a:r>
                  <a:rPr sz="1000" b="0" i="0" u="none" strike="noStrike">
                    <a:solidFill>
                      <a:srgbClr val="000000"/>
                    </a:solidFill>
                    <a:latin typeface="Arial"/>
                  </a:rPr>
                  <a:t>Score (%)</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C6773"/>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B2430"/>
              </a:solidFil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Custom CNN</c:v>
                </c:pt>
              </c:strCache>
            </c:strRef>
          </c:tx>
          <c:spPr>
            <a:solidFill>
              <a:srgbClr val="1B2A4A"/>
            </a:solidFill>
            <a:effectLst/>
          </c:spPr>
          <c:invertIfNegative val="0"/>
          <c:dLbls>
            <c:numFmt formatCode="#,##0" sourceLinked="0"/>
            <c:txPr>
              <a:bodyPr/>
              <a:lstStyle/>
              <a:p>
                <a:pPr>
                  <a:defRPr b="0" i="0" strike="noStrike" sz="900" u="none">
                    <a:solidFill>
                      <a:srgbClr val="1B2430"/>
                    </a:solidFill>
                    <a:latin typeface="Arial"/>
                  </a:defRPr>
                </a:pPr>
              </a:p>
            </c:txPr>
            <c:showLegendKey val="0"/>
            <c:showVal val="1"/>
            <c:showCatName val="0"/>
            <c:showSerName val="0"/>
            <c:showPercent val="0"/>
            <c:showBubbleSize val="0"/>
            <c:showLeaderLines val="0"/>
          </c:dLbls>
          <c:cat>
            <c:multiLvlStrRef>
              <c:f>Sheet1!$A$2:$A$5</c:f>
              <c:multiLvlStrCache>
                <c:ptCount val="4"/>
                <c:lvl>
                  <c:pt idx="0">
                    <c:v>Accuracy</c:v>
                  </c:pt>
                  <c:pt idx="1">
                    <c:v>Precision</c:v>
                  </c:pt>
                  <c:pt idx="2">
                    <c:v>Recall</c:v>
                  </c:pt>
                  <c:pt idx="3">
                    <c:v>F1-Score</c:v>
                  </c:pt>
                </c:lvl>
              </c:multiLvlStrCache>
            </c:multiLvlStrRef>
          </c:cat>
          <c:val>
            <c:numRef>
              <c:f>Sheet1!$B$2:$B$5</c:f>
              <c:numCache>
                <c:formatCode>General</c:formatCode>
                <c:ptCount val="4"/>
                <c:pt idx="0">
                  <c:v>59.17</c:v>
                </c:pt>
                <c:pt idx="1">
                  <c:v>55.95</c:v>
                </c:pt>
                <c:pt idx="2">
                  <c:v>86.24</c:v>
                </c:pt>
                <c:pt idx="3">
                  <c:v>67.87</c:v>
                </c:pt>
              </c:numCache>
            </c:numRef>
          </c:val>
        </c:ser>
        <c:ser>
          <c:idx val="1"/>
          <c:order val="1"/>
          <c:tx>
            <c:strRef>
              <c:f>Sheet1!$C$1</c:f>
              <c:strCache>
                <c:ptCount val="1"/>
                <c:pt idx="0">
                  <c:v>MobileNetV2</c:v>
                </c:pt>
              </c:strCache>
            </c:strRef>
          </c:tx>
          <c:spPr>
            <a:solidFill>
              <a:srgbClr val="F2A93B"/>
            </a:solidFill>
            <a:effectLst/>
          </c:spPr>
          <c:invertIfNegative val="0"/>
          <c:dLbls>
            <c:numFmt formatCode="#,##0" sourceLinked="0"/>
            <c:txPr>
              <a:bodyPr/>
              <a:lstStyle/>
              <a:p>
                <a:pPr>
                  <a:defRPr b="0" i="0" strike="noStrike" sz="900" u="none">
                    <a:solidFill>
                      <a:srgbClr val="1B2430"/>
                    </a:solidFill>
                    <a:latin typeface="Arial"/>
                  </a:defRPr>
                </a:pPr>
              </a:p>
            </c:txPr>
            <c:showLegendKey val="0"/>
            <c:showVal val="1"/>
            <c:showCatName val="0"/>
            <c:showSerName val="0"/>
            <c:showPercent val="0"/>
            <c:showBubbleSize val="0"/>
            <c:showLeaderLines val="0"/>
          </c:dLbls>
          <c:cat>
            <c:multiLvlStrRef>
              <c:f>Sheet1!$A$2:$A$5</c:f>
              <c:multiLvlStrCache>
                <c:ptCount val="4"/>
                <c:lvl>
                  <c:pt idx="0">
                    <c:v>Accuracy</c:v>
                  </c:pt>
                  <c:pt idx="1">
                    <c:v>Precision</c:v>
                  </c:pt>
                  <c:pt idx="2">
                    <c:v>Recall</c:v>
                  </c:pt>
                  <c:pt idx="3">
                    <c:v>F1-Score</c:v>
                  </c:pt>
                </c:lvl>
              </c:multiLvlStrCache>
            </c:multiLvlStrRef>
          </c:cat>
          <c:val>
            <c:numRef>
              <c:f>Sheet1!$C$2:$C$5</c:f>
              <c:numCache>
                <c:formatCode>General</c:formatCode>
                <c:ptCount val="4"/>
                <c:pt idx="0">
                  <c:v>72.94</c:v>
                </c:pt>
                <c:pt idx="1">
                  <c:v>84.72</c:v>
                </c:pt>
                <c:pt idx="2">
                  <c:v>55.96</c:v>
                </c:pt>
                <c:pt idx="3">
                  <c:v>67.4</c:v>
                </c:pt>
              </c:numCache>
            </c:numRef>
          </c:val>
        </c:ser>
        <c:dLbls>
          <c:numFmt formatCode="#,##0" sourceLinked="0"/>
          <c:txPr>
            <a:bodyPr/>
            <a:lstStyle/>
            <a:p>
              <a:pPr>
                <a:defRPr b="0" i="0" strike="noStrike" sz="900" u="none">
                  <a:solidFill>
                    <a:srgbClr val="1B243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1B2430"/>
                </a:solidFill>
                <a:latin typeface="Arial"/>
              </a:defRPr>
            </a:pPr>
            <a:endParaRPr lang="en-US"/>
          </a:p>
        </c:txPr>
        <c:crossAx val="2094734552"/>
        <c:crosses val="autoZero"/>
        <c:auto val="1"/>
        <c:lblAlgn val="ctr"/>
        <c:noMultiLvlLbl val="1"/>
      </c:catAx>
      <c:valAx>
        <c:axId val="2094734552"/>
        <c:scaling>
          <c:orientation val="minMax"/>
          <c:max val="110"/>
          <c:min val="0"/>
        </c:scaling>
        <c:delete val="0"/>
        <c:axPos val="l"/>
        <c:majorGridlines>
          <c:spPr>
            <a:ln w="9525" cap="flat">
              <a:solidFill>
                <a:srgbClr val="E4EAEA"/>
              </a:solidFill>
              <a:prstDash val="solid"/>
              <a:round/>
            </a:ln>
          </c:spPr>
        </c:majorGridlines>
        <c:title>
          <c:tx>
            <c:rich>
              <a:bodyPr/>
              <a:lstStyle/>
              <a:p>
                <a:pPr>
                  <a:defRPr sz="1000" b="0" i="0" u="none" strike="noStrike">
                    <a:solidFill>
                      <a:srgbClr val="000000"/>
                    </a:solidFill>
                    <a:latin typeface="Arial"/>
                  </a:defRPr>
                </a:pPr>
                <a:r>
                  <a:rPr sz="1000" b="0" i="0" u="none" strike="noStrike">
                    <a:solidFill>
                      <a:srgbClr val="000000"/>
                    </a:solidFill>
                    <a:latin typeface="Arial"/>
                  </a:rPr>
                  <a:t>Score (%)</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C6773"/>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B2430"/>
              </a:solidFill>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Custom CNN</c:v>
                </c:pt>
              </c:strCache>
            </c:strRef>
          </c:tx>
          <c:spPr>
            <a:solidFill>
              <a:srgbClr val="1B2A4A"/>
            </a:solidFill>
            <a:effectLst/>
          </c:spPr>
          <c:invertIfNegative val="0"/>
          <c:dLbls>
            <c:numFmt formatCode="#,##0" sourceLinked="0"/>
            <c:txPr>
              <a:bodyPr/>
              <a:lstStyle/>
              <a:p>
                <a:pPr>
                  <a:defRPr b="0" i="0" strike="noStrike" sz="1100" u="none">
                    <a:solidFill>
                      <a:srgbClr val="1B2430"/>
                    </a:solidFill>
                    <a:latin typeface="Arial"/>
                  </a:defRPr>
                </a:pPr>
              </a:p>
            </c:txPr>
            <c:showLegendKey val="0"/>
            <c:showVal val="1"/>
            <c:showCatName val="0"/>
            <c:showSerName val="0"/>
            <c:showPercent val="0"/>
            <c:showBubbleSize val="0"/>
            <c:showLeaderLines val="0"/>
          </c:dLbls>
          <c:cat>
            <c:multiLvlStrRef>
              <c:f>Sheet1!$A$2:$A$3</c:f>
              <c:multiLvlStrCache>
                <c:ptCount val="2"/>
                <c:lvl>
                  <c:pt idx="0">
                    <c:v>Eye State</c:v>
                  </c:pt>
                  <c:pt idx="1">
                    <c:v>Mouth State</c:v>
                  </c:pt>
                </c:lvl>
              </c:multiLvlStrCache>
            </c:multiLvlStrRef>
          </c:cat>
          <c:val>
            <c:numRef>
              <c:f>Sheet1!$B$2:$B$3</c:f>
              <c:numCache>
                <c:formatCode>General</c:formatCode>
                <c:ptCount val="2"/>
                <c:pt idx="0">
                  <c:v>87.61</c:v>
                </c:pt>
                <c:pt idx="1">
                  <c:v>59.17</c:v>
                </c:pt>
              </c:numCache>
            </c:numRef>
          </c:val>
        </c:ser>
        <c:ser>
          <c:idx val="1"/>
          <c:order val="1"/>
          <c:tx>
            <c:strRef>
              <c:f>Sheet1!$C$1</c:f>
              <c:strCache>
                <c:ptCount val="1"/>
                <c:pt idx="0">
                  <c:v>MobileNetV2</c:v>
                </c:pt>
              </c:strCache>
            </c:strRef>
          </c:tx>
          <c:spPr>
            <a:solidFill>
              <a:srgbClr val="2E86AB"/>
            </a:solidFill>
            <a:effectLst/>
          </c:spPr>
          <c:invertIfNegative val="0"/>
          <c:dLbls>
            <c:numFmt formatCode="#,##0" sourceLinked="0"/>
            <c:txPr>
              <a:bodyPr/>
              <a:lstStyle/>
              <a:p>
                <a:pPr>
                  <a:defRPr b="0" i="0" strike="noStrike" sz="1100" u="none">
                    <a:solidFill>
                      <a:srgbClr val="1B2430"/>
                    </a:solidFill>
                    <a:latin typeface="Arial"/>
                  </a:defRPr>
                </a:pPr>
              </a:p>
            </c:txPr>
            <c:showLegendKey val="0"/>
            <c:showVal val="1"/>
            <c:showCatName val="0"/>
            <c:showSerName val="0"/>
            <c:showPercent val="0"/>
            <c:showBubbleSize val="0"/>
            <c:showLeaderLines val="0"/>
          </c:dLbls>
          <c:cat>
            <c:multiLvlStrRef>
              <c:f>Sheet1!$A$2:$A$3</c:f>
              <c:multiLvlStrCache>
                <c:ptCount val="2"/>
                <c:lvl>
                  <c:pt idx="0">
                    <c:v>Eye State</c:v>
                  </c:pt>
                  <c:pt idx="1">
                    <c:v>Mouth State</c:v>
                  </c:pt>
                </c:lvl>
              </c:multiLvlStrCache>
            </c:multiLvlStrRef>
          </c:cat>
          <c:val>
            <c:numRef>
              <c:f>Sheet1!$C$2:$C$3</c:f>
              <c:numCache>
                <c:formatCode>General</c:formatCode>
                <c:ptCount val="2"/>
                <c:pt idx="0">
                  <c:v>99.08</c:v>
                </c:pt>
                <c:pt idx="1">
                  <c:v>72.94</c:v>
                </c:pt>
              </c:numCache>
            </c:numRef>
          </c:val>
        </c:ser>
        <c:dLbls>
          <c:numFmt formatCode="#,##0" sourceLinked="0"/>
          <c:txPr>
            <a:bodyPr/>
            <a:lstStyle/>
            <a:p>
              <a:pPr>
                <a:defRPr b="0" i="0" strike="noStrike" sz="1100" u="none">
                  <a:solidFill>
                    <a:srgbClr val="1B243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430"/>
                </a:solidFill>
                <a:latin typeface="Arial"/>
              </a:defRPr>
            </a:pPr>
            <a:endParaRPr lang="en-US"/>
          </a:p>
        </c:txPr>
        <c:crossAx val="2094734552"/>
        <c:crosses val="autoZero"/>
        <c:auto val="1"/>
        <c:lblAlgn val="ctr"/>
        <c:noMultiLvlLbl val="1"/>
      </c:catAx>
      <c:valAx>
        <c:axId val="2094734552"/>
        <c:scaling>
          <c:orientation val="minMax"/>
          <c:max val="110"/>
          <c:min val="0"/>
        </c:scaling>
        <c:delete val="0"/>
        <c:axPos val="l"/>
        <c:majorGridlines>
          <c:spPr>
            <a:ln w="9525" cap="flat">
              <a:solidFill>
                <a:srgbClr val="E4EAEA"/>
              </a:solidFill>
              <a:prstDash val="solid"/>
              <a:round/>
            </a:ln>
          </c:spPr>
        </c:majorGridlines>
        <c:title>
          <c:tx>
            <c:rich>
              <a:bodyPr/>
              <a:lstStyle/>
              <a:p>
                <a:pPr>
                  <a:defRPr sz="1000" b="0" i="0" u="none" strike="noStrike">
                    <a:solidFill>
                      <a:srgbClr val="000000"/>
                    </a:solidFill>
                    <a:latin typeface="Arial"/>
                  </a:defRPr>
                </a:pPr>
                <a:r>
                  <a:rPr sz="1000" b="0" i="0" u="none" strike="noStrike">
                    <a:solidFill>
                      <a:srgbClr val="000000"/>
                    </a:solidFill>
                    <a:latin typeface="Arial"/>
                  </a:rPr>
                  <a:t>Test Accuracy (%)</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C6773"/>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B2430"/>
              </a:solidFill>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Fatigue Level</c:v>
                </c:pt>
              </c:strCache>
            </c:strRef>
          </c:tx>
          <c:spPr>
            <a:solidFill>
              <a:schemeClr val="accent1"/>
            </a:solidFill>
            <a:ln w="9525" cap="flat">
              <a:solidFill>
                <a:srgbClr val="F9F9F9"/>
              </a:solidFill>
              <a:prstDash val="solid"/>
              <a:round/>
            </a:ln>
            <a:effectLst/>
          </c:spPr>
          <c:dPt>
            <c:idx val="0"/>
            <c:bubble3D val="0"/>
            <c:spPr>
              <a:solidFill>
                <a:srgbClr val="2FA47A"/>
              </a:solidFill>
              <a:effectLst/>
            </c:spPr>
          </c:dPt>
          <c:dPt>
            <c:idx val="1"/>
            <c:bubble3D val="0"/>
            <c:spPr>
              <a:solidFill>
                <a:srgbClr val="F2A93B"/>
              </a:solidFill>
              <a:effectLst/>
            </c:spPr>
          </c:dPt>
          <c:dPt>
            <c:idx val="2"/>
            <c:bubble3D val="0"/>
            <c:spPr>
              <a:solidFill>
                <a:srgbClr val="D64550"/>
              </a:solidFill>
              <a:effectLst/>
            </c:spPr>
          </c:dPt>
          <c:dLbls>
            <c:dLbl>
              <c:idx val="0"/>
              <c:numFmt formatCode="0%" sourceLinked="0"/>
              <c:spPr/>
              <c:txPr>
                <a:bodyPr/>
                <a:lstStyle/>
                <a:p>
                  <a:pPr>
                    <a:defRPr sz="1300" b="0" i="0" u="none" strike="noStrike">
                      <a:solidFill>
                        <a:srgbClr val="FFFFFF"/>
                      </a:solidFill>
                      <a:latin typeface="Arial"/>
                    </a:defRPr>
                  </a:pPr>
                </a:p>
              </c:txPr>
              <c:dLblPos val="inEnd"/>
              <c:showLegendKey val="0"/>
              <c:showVal val="0"/>
              <c:showCatName val="0"/>
              <c:showSerName val="0"/>
              <c:showPercent val="1"/>
              <c:showBubbleSize val="0"/>
            </c:dLbl>
            <c:dLbl>
              <c:idx val="1"/>
              <c:numFmt formatCode="0%" sourceLinked="0"/>
              <c:spPr/>
              <c:txPr>
                <a:bodyPr/>
                <a:lstStyle/>
                <a:p>
                  <a:pPr>
                    <a:defRPr sz="1300" b="0" i="0" u="none" strike="noStrike">
                      <a:solidFill>
                        <a:srgbClr val="FFFFFF"/>
                      </a:solidFill>
                      <a:latin typeface="Arial"/>
                    </a:defRPr>
                  </a:pPr>
                </a:p>
              </c:txPr>
              <c:dLblPos val="inEnd"/>
              <c:showLegendKey val="0"/>
              <c:showVal val="0"/>
              <c:showCatName val="0"/>
              <c:showSerName val="0"/>
              <c:showPercent val="1"/>
              <c:showBubbleSize val="0"/>
            </c:dLbl>
            <c:dLbl>
              <c:idx val="2"/>
              <c:numFmt formatCode="0%" sourceLinked="0"/>
              <c:spPr/>
              <c:txPr>
                <a:bodyPr/>
                <a:lstStyle/>
                <a:p>
                  <a:pPr>
                    <a:defRPr sz="1300" b="0" i="0" u="none" strike="noStrike">
                      <a:solidFill>
                        <a:srgbClr val="FFFFFF"/>
                      </a:solidFill>
                      <a:latin typeface="Arial"/>
                    </a:defRPr>
                  </a:pPr>
                </a:p>
              </c:txPr>
              <c:dLblPos val="inEnd"/>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Sheet1!$A$2:$A$4</c:f>
              <c:strCache>
                <c:ptCount val="3"/>
                <c:pt idx="0">
                  <c:v>Alert</c:v>
                </c:pt>
                <c:pt idx="1">
                  <c:v>Mild Fatigue</c:v>
                </c:pt>
                <c:pt idx="2">
                  <c:v>Severe Fatigue</c:v>
                </c:pt>
              </c:strCache>
            </c:strRef>
          </c:cat>
          <c:val>
            <c:numRef>
              <c:f>Sheet1!$B$2:$B$4</c:f>
              <c:numCache>
                <c:ptCount val="3"/>
                <c:pt idx="0">
                  <c:v>48</c:v>
                </c:pt>
                <c:pt idx="1">
                  <c:v>61</c:v>
                </c:pt>
                <c:pt idx="2">
                  <c:v>109</c:v>
                </c:pt>
              </c:numCache>
            </c:numRef>
          </c:val>
        </c:ser>
        <c:firstSliceAng val="0"/>
      </c:pieChart>
      <c:spPr>
        <a:noFill/>
        <a:ln>
          <a:noFill/>
        </a:ln>
        <a:effectLst/>
      </c:spPr>
    </c:plotArea>
    <c:legend>
      <c:legendPos val="b"/>
      <c:overlay val="0"/>
      <c:txPr>
        <a:bodyPr/>
        <a:lstStyle/>
        <a:p>
          <a:pPr>
            <a:defRPr sz="1100">
              <a:solidFill>
                <a:srgbClr val="1B2430"/>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9509760" y="-1463040"/>
            <a:ext cx="4206240" cy="4206240"/>
          </a:xfrm>
          <a:prstGeom prst="ellipse">
            <a:avLst/>
          </a:prstGeom>
          <a:solidFill>
            <a:srgbClr val="132A42"/>
          </a:solidFill>
          <a:ln/>
        </p:spPr>
      </p:sp>
      <p:sp>
        <p:nvSpPr>
          <p:cNvPr id="3" name="Shape 1"/>
          <p:cNvSpPr/>
          <p:nvPr/>
        </p:nvSpPr>
        <p:spPr>
          <a:xfrm>
            <a:off x="-1463040" y="4754880"/>
            <a:ext cx="3291840" cy="3291840"/>
          </a:xfrm>
          <a:prstGeom prst="ellipse">
            <a:avLst/>
          </a:prstGeom>
          <a:solidFill>
            <a:srgbClr val="132A42"/>
          </a:solidFill>
          <a:ln/>
        </p:spPr>
      </p:sp>
      <p:sp>
        <p:nvSpPr>
          <p:cNvPr id="4" name="Shape 2"/>
          <p:cNvSpPr/>
          <p:nvPr/>
        </p:nvSpPr>
        <p:spPr>
          <a:xfrm>
            <a:off x="10881360" y="4846320"/>
            <a:ext cx="2377440" cy="2377440"/>
          </a:xfrm>
          <a:prstGeom prst="ellipse">
            <a:avLst/>
          </a:prstGeom>
          <a:solidFill>
            <a:srgbClr val="F2A93B">
              <a:alpha val="30000"/>
            </a:srgbClr>
          </a:solidFill>
          <a:ln/>
        </p:spPr>
      </p:sp>
      <p:sp>
        <p:nvSpPr>
          <p:cNvPr id="5" name="Text 3"/>
          <p:cNvSpPr/>
          <p:nvPr/>
        </p:nvSpPr>
        <p:spPr>
          <a:xfrm>
            <a:off x="822960" y="1828800"/>
            <a:ext cx="8686800" cy="365760"/>
          </a:xfrm>
          <a:prstGeom prst="rect">
            <a:avLst/>
          </a:prstGeom>
          <a:noFill/>
          <a:ln/>
        </p:spPr>
        <p:txBody>
          <a:bodyPr wrap="square" rtlCol="0" anchor="ctr"/>
          <a:lstStyle/>
          <a:p>
            <a:pPr indent="0" marL="0">
              <a:buNone/>
            </a:pPr>
            <a:r>
              <a:rPr lang="en-US" sz="1250" b="1" spc="200" kern="0" dirty="0">
                <a:solidFill>
                  <a:srgbClr val="F2A93B"/>
                </a:solidFill>
                <a:latin typeface="Calibri" pitchFamily="34" charset="0"/>
                <a:ea typeface="Calibri" pitchFamily="34" charset="-122"/>
                <a:cs typeface="Calibri" pitchFamily="34" charset="-120"/>
              </a:rPr>
              <a:t>DEEP LEARNING  •  COMPUTER VISION  •  ROAD SAFETY</a:t>
            </a:r>
            <a:endParaRPr lang="en-US" sz="1250" dirty="0"/>
          </a:p>
        </p:txBody>
      </p:sp>
      <p:sp>
        <p:nvSpPr>
          <p:cNvPr id="6" name="Text 4"/>
          <p:cNvSpPr/>
          <p:nvPr/>
        </p:nvSpPr>
        <p:spPr>
          <a:xfrm>
            <a:off x="777240" y="2194560"/>
            <a:ext cx="10058400" cy="914400"/>
          </a:xfrm>
          <a:prstGeom prst="rect">
            <a:avLst/>
          </a:prstGeom>
          <a:noFill/>
          <a:ln/>
        </p:spPr>
        <p:txBody>
          <a:bodyPr wrap="square"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Driver Drowsiness Detection</a:t>
            </a:r>
            <a:endParaRPr lang="en-US" sz="4000" dirty="0"/>
          </a:p>
        </p:txBody>
      </p:sp>
      <p:sp>
        <p:nvSpPr>
          <p:cNvPr id="7" name="Text 5"/>
          <p:cNvSpPr/>
          <p:nvPr/>
        </p:nvSpPr>
        <p:spPr>
          <a:xfrm>
            <a:off x="822960" y="3063240"/>
            <a:ext cx="9144000" cy="502920"/>
          </a:xfrm>
          <a:prstGeom prst="rect">
            <a:avLst/>
          </a:prstGeom>
          <a:noFill/>
          <a:ln/>
        </p:spPr>
        <p:txBody>
          <a:bodyPr wrap="square" rtlCol="0" anchor="ctr"/>
          <a:lstStyle/>
          <a:p>
            <a:pPr indent="0" marL="0">
              <a:buNone/>
            </a:pPr>
            <a:r>
              <a:rPr lang="en-US" sz="1700" dirty="0">
                <a:solidFill>
                  <a:srgbClr val="C7D6E2"/>
                </a:solidFill>
                <a:latin typeface="Calibri" pitchFamily="34" charset="0"/>
                <a:ea typeface="Calibri" pitchFamily="34" charset="-122"/>
                <a:cs typeface="Calibri" pitchFamily="34" charset="-120"/>
              </a:rPr>
              <a:t>Eye Closure and Yawning Analysis with Deep Learning</a:t>
            </a:r>
            <a:endParaRPr lang="en-US" sz="1700" dirty="0"/>
          </a:p>
        </p:txBody>
      </p:sp>
      <p:sp>
        <p:nvSpPr>
          <p:cNvPr id="8" name="Text 6"/>
          <p:cNvSpPr/>
          <p:nvPr/>
        </p:nvSpPr>
        <p:spPr>
          <a:xfrm>
            <a:off x="822960" y="4480560"/>
            <a:ext cx="2743200" cy="548640"/>
          </a:xfrm>
          <a:prstGeom prst="rect">
            <a:avLst/>
          </a:prstGeom>
          <a:noFill/>
          <a:ln/>
        </p:spPr>
        <p:txBody>
          <a:bodyPr wrap="square" rtlCol="0" anchor="ctr"/>
          <a:lstStyle/>
          <a:p>
            <a:pPr indent="0" marL="0">
              <a:buNone/>
            </a:pPr>
            <a:r>
              <a:rPr lang="en-US" sz="2600" b="1" dirty="0">
                <a:solidFill>
                  <a:srgbClr val="2E86AB"/>
                </a:solidFill>
                <a:latin typeface="Cambria" pitchFamily="34" charset="0"/>
                <a:ea typeface="Cambria" pitchFamily="34" charset="-122"/>
                <a:cs typeface="Cambria" pitchFamily="34" charset="-120"/>
              </a:rPr>
              <a:t>4</a:t>
            </a:r>
            <a:endParaRPr lang="en-US" sz="2600" dirty="0"/>
          </a:p>
        </p:txBody>
      </p:sp>
      <p:sp>
        <p:nvSpPr>
          <p:cNvPr id="9" name="Text 7"/>
          <p:cNvSpPr/>
          <p:nvPr/>
        </p:nvSpPr>
        <p:spPr>
          <a:xfrm>
            <a:off x="822960" y="5029200"/>
            <a:ext cx="2926080" cy="365760"/>
          </a:xfrm>
          <a:prstGeom prst="rect">
            <a:avLst/>
          </a:prstGeom>
          <a:noFill/>
          <a:ln/>
        </p:spPr>
        <p:txBody>
          <a:bodyPr wrap="square" rtlCol="0" anchor="ctr"/>
          <a:lstStyle/>
          <a:p>
            <a:pPr indent="0" marL="0">
              <a:buNone/>
            </a:pPr>
            <a:r>
              <a:rPr lang="en-US" sz="1100" dirty="0">
                <a:solidFill>
                  <a:srgbClr val="9FB6C9"/>
                </a:solidFill>
                <a:latin typeface="Calibri" pitchFamily="34" charset="0"/>
                <a:ea typeface="Calibri" pitchFamily="34" charset="-122"/>
                <a:cs typeface="Calibri" pitchFamily="34" charset="-120"/>
              </a:rPr>
              <a:t>Binary + Multi-class Models</a:t>
            </a:r>
            <a:endParaRPr lang="en-US" sz="1100" dirty="0"/>
          </a:p>
        </p:txBody>
      </p:sp>
      <p:sp>
        <p:nvSpPr>
          <p:cNvPr id="10" name="Text 8"/>
          <p:cNvSpPr/>
          <p:nvPr/>
        </p:nvSpPr>
        <p:spPr>
          <a:xfrm>
            <a:off x="3703320" y="4480560"/>
            <a:ext cx="2743200" cy="548640"/>
          </a:xfrm>
          <a:prstGeom prst="rect">
            <a:avLst/>
          </a:prstGeom>
          <a:noFill/>
          <a:ln/>
        </p:spPr>
        <p:txBody>
          <a:bodyPr wrap="square" rtlCol="0" anchor="ctr"/>
          <a:lstStyle/>
          <a:p>
            <a:pPr indent="0" marL="0">
              <a:buNone/>
            </a:pPr>
            <a:r>
              <a:rPr lang="en-US" sz="2600" b="1" dirty="0">
                <a:solidFill>
                  <a:srgbClr val="2E86AB"/>
                </a:solidFill>
                <a:latin typeface="Cambria" pitchFamily="34" charset="0"/>
                <a:ea typeface="Cambria" pitchFamily="34" charset="-122"/>
                <a:cs typeface="Cambria" pitchFamily="34" charset="-120"/>
              </a:rPr>
              <a:t>2,900</a:t>
            </a:r>
            <a:endParaRPr lang="en-US" sz="2600" dirty="0"/>
          </a:p>
        </p:txBody>
      </p:sp>
      <p:sp>
        <p:nvSpPr>
          <p:cNvPr id="11" name="Text 9"/>
          <p:cNvSpPr/>
          <p:nvPr/>
        </p:nvSpPr>
        <p:spPr>
          <a:xfrm>
            <a:off x="3703320" y="5029200"/>
            <a:ext cx="2926080" cy="365760"/>
          </a:xfrm>
          <a:prstGeom prst="rect">
            <a:avLst/>
          </a:prstGeom>
          <a:noFill/>
          <a:ln/>
        </p:spPr>
        <p:txBody>
          <a:bodyPr wrap="square" rtlCol="0" anchor="ctr"/>
          <a:lstStyle/>
          <a:p>
            <a:pPr indent="0" marL="0">
              <a:buNone/>
            </a:pPr>
            <a:r>
              <a:rPr lang="en-US" sz="1100" dirty="0">
                <a:solidFill>
                  <a:srgbClr val="9FB6C9"/>
                </a:solidFill>
                <a:latin typeface="Calibri" pitchFamily="34" charset="0"/>
                <a:ea typeface="Calibri" pitchFamily="34" charset="-122"/>
                <a:cs typeface="Calibri" pitchFamily="34" charset="-120"/>
              </a:rPr>
              <a:t>Total Labeled Images</a:t>
            </a:r>
            <a:endParaRPr lang="en-US" sz="1100" dirty="0"/>
          </a:p>
        </p:txBody>
      </p:sp>
      <p:sp>
        <p:nvSpPr>
          <p:cNvPr id="12" name="Text 10"/>
          <p:cNvSpPr/>
          <p:nvPr/>
        </p:nvSpPr>
        <p:spPr>
          <a:xfrm>
            <a:off x="6583680" y="4480560"/>
            <a:ext cx="2743200" cy="548640"/>
          </a:xfrm>
          <a:prstGeom prst="rect">
            <a:avLst/>
          </a:prstGeom>
          <a:noFill/>
          <a:ln/>
        </p:spPr>
        <p:txBody>
          <a:bodyPr wrap="square" rtlCol="0" anchor="ctr"/>
          <a:lstStyle/>
          <a:p>
            <a:pPr indent="0" marL="0">
              <a:buNone/>
            </a:pPr>
            <a:r>
              <a:rPr lang="en-US" sz="2600" b="1" dirty="0">
                <a:solidFill>
                  <a:srgbClr val="2E86AB"/>
                </a:solidFill>
                <a:latin typeface="Cambria" pitchFamily="34" charset="0"/>
                <a:ea typeface="Cambria" pitchFamily="34" charset="-122"/>
                <a:cs typeface="Cambria" pitchFamily="34" charset="-120"/>
              </a:rPr>
              <a:t>99.1%</a:t>
            </a:r>
            <a:endParaRPr lang="en-US" sz="2600" dirty="0"/>
          </a:p>
        </p:txBody>
      </p:sp>
      <p:sp>
        <p:nvSpPr>
          <p:cNvPr id="13" name="Text 11"/>
          <p:cNvSpPr/>
          <p:nvPr/>
        </p:nvSpPr>
        <p:spPr>
          <a:xfrm>
            <a:off x="6583680" y="5029200"/>
            <a:ext cx="2926080" cy="365760"/>
          </a:xfrm>
          <a:prstGeom prst="rect">
            <a:avLst/>
          </a:prstGeom>
          <a:noFill/>
          <a:ln/>
        </p:spPr>
        <p:txBody>
          <a:bodyPr wrap="square" rtlCol="0" anchor="ctr"/>
          <a:lstStyle/>
          <a:p>
            <a:pPr indent="0" marL="0">
              <a:buNone/>
            </a:pPr>
            <a:r>
              <a:rPr lang="en-US" sz="1100" dirty="0">
                <a:solidFill>
                  <a:srgbClr val="9FB6C9"/>
                </a:solidFill>
                <a:latin typeface="Calibri" pitchFamily="34" charset="0"/>
                <a:ea typeface="Calibri" pitchFamily="34" charset="-122"/>
                <a:cs typeface="Calibri" pitchFamily="34" charset="-120"/>
              </a:rPr>
              <a:t>Best Model Accuracy (Eye)</a:t>
            </a:r>
            <a:endParaRPr lang="en-US" sz="1100" dirty="0"/>
          </a:p>
        </p:txBody>
      </p:sp>
      <p:sp>
        <p:nvSpPr>
          <p:cNvPr id="14" name="Text 12"/>
          <p:cNvSpPr/>
          <p:nvPr/>
        </p:nvSpPr>
        <p:spPr>
          <a:xfrm>
            <a:off x="822960" y="5943600"/>
            <a:ext cx="9601200" cy="457200"/>
          </a:xfrm>
          <a:prstGeom prst="rect">
            <a:avLst/>
          </a:prstGeom>
          <a:noFill/>
          <a:ln/>
        </p:spPr>
        <p:txBody>
          <a:bodyPr wrap="square" rtlCol="0" anchor="ctr"/>
          <a:lstStyle/>
          <a:p>
            <a:pPr indent="0" marL="0">
              <a:buNone/>
            </a:pPr>
            <a:r>
              <a:rPr lang="en-US" sz="1050" i="1" dirty="0">
                <a:solidFill>
                  <a:srgbClr val="7E93A6"/>
                </a:solidFill>
                <a:latin typeface="Calibri" pitchFamily="34" charset="0"/>
                <a:ea typeface="Calibri" pitchFamily="34" charset="-122"/>
                <a:cs typeface="Calibri" pitchFamily="34" charset="-120"/>
              </a:rPr>
              <a:t>Fusing eye-state and mouth-state predictions into a three-level driver fatigue system: Alert, Mild Fatigue, Severe Fatigue.</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indent="0" marL="0">
              <a:buNone/>
            </a:pPr>
            <a:r>
              <a:rPr lang="en-US" sz="2900" b="1" dirty="0">
                <a:solidFill>
                  <a:srgbClr val="1B2430"/>
                </a:solidFill>
                <a:latin typeface="Cambria" pitchFamily="34" charset="0"/>
                <a:ea typeface="Cambria" pitchFamily="34" charset="-122"/>
                <a:cs typeface="Cambria" pitchFamily="34" charset="-120"/>
              </a:rPr>
              <a:t>Problem Understanding</a:t>
            </a:r>
            <a:endParaRPr lang="en-US" sz="2900" dirty="0"/>
          </a:p>
        </p:txBody>
      </p:sp>
      <p:sp>
        <p:nvSpPr>
          <p:cNvPr id="3" name="Text 1"/>
          <p:cNvSpPr/>
          <p:nvPr/>
        </p:nvSpPr>
        <p:spPr>
          <a:xfrm>
            <a:off x="548640" y="960120"/>
            <a:ext cx="11064240" cy="365760"/>
          </a:xfrm>
          <a:prstGeom prst="rect">
            <a:avLst/>
          </a:prstGeom>
          <a:noFill/>
          <a:ln/>
        </p:spPr>
        <p:txBody>
          <a:bodyPr wrap="square" rtlCol="0" anchor="ctr"/>
          <a:lstStyle/>
          <a:p>
            <a:pPr indent="0" marL="0">
              <a:buNone/>
            </a:pPr>
            <a:r>
              <a:rPr lang="en-US" sz="1300" dirty="0">
                <a:solidFill>
                  <a:srgbClr val="5C6773"/>
                </a:solidFill>
                <a:latin typeface="Calibri" pitchFamily="34" charset="0"/>
                <a:ea typeface="Calibri" pitchFamily="34" charset="-122"/>
                <a:cs typeface="Calibri" pitchFamily="34" charset="-120"/>
              </a:rPr>
              <a:t>Why physiological indicators matter for driver safety</a:t>
            </a:r>
            <a:endParaRPr lang="en-US" sz="1300" dirty="0"/>
          </a:p>
        </p:txBody>
      </p:sp>
      <p:sp>
        <p:nvSpPr>
          <p:cNvPr id="4" name="Text 2"/>
          <p:cNvSpPr/>
          <p:nvPr/>
        </p:nvSpPr>
        <p:spPr>
          <a:xfrm>
            <a:off x="548640" y="1508760"/>
            <a:ext cx="11064240" cy="548640"/>
          </a:xfrm>
          <a:prstGeom prst="rect">
            <a:avLst/>
          </a:prstGeom>
          <a:noFill/>
          <a:ln/>
        </p:spPr>
        <p:txBody>
          <a:bodyPr wrap="square" rtlCol="0" anchor="ctr"/>
          <a:lstStyle/>
          <a:p>
            <a:pPr indent="0" marL="0">
              <a:buNone/>
            </a:pPr>
            <a:r>
              <a:rPr lang="en-US" sz="1300" dirty="0">
                <a:solidFill>
                  <a:srgbClr val="5C6773"/>
                </a:solidFill>
                <a:latin typeface="Calibri" pitchFamily="34" charset="0"/>
                <a:ea typeface="Calibri" pitchFamily="34" charset="-122"/>
                <a:cs typeface="Calibri" pitchFamily="34" charset="-120"/>
              </a:rPr>
              <a:t>Driver fatigue reduces alertness, reaction time and decision-making ability — a major contributor to road accidents. This project detects fatigue from two observable facial indicators.</a:t>
            </a:r>
            <a:endParaRPr lang="en-US" sz="1300" dirty="0"/>
          </a:p>
        </p:txBody>
      </p:sp>
      <p:sp>
        <p:nvSpPr>
          <p:cNvPr id="5" name="Shape 3"/>
          <p:cNvSpPr/>
          <p:nvPr/>
        </p:nvSpPr>
        <p:spPr>
          <a:xfrm>
            <a:off x="548640" y="2286000"/>
            <a:ext cx="5440680" cy="2011680"/>
          </a:xfrm>
          <a:prstGeom prst="roundRect">
            <a:avLst>
              <a:gd name="adj" fmla="val 3636"/>
            </a:avLst>
          </a:prstGeom>
          <a:solidFill>
            <a:srgbClr val="F3F6F8"/>
          </a:solidFill>
          <a:ln/>
          <a:effectLst>
            <a:outerShdw sx="100000" sy="100000" kx="0" ky="0" algn="bl" rotWithShape="0" blurRad="63500" dist="25400" dir="5400000">
              <a:srgbClr val="666666">
                <a:alpha val="15000"/>
              </a:srgbClr>
            </a:outerShdw>
          </a:effectLst>
        </p:spPr>
      </p:sp>
      <p:sp>
        <p:nvSpPr>
          <p:cNvPr id="6" name="Shape 4"/>
          <p:cNvSpPr/>
          <p:nvPr/>
        </p:nvSpPr>
        <p:spPr>
          <a:xfrm>
            <a:off x="822960" y="2560320"/>
            <a:ext cx="594360" cy="594360"/>
          </a:xfrm>
          <a:prstGeom prst="ellipse">
            <a:avLst/>
          </a:prstGeom>
          <a:solidFill>
            <a:srgbClr val="1B2A4A"/>
          </a:solidFill>
          <a:ln/>
        </p:spPr>
      </p:sp>
      <p:sp>
        <p:nvSpPr>
          <p:cNvPr id="7" name="Text 5"/>
          <p:cNvSpPr/>
          <p:nvPr/>
        </p:nvSpPr>
        <p:spPr>
          <a:xfrm>
            <a:off x="822960" y="2560320"/>
            <a:ext cx="594360" cy="594360"/>
          </a:xfrm>
          <a:prstGeom prst="rect">
            <a:avLst/>
          </a:prstGeom>
          <a:noFill/>
          <a:ln/>
        </p:spPr>
        <p:txBody>
          <a:bodyPr wrap="square" rtlCol="0" anchor="ctr"/>
          <a:lstStyle/>
          <a:p>
            <a:pPr algn="ctr" indent="0" marL="0">
              <a:buNone/>
            </a:pPr>
            <a:r>
              <a:rPr lang="en-US" sz="2400" dirty="0">
                <a:solidFill>
                  <a:srgbClr val="FFFFFF"/>
                </a:solidFill>
              </a:rPr>
              <a:t>👁</a:t>
            </a:r>
            <a:endParaRPr lang="en-US" sz="2400" dirty="0"/>
          </a:p>
        </p:txBody>
      </p:sp>
      <p:sp>
        <p:nvSpPr>
          <p:cNvPr id="8" name="Text 6"/>
          <p:cNvSpPr/>
          <p:nvPr/>
        </p:nvSpPr>
        <p:spPr>
          <a:xfrm>
            <a:off x="1600200" y="2578608"/>
            <a:ext cx="4160520" cy="548640"/>
          </a:xfrm>
          <a:prstGeom prst="rect">
            <a:avLst/>
          </a:prstGeom>
          <a:noFill/>
          <a:ln/>
        </p:spPr>
        <p:txBody>
          <a:bodyPr wrap="square" rtlCol="0" anchor="ctr"/>
          <a:lstStyle/>
          <a:p>
            <a:pPr indent="0" marL="0">
              <a:buNone/>
            </a:pPr>
            <a:r>
              <a:rPr lang="en-US" sz="1700" b="1" dirty="0">
                <a:solidFill>
                  <a:srgbClr val="1B2430"/>
                </a:solidFill>
                <a:latin typeface="Cambria" pitchFamily="34" charset="0"/>
                <a:ea typeface="Cambria" pitchFamily="34" charset="-122"/>
                <a:cs typeface="Cambria" pitchFamily="34" charset="-120"/>
              </a:rPr>
              <a:t>Eye Closure</a:t>
            </a:r>
            <a:endParaRPr lang="en-US" sz="1700" dirty="0"/>
          </a:p>
        </p:txBody>
      </p:sp>
      <p:sp>
        <p:nvSpPr>
          <p:cNvPr id="9" name="Text 7"/>
          <p:cNvSpPr/>
          <p:nvPr/>
        </p:nvSpPr>
        <p:spPr>
          <a:xfrm>
            <a:off x="822960" y="3246120"/>
            <a:ext cx="4892040" cy="914400"/>
          </a:xfrm>
          <a:prstGeom prst="rect">
            <a:avLst/>
          </a:prstGeom>
          <a:noFill/>
          <a:ln/>
        </p:spPr>
        <p:txBody>
          <a:bodyPr wrap="square" rtlCol="0" anchor="ctr"/>
          <a:lstStyle/>
          <a:p>
            <a:pPr indent="0" marL="0">
              <a:lnSpc>
                <a:spcPct val="115000"/>
              </a:lnSpc>
              <a:buNone/>
            </a:pPr>
            <a:r>
              <a:rPr lang="en-US" sz="1150" dirty="0">
                <a:solidFill>
                  <a:srgbClr val="5C6773"/>
                </a:solidFill>
                <a:latin typeface="Calibri" pitchFamily="34" charset="0"/>
                <a:ea typeface="Calibri" pitchFamily="34" charset="-122"/>
                <a:cs typeface="Calibri" pitchFamily="34" charset="-120"/>
              </a:rPr>
              <a:t>Detects whether the driver's eyes are Open or Closed. Prolonged closure is the strongest single indicator of severe fatigue.</a:t>
            </a:r>
            <a:endParaRPr lang="en-US" sz="1150" dirty="0"/>
          </a:p>
        </p:txBody>
      </p:sp>
      <p:sp>
        <p:nvSpPr>
          <p:cNvPr id="10" name="Shape 8"/>
          <p:cNvSpPr/>
          <p:nvPr/>
        </p:nvSpPr>
        <p:spPr>
          <a:xfrm>
            <a:off x="6263640" y="2286000"/>
            <a:ext cx="5440680" cy="2011680"/>
          </a:xfrm>
          <a:prstGeom prst="roundRect">
            <a:avLst>
              <a:gd name="adj" fmla="val 3636"/>
            </a:avLst>
          </a:prstGeom>
          <a:solidFill>
            <a:srgbClr val="F3F6F8"/>
          </a:solidFill>
          <a:ln/>
          <a:effectLst>
            <a:outerShdw sx="100000" sy="100000" kx="0" ky="0" algn="bl" rotWithShape="0" blurRad="63500" dist="25400" dir="5400000">
              <a:srgbClr val="666666">
                <a:alpha val="15000"/>
              </a:srgbClr>
            </a:outerShdw>
          </a:effectLst>
        </p:spPr>
      </p:sp>
      <p:sp>
        <p:nvSpPr>
          <p:cNvPr id="11" name="Shape 9"/>
          <p:cNvSpPr/>
          <p:nvPr/>
        </p:nvSpPr>
        <p:spPr>
          <a:xfrm>
            <a:off x="6537960" y="2560320"/>
            <a:ext cx="594360" cy="594360"/>
          </a:xfrm>
          <a:prstGeom prst="ellipse">
            <a:avLst/>
          </a:prstGeom>
          <a:solidFill>
            <a:srgbClr val="1B2A4A"/>
          </a:solidFill>
          <a:ln/>
        </p:spPr>
      </p:sp>
      <p:sp>
        <p:nvSpPr>
          <p:cNvPr id="12" name="Text 10"/>
          <p:cNvSpPr/>
          <p:nvPr/>
        </p:nvSpPr>
        <p:spPr>
          <a:xfrm>
            <a:off x="6537960" y="2560320"/>
            <a:ext cx="594360" cy="594360"/>
          </a:xfrm>
          <a:prstGeom prst="rect">
            <a:avLst/>
          </a:prstGeom>
          <a:noFill/>
          <a:ln/>
        </p:spPr>
        <p:txBody>
          <a:bodyPr wrap="square" rtlCol="0" anchor="ctr"/>
          <a:lstStyle/>
          <a:p>
            <a:pPr algn="ctr" indent="0" marL="0">
              <a:buNone/>
            </a:pPr>
            <a:r>
              <a:rPr lang="en-US" sz="2400" dirty="0">
                <a:solidFill>
                  <a:srgbClr val="FFFFFF"/>
                </a:solidFill>
              </a:rPr>
              <a:t>😮</a:t>
            </a:r>
            <a:endParaRPr lang="en-US" sz="2400" dirty="0"/>
          </a:p>
        </p:txBody>
      </p:sp>
      <p:sp>
        <p:nvSpPr>
          <p:cNvPr id="13" name="Text 11"/>
          <p:cNvSpPr/>
          <p:nvPr/>
        </p:nvSpPr>
        <p:spPr>
          <a:xfrm>
            <a:off x="7315200" y="2578608"/>
            <a:ext cx="4160520" cy="548640"/>
          </a:xfrm>
          <a:prstGeom prst="rect">
            <a:avLst/>
          </a:prstGeom>
          <a:noFill/>
          <a:ln/>
        </p:spPr>
        <p:txBody>
          <a:bodyPr wrap="square" rtlCol="0" anchor="ctr"/>
          <a:lstStyle/>
          <a:p>
            <a:pPr indent="0" marL="0">
              <a:buNone/>
            </a:pPr>
            <a:r>
              <a:rPr lang="en-US" sz="1700" b="1" dirty="0">
                <a:solidFill>
                  <a:srgbClr val="1B2430"/>
                </a:solidFill>
                <a:latin typeface="Cambria" pitchFamily="34" charset="0"/>
                <a:ea typeface="Cambria" pitchFamily="34" charset="-122"/>
                <a:cs typeface="Cambria" pitchFamily="34" charset="-120"/>
              </a:rPr>
              <a:t>Yawning</a:t>
            </a:r>
            <a:endParaRPr lang="en-US" sz="1700" dirty="0"/>
          </a:p>
        </p:txBody>
      </p:sp>
      <p:sp>
        <p:nvSpPr>
          <p:cNvPr id="14" name="Text 12"/>
          <p:cNvSpPr/>
          <p:nvPr/>
        </p:nvSpPr>
        <p:spPr>
          <a:xfrm>
            <a:off x="6537960" y="3246120"/>
            <a:ext cx="4892040" cy="914400"/>
          </a:xfrm>
          <a:prstGeom prst="rect">
            <a:avLst/>
          </a:prstGeom>
          <a:noFill/>
          <a:ln/>
        </p:spPr>
        <p:txBody>
          <a:bodyPr wrap="square" rtlCol="0" anchor="ctr"/>
          <a:lstStyle/>
          <a:p>
            <a:pPr indent="0" marL="0">
              <a:lnSpc>
                <a:spcPct val="115000"/>
              </a:lnSpc>
              <a:buNone/>
            </a:pPr>
            <a:r>
              <a:rPr lang="en-US" sz="1150" dirty="0">
                <a:solidFill>
                  <a:srgbClr val="5C6773"/>
                </a:solidFill>
                <a:latin typeface="Calibri" pitchFamily="34" charset="0"/>
                <a:ea typeface="Calibri" pitchFamily="34" charset="-122"/>
                <a:cs typeface="Calibri" pitchFamily="34" charset="-120"/>
              </a:rPr>
              <a:t>Detects Yawn vs No Yawn from mouth region images. Frequent yawning signals early, mild fatigue onset.</a:t>
            </a:r>
            <a:endParaRPr lang="en-US" sz="1150" dirty="0"/>
          </a:p>
        </p:txBody>
      </p:sp>
      <p:sp>
        <p:nvSpPr>
          <p:cNvPr id="15" name="Shape 13"/>
          <p:cNvSpPr/>
          <p:nvPr/>
        </p:nvSpPr>
        <p:spPr>
          <a:xfrm>
            <a:off x="548640" y="4617720"/>
            <a:ext cx="11064240" cy="1417320"/>
          </a:xfrm>
          <a:prstGeom prst="roundRect">
            <a:avLst>
              <a:gd name="adj" fmla="val 5161"/>
            </a:avLst>
          </a:prstGeom>
          <a:solidFill>
            <a:srgbClr val="0D1B2A"/>
          </a:solidFill>
          <a:ln/>
        </p:spPr>
      </p:sp>
      <p:sp>
        <p:nvSpPr>
          <p:cNvPr id="16" name="Text 14"/>
          <p:cNvSpPr/>
          <p:nvPr/>
        </p:nvSpPr>
        <p:spPr>
          <a:xfrm>
            <a:off x="822960" y="4754880"/>
            <a:ext cx="4572000" cy="320040"/>
          </a:xfrm>
          <a:prstGeom prst="rect">
            <a:avLst/>
          </a:prstGeom>
          <a:noFill/>
          <a:ln/>
        </p:spPr>
        <p:txBody>
          <a:bodyPr wrap="square" rtlCol="0" anchor="ctr"/>
          <a:lstStyle/>
          <a:p>
            <a:pPr indent="0" marL="0">
              <a:buNone/>
            </a:pPr>
            <a:r>
              <a:rPr lang="en-US" sz="1200" b="1" dirty="0">
                <a:solidFill>
                  <a:srgbClr val="F2A93B"/>
                </a:solidFill>
                <a:latin typeface="Calibri" pitchFamily="34" charset="0"/>
                <a:ea typeface="Calibri" pitchFamily="34" charset="-122"/>
                <a:cs typeface="Calibri" pitchFamily="34" charset="-120"/>
              </a:rPr>
              <a:t>Solution Approach</a:t>
            </a:r>
            <a:endParaRPr lang="en-US" sz="1200" dirty="0"/>
          </a:p>
        </p:txBody>
      </p:sp>
      <p:sp>
        <p:nvSpPr>
          <p:cNvPr id="17" name="Text 15"/>
          <p:cNvSpPr/>
          <p:nvPr/>
        </p:nvSpPr>
        <p:spPr>
          <a:xfrm>
            <a:off x="822960" y="5074920"/>
            <a:ext cx="10515600" cy="822960"/>
          </a:xfrm>
          <a:prstGeom prst="rect">
            <a:avLst/>
          </a:prstGeom>
          <a:noFill/>
          <a:ln/>
        </p:spPr>
        <p:txBody>
          <a:bodyPr wrap="square" rtlCol="0" anchor="ctr"/>
          <a:lstStyle/>
          <a:p>
            <a:pPr indent="0" marL="0">
              <a:lnSpc>
                <a:spcPct val="125000"/>
              </a:lnSpc>
              <a:buNone/>
            </a:pPr>
            <a:r>
              <a:rPr lang="en-US" sz="1250" dirty="0">
                <a:solidFill>
                  <a:srgbClr val="D5E1EA"/>
                </a:solidFill>
                <a:latin typeface="Calibri" pitchFamily="34" charset="0"/>
                <a:ea typeface="Calibri" pitchFamily="34" charset="-122"/>
                <a:cs typeface="Calibri" pitchFamily="34" charset="-120"/>
              </a:rPr>
              <a:t>An image-based deep-learning system trains separate models for eye state and mouth state, then combines both predictions through a rule-based fusion layer into three fatigue levels: Alert, Mild Fatigue and Severe Fatigue.</a:t>
            </a:r>
            <a:endParaRPr lang="en-US" sz="1250" dirty="0"/>
          </a:p>
        </p:txBody>
      </p:sp>
      <p:sp>
        <p:nvSpPr>
          <p:cNvPr id="18" name="Text 16"/>
          <p:cNvSpPr/>
          <p:nvPr/>
        </p:nvSpPr>
        <p:spPr>
          <a:xfrm>
            <a:off x="457200" y="6492240"/>
            <a:ext cx="6400800" cy="274320"/>
          </a:xfrm>
          <a:prstGeom prst="rect">
            <a:avLst/>
          </a:prstGeom>
          <a:noFill/>
          <a:ln/>
        </p:spPr>
        <p:txBody>
          <a:bodyPr wrap="square" rtlCol="0" anchor="ctr"/>
          <a:lstStyle/>
          <a:p>
            <a:pPr algn="l" indent="0" marL="0">
              <a:buNone/>
            </a:pPr>
            <a:r>
              <a:rPr lang="en-US" sz="900" dirty="0">
                <a:solidFill>
                  <a:srgbClr val="5C6773"/>
                </a:solidFill>
                <a:latin typeface="Calibri" pitchFamily="34" charset="0"/>
                <a:ea typeface="Calibri" pitchFamily="34" charset="-122"/>
                <a:cs typeface="Calibri" pitchFamily="34" charset="-120"/>
              </a:rPr>
              <a:t>Driver Drowsiness Detection</a:t>
            </a:r>
            <a:endParaRPr lang="en-US" sz="900" dirty="0"/>
          </a:p>
        </p:txBody>
      </p:sp>
      <p:sp>
        <p:nvSpPr>
          <p:cNvPr id="19" name="Text 17"/>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C6773"/>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indent="0" marL="0">
              <a:buNone/>
            </a:pPr>
            <a:r>
              <a:rPr lang="en-US" sz="2900" b="1" dirty="0">
                <a:solidFill>
                  <a:srgbClr val="1B2430"/>
                </a:solidFill>
                <a:latin typeface="Cambria" pitchFamily="34" charset="0"/>
                <a:ea typeface="Cambria" pitchFamily="34" charset="-122"/>
                <a:cs typeface="Cambria" pitchFamily="34" charset="-120"/>
              </a:rPr>
              <a:t>Dataset &amp; Class Balance</a:t>
            </a:r>
            <a:endParaRPr lang="en-US" sz="2900" dirty="0"/>
          </a:p>
        </p:txBody>
      </p:sp>
      <p:sp>
        <p:nvSpPr>
          <p:cNvPr id="3" name="Text 1"/>
          <p:cNvSpPr/>
          <p:nvPr/>
        </p:nvSpPr>
        <p:spPr>
          <a:xfrm>
            <a:off x="548640" y="960120"/>
            <a:ext cx="11064240" cy="365760"/>
          </a:xfrm>
          <a:prstGeom prst="rect">
            <a:avLst/>
          </a:prstGeom>
          <a:noFill/>
          <a:ln/>
        </p:spPr>
        <p:txBody>
          <a:bodyPr wrap="square" rtlCol="0" anchor="ctr"/>
          <a:lstStyle/>
          <a:p>
            <a:pPr indent="0" marL="0">
              <a:buNone/>
            </a:pPr>
            <a:r>
              <a:rPr lang="en-US" sz="1300" dirty="0">
                <a:solidFill>
                  <a:srgbClr val="5C6773"/>
                </a:solidFill>
                <a:latin typeface="Calibri" pitchFamily="34" charset="0"/>
                <a:ea typeface="Calibri" pitchFamily="34" charset="-122"/>
                <a:cs typeface="Calibri" pitchFamily="34" charset="-120"/>
              </a:rPr>
              <a:t>Four classes, cleanly split 70% / 15% / 15%</a:t>
            </a:r>
            <a:endParaRPr lang="en-US" sz="1300" dirty="0"/>
          </a:p>
        </p:txBody>
      </p:sp>
      <p:sp>
        <p:nvSpPr>
          <p:cNvPr id="4" name="Text 2"/>
          <p:cNvSpPr/>
          <p:nvPr/>
        </p:nvSpPr>
        <p:spPr>
          <a:xfrm>
            <a:off x="548640" y="1508760"/>
            <a:ext cx="5394960" cy="320040"/>
          </a:xfrm>
          <a:prstGeom prst="rect">
            <a:avLst/>
          </a:prstGeom>
          <a:noFill/>
          <a:ln/>
        </p:spPr>
        <p:txBody>
          <a:bodyPr wrap="square" rtlCol="0" anchor="ctr"/>
          <a:lstStyle/>
          <a:p>
            <a:pPr indent="0" marL="0">
              <a:buNone/>
            </a:pPr>
            <a:r>
              <a:rPr lang="en-US" sz="1400" b="1" dirty="0">
                <a:solidFill>
                  <a:srgbClr val="1B2430"/>
                </a:solidFill>
                <a:latin typeface="Cambria" pitchFamily="34" charset="0"/>
                <a:ea typeface="Cambria" pitchFamily="34" charset="-122"/>
                <a:cs typeface="Cambria" pitchFamily="34" charset="-120"/>
              </a:rPr>
              <a:t>Source Classes (≈2,900 images total)</a:t>
            </a:r>
            <a:endParaRPr lang="en-US" sz="1400" dirty="0"/>
          </a:p>
        </p:txBody>
      </p:sp>
      <p:sp>
        <p:nvSpPr>
          <p:cNvPr id="5" name="Shape 3"/>
          <p:cNvSpPr/>
          <p:nvPr/>
        </p:nvSpPr>
        <p:spPr>
          <a:xfrm>
            <a:off x="548640" y="1920240"/>
            <a:ext cx="5394960" cy="566928"/>
          </a:xfrm>
          <a:prstGeom prst="roundRect">
            <a:avLst>
              <a:gd name="adj" fmla="val 9677"/>
            </a:avLst>
          </a:prstGeom>
          <a:solidFill>
            <a:srgbClr val="F3F6F8"/>
          </a:solidFill>
          <a:ln/>
        </p:spPr>
      </p:sp>
      <p:sp>
        <p:nvSpPr>
          <p:cNvPr id="6" name="Shape 4"/>
          <p:cNvSpPr/>
          <p:nvPr/>
        </p:nvSpPr>
        <p:spPr>
          <a:xfrm>
            <a:off x="749808" y="2075688"/>
            <a:ext cx="256032" cy="256032"/>
          </a:xfrm>
          <a:prstGeom prst="ellipse">
            <a:avLst/>
          </a:prstGeom>
          <a:solidFill>
            <a:srgbClr val="D64550"/>
          </a:solidFill>
          <a:ln/>
        </p:spPr>
      </p:sp>
      <p:sp>
        <p:nvSpPr>
          <p:cNvPr id="7" name="Text 5"/>
          <p:cNvSpPr/>
          <p:nvPr/>
        </p:nvSpPr>
        <p:spPr>
          <a:xfrm>
            <a:off x="1143000" y="1920240"/>
            <a:ext cx="2743200" cy="566928"/>
          </a:xfrm>
          <a:prstGeom prst="rect">
            <a:avLst/>
          </a:prstGeom>
          <a:noFill/>
          <a:ln/>
        </p:spPr>
        <p:txBody>
          <a:bodyPr wrap="square" rtlCol="0" anchor="ctr"/>
          <a:lstStyle/>
          <a:p>
            <a:pPr indent="0" marL="0">
              <a:buNone/>
            </a:pPr>
            <a:r>
              <a:rPr lang="en-US" sz="1300" b="1" dirty="0">
                <a:solidFill>
                  <a:srgbClr val="1B2430"/>
                </a:solidFill>
                <a:latin typeface="Calibri" pitchFamily="34" charset="0"/>
                <a:ea typeface="Calibri" pitchFamily="34" charset="-122"/>
                <a:cs typeface="Calibri" pitchFamily="34" charset="-120"/>
              </a:rPr>
              <a:t>closed</a:t>
            </a:r>
            <a:endParaRPr lang="en-US" sz="1300" dirty="0"/>
          </a:p>
        </p:txBody>
      </p:sp>
      <p:sp>
        <p:nvSpPr>
          <p:cNvPr id="8" name="Text 6"/>
          <p:cNvSpPr/>
          <p:nvPr/>
        </p:nvSpPr>
        <p:spPr>
          <a:xfrm>
            <a:off x="3931920" y="1920240"/>
            <a:ext cx="1920240" cy="566928"/>
          </a:xfrm>
          <a:prstGeom prst="rect">
            <a:avLst/>
          </a:prstGeom>
          <a:noFill/>
          <a:ln/>
        </p:spPr>
        <p:txBody>
          <a:bodyPr wrap="square" rtlCol="0" anchor="ctr"/>
          <a:lstStyle/>
          <a:p>
            <a:pPr algn="r" indent="0" marL="0">
              <a:buNone/>
            </a:pPr>
            <a:r>
              <a:rPr lang="en-US" sz="1200" dirty="0">
                <a:solidFill>
                  <a:srgbClr val="5C6773"/>
                </a:solidFill>
                <a:latin typeface="Calibri" pitchFamily="34" charset="0"/>
                <a:ea typeface="Calibri" pitchFamily="34" charset="-122"/>
                <a:cs typeface="Calibri" pitchFamily="34" charset="-120"/>
              </a:rPr>
              <a:t>726 images</a:t>
            </a:r>
            <a:endParaRPr lang="en-US" sz="1200" dirty="0"/>
          </a:p>
        </p:txBody>
      </p:sp>
      <p:sp>
        <p:nvSpPr>
          <p:cNvPr id="9" name="Shape 7"/>
          <p:cNvSpPr/>
          <p:nvPr/>
        </p:nvSpPr>
        <p:spPr>
          <a:xfrm>
            <a:off x="548640" y="2606040"/>
            <a:ext cx="5394960" cy="566928"/>
          </a:xfrm>
          <a:prstGeom prst="roundRect">
            <a:avLst>
              <a:gd name="adj" fmla="val 9677"/>
            </a:avLst>
          </a:prstGeom>
          <a:solidFill>
            <a:srgbClr val="F3F6F8"/>
          </a:solidFill>
          <a:ln/>
        </p:spPr>
      </p:sp>
      <p:sp>
        <p:nvSpPr>
          <p:cNvPr id="10" name="Shape 8"/>
          <p:cNvSpPr/>
          <p:nvPr/>
        </p:nvSpPr>
        <p:spPr>
          <a:xfrm>
            <a:off x="749808" y="2761488"/>
            <a:ext cx="256032" cy="256032"/>
          </a:xfrm>
          <a:prstGeom prst="ellipse">
            <a:avLst/>
          </a:prstGeom>
          <a:solidFill>
            <a:srgbClr val="2FA47A"/>
          </a:solidFill>
          <a:ln/>
        </p:spPr>
      </p:sp>
      <p:sp>
        <p:nvSpPr>
          <p:cNvPr id="11" name="Text 9"/>
          <p:cNvSpPr/>
          <p:nvPr/>
        </p:nvSpPr>
        <p:spPr>
          <a:xfrm>
            <a:off x="1143000" y="2606040"/>
            <a:ext cx="2743200" cy="566928"/>
          </a:xfrm>
          <a:prstGeom prst="rect">
            <a:avLst/>
          </a:prstGeom>
          <a:noFill/>
          <a:ln/>
        </p:spPr>
        <p:txBody>
          <a:bodyPr wrap="square" rtlCol="0" anchor="ctr"/>
          <a:lstStyle/>
          <a:p>
            <a:pPr indent="0" marL="0">
              <a:buNone/>
            </a:pPr>
            <a:r>
              <a:rPr lang="en-US" sz="1300" b="1" dirty="0">
                <a:solidFill>
                  <a:srgbClr val="1B2430"/>
                </a:solidFill>
                <a:latin typeface="Calibri" pitchFamily="34" charset="0"/>
                <a:ea typeface="Calibri" pitchFamily="34" charset="-122"/>
                <a:cs typeface="Calibri" pitchFamily="34" charset="-120"/>
              </a:rPr>
              <a:t>open</a:t>
            </a:r>
            <a:endParaRPr lang="en-US" sz="1300" dirty="0"/>
          </a:p>
        </p:txBody>
      </p:sp>
      <p:sp>
        <p:nvSpPr>
          <p:cNvPr id="12" name="Text 10"/>
          <p:cNvSpPr/>
          <p:nvPr/>
        </p:nvSpPr>
        <p:spPr>
          <a:xfrm>
            <a:off x="3931920" y="2606040"/>
            <a:ext cx="1920240" cy="566928"/>
          </a:xfrm>
          <a:prstGeom prst="rect">
            <a:avLst/>
          </a:prstGeom>
          <a:noFill/>
          <a:ln/>
        </p:spPr>
        <p:txBody>
          <a:bodyPr wrap="square" rtlCol="0" anchor="ctr"/>
          <a:lstStyle/>
          <a:p>
            <a:pPr algn="r" indent="0" marL="0">
              <a:buNone/>
            </a:pPr>
            <a:r>
              <a:rPr lang="en-US" sz="1200" dirty="0">
                <a:solidFill>
                  <a:srgbClr val="5C6773"/>
                </a:solidFill>
                <a:latin typeface="Calibri" pitchFamily="34" charset="0"/>
                <a:ea typeface="Calibri" pitchFamily="34" charset="-122"/>
                <a:cs typeface="Calibri" pitchFamily="34" charset="-120"/>
              </a:rPr>
              <a:t>726 images</a:t>
            </a:r>
            <a:endParaRPr lang="en-US" sz="1200" dirty="0"/>
          </a:p>
        </p:txBody>
      </p:sp>
      <p:sp>
        <p:nvSpPr>
          <p:cNvPr id="13" name="Shape 11"/>
          <p:cNvSpPr/>
          <p:nvPr/>
        </p:nvSpPr>
        <p:spPr>
          <a:xfrm>
            <a:off x="548640" y="3291840"/>
            <a:ext cx="5394960" cy="566928"/>
          </a:xfrm>
          <a:prstGeom prst="roundRect">
            <a:avLst>
              <a:gd name="adj" fmla="val 9677"/>
            </a:avLst>
          </a:prstGeom>
          <a:solidFill>
            <a:srgbClr val="F3F6F8"/>
          </a:solidFill>
          <a:ln/>
        </p:spPr>
      </p:sp>
      <p:sp>
        <p:nvSpPr>
          <p:cNvPr id="14" name="Shape 12"/>
          <p:cNvSpPr/>
          <p:nvPr/>
        </p:nvSpPr>
        <p:spPr>
          <a:xfrm>
            <a:off x="749808" y="3447288"/>
            <a:ext cx="256032" cy="256032"/>
          </a:xfrm>
          <a:prstGeom prst="ellipse">
            <a:avLst/>
          </a:prstGeom>
          <a:solidFill>
            <a:srgbClr val="F2A93B"/>
          </a:solidFill>
          <a:ln/>
        </p:spPr>
      </p:sp>
      <p:sp>
        <p:nvSpPr>
          <p:cNvPr id="15" name="Text 13"/>
          <p:cNvSpPr/>
          <p:nvPr/>
        </p:nvSpPr>
        <p:spPr>
          <a:xfrm>
            <a:off x="1143000" y="3291840"/>
            <a:ext cx="2743200" cy="566928"/>
          </a:xfrm>
          <a:prstGeom prst="rect">
            <a:avLst/>
          </a:prstGeom>
          <a:noFill/>
          <a:ln/>
        </p:spPr>
        <p:txBody>
          <a:bodyPr wrap="square" rtlCol="0" anchor="ctr"/>
          <a:lstStyle/>
          <a:p>
            <a:pPr indent="0" marL="0">
              <a:buNone/>
            </a:pPr>
            <a:r>
              <a:rPr lang="en-US" sz="1300" b="1" dirty="0">
                <a:solidFill>
                  <a:srgbClr val="1B2430"/>
                </a:solidFill>
                <a:latin typeface="Calibri" pitchFamily="34" charset="0"/>
                <a:ea typeface="Calibri" pitchFamily="34" charset="-122"/>
                <a:cs typeface="Calibri" pitchFamily="34" charset="-120"/>
              </a:rPr>
              <a:t>yawn</a:t>
            </a:r>
            <a:endParaRPr lang="en-US" sz="1300" dirty="0"/>
          </a:p>
        </p:txBody>
      </p:sp>
      <p:sp>
        <p:nvSpPr>
          <p:cNvPr id="16" name="Text 14"/>
          <p:cNvSpPr/>
          <p:nvPr/>
        </p:nvSpPr>
        <p:spPr>
          <a:xfrm>
            <a:off x="3931920" y="3291840"/>
            <a:ext cx="1920240" cy="566928"/>
          </a:xfrm>
          <a:prstGeom prst="rect">
            <a:avLst/>
          </a:prstGeom>
          <a:noFill/>
          <a:ln/>
        </p:spPr>
        <p:txBody>
          <a:bodyPr wrap="square" rtlCol="0" anchor="ctr"/>
          <a:lstStyle/>
          <a:p>
            <a:pPr algn="r" indent="0" marL="0">
              <a:buNone/>
            </a:pPr>
            <a:r>
              <a:rPr lang="en-US" sz="1200" dirty="0">
                <a:solidFill>
                  <a:srgbClr val="5C6773"/>
                </a:solidFill>
                <a:latin typeface="Calibri" pitchFamily="34" charset="0"/>
                <a:ea typeface="Calibri" pitchFamily="34" charset="-122"/>
                <a:cs typeface="Calibri" pitchFamily="34" charset="-120"/>
              </a:rPr>
              <a:t>723 images</a:t>
            </a:r>
            <a:endParaRPr lang="en-US" sz="1200" dirty="0"/>
          </a:p>
        </p:txBody>
      </p:sp>
      <p:sp>
        <p:nvSpPr>
          <p:cNvPr id="17" name="Shape 15"/>
          <p:cNvSpPr/>
          <p:nvPr/>
        </p:nvSpPr>
        <p:spPr>
          <a:xfrm>
            <a:off x="548640" y="3977640"/>
            <a:ext cx="5394960" cy="566928"/>
          </a:xfrm>
          <a:prstGeom prst="roundRect">
            <a:avLst>
              <a:gd name="adj" fmla="val 9677"/>
            </a:avLst>
          </a:prstGeom>
          <a:solidFill>
            <a:srgbClr val="F3F6F8"/>
          </a:solidFill>
          <a:ln/>
        </p:spPr>
      </p:sp>
      <p:sp>
        <p:nvSpPr>
          <p:cNvPr id="18" name="Shape 16"/>
          <p:cNvSpPr/>
          <p:nvPr/>
        </p:nvSpPr>
        <p:spPr>
          <a:xfrm>
            <a:off x="749808" y="4133088"/>
            <a:ext cx="256032" cy="256032"/>
          </a:xfrm>
          <a:prstGeom prst="ellipse">
            <a:avLst/>
          </a:prstGeom>
          <a:solidFill>
            <a:srgbClr val="2E86AB"/>
          </a:solidFill>
          <a:ln/>
        </p:spPr>
      </p:sp>
      <p:sp>
        <p:nvSpPr>
          <p:cNvPr id="19" name="Text 17"/>
          <p:cNvSpPr/>
          <p:nvPr/>
        </p:nvSpPr>
        <p:spPr>
          <a:xfrm>
            <a:off x="1143000" y="3977640"/>
            <a:ext cx="2743200" cy="566928"/>
          </a:xfrm>
          <a:prstGeom prst="rect">
            <a:avLst/>
          </a:prstGeom>
          <a:noFill/>
          <a:ln/>
        </p:spPr>
        <p:txBody>
          <a:bodyPr wrap="square" rtlCol="0" anchor="ctr"/>
          <a:lstStyle/>
          <a:p>
            <a:pPr indent="0" marL="0">
              <a:buNone/>
            </a:pPr>
            <a:r>
              <a:rPr lang="en-US" sz="1300" b="1" dirty="0">
                <a:solidFill>
                  <a:srgbClr val="1B2430"/>
                </a:solidFill>
                <a:latin typeface="Calibri" pitchFamily="34" charset="0"/>
                <a:ea typeface="Calibri" pitchFamily="34" charset="-122"/>
                <a:cs typeface="Calibri" pitchFamily="34" charset="-120"/>
              </a:rPr>
              <a:t>no_yawn</a:t>
            </a:r>
            <a:endParaRPr lang="en-US" sz="1300" dirty="0"/>
          </a:p>
        </p:txBody>
      </p:sp>
      <p:sp>
        <p:nvSpPr>
          <p:cNvPr id="20" name="Text 18"/>
          <p:cNvSpPr/>
          <p:nvPr/>
        </p:nvSpPr>
        <p:spPr>
          <a:xfrm>
            <a:off x="3931920" y="3977640"/>
            <a:ext cx="1920240" cy="566928"/>
          </a:xfrm>
          <a:prstGeom prst="rect">
            <a:avLst/>
          </a:prstGeom>
          <a:noFill/>
          <a:ln/>
        </p:spPr>
        <p:txBody>
          <a:bodyPr wrap="square" rtlCol="0" anchor="ctr"/>
          <a:lstStyle/>
          <a:p>
            <a:pPr algn="r" indent="0" marL="0">
              <a:buNone/>
            </a:pPr>
            <a:r>
              <a:rPr lang="en-US" sz="1200" dirty="0">
                <a:solidFill>
                  <a:srgbClr val="5C6773"/>
                </a:solidFill>
                <a:latin typeface="Calibri" pitchFamily="34" charset="0"/>
                <a:ea typeface="Calibri" pitchFamily="34" charset="-122"/>
                <a:cs typeface="Calibri" pitchFamily="34" charset="-120"/>
              </a:rPr>
              <a:t>725 images</a:t>
            </a:r>
            <a:endParaRPr lang="en-US" sz="1200" dirty="0"/>
          </a:p>
        </p:txBody>
      </p:sp>
      <p:sp>
        <p:nvSpPr>
          <p:cNvPr id="21" name="Shape 19"/>
          <p:cNvSpPr/>
          <p:nvPr/>
        </p:nvSpPr>
        <p:spPr>
          <a:xfrm>
            <a:off x="548640" y="4709160"/>
            <a:ext cx="5394960" cy="1371600"/>
          </a:xfrm>
          <a:prstGeom prst="roundRect">
            <a:avLst>
              <a:gd name="adj" fmla="val 5333"/>
            </a:avLst>
          </a:prstGeom>
          <a:solidFill>
            <a:srgbClr val="1B2A4A"/>
          </a:solidFill>
          <a:ln/>
        </p:spPr>
      </p:sp>
      <p:sp>
        <p:nvSpPr>
          <p:cNvPr id="22" name="Text 20"/>
          <p:cNvSpPr/>
          <p:nvPr/>
        </p:nvSpPr>
        <p:spPr>
          <a:xfrm>
            <a:off x="777240" y="4846320"/>
            <a:ext cx="4937760" cy="320040"/>
          </a:xfrm>
          <a:prstGeom prst="rect">
            <a:avLst/>
          </a:prstGeom>
          <a:noFill/>
          <a:ln/>
        </p:spPr>
        <p:txBody>
          <a:bodyPr wrap="square" rtlCol="0" anchor="ctr"/>
          <a:lstStyle/>
          <a:p>
            <a:pPr indent="0" marL="0">
              <a:buNone/>
            </a:pPr>
            <a:r>
              <a:rPr lang="en-US" sz="1150" b="1" dirty="0">
                <a:solidFill>
                  <a:srgbClr val="F2A93B"/>
                </a:solidFill>
                <a:latin typeface="Calibri" pitchFamily="34" charset="0"/>
                <a:ea typeface="Calibri" pitchFamily="34" charset="-122"/>
                <a:cs typeface="Calibri" pitchFamily="34" charset="-120"/>
              </a:rPr>
              <a:t>Duplicate / Leakage Check</a:t>
            </a:r>
            <a:endParaRPr lang="en-US" sz="1150" dirty="0"/>
          </a:p>
        </p:txBody>
      </p:sp>
      <p:sp>
        <p:nvSpPr>
          <p:cNvPr id="23" name="Text 21"/>
          <p:cNvSpPr/>
          <p:nvPr/>
        </p:nvSpPr>
        <p:spPr>
          <a:xfrm>
            <a:off x="777240" y="5166360"/>
            <a:ext cx="4937760" cy="822960"/>
          </a:xfrm>
          <a:prstGeom prst="rect">
            <a:avLst/>
          </a:prstGeom>
          <a:noFill/>
          <a:ln/>
        </p:spPr>
        <p:txBody>
          <a:bodyPr wrap="square" rtlCol="0" anchor="ctr"/>
          <a:lstStyle/>
          <a:p>
            <a:pPr indent="0" marL="0">
              <a:lnSpc>
                <a:spcPct val="120000"/>
              </a:lnSpc>
              <a:buNone/>
            </a:pPr>
            <a:r>
              <a:rPr lang="en-US" sz="1100" dirty="0">
                <a:solidFill>
                  <a:srgbClr val="D5E1EA"/>
                </a:solidFill>
                <a:latin typeface="Calibri" pitchFamily="34" charset="0"/>
                <a:ea typeface="Calibri" pitchFamily="34" charset="-122"/>
                <a:cs typeface="Calibri" pitchFamily="34" charset="-120"/>
              </a:rPr>
              <a:t>0 exact duplicate images found across train, validation and test splits (MD5 hash comparison) — no data leakage.</a:t>
            </a:r>
            <a:endParaRPr lang="en-US" sz="1100" dirty="0"/>
          </a:p>
        </p:txBody>
      </p:sp>
      <p:sp>
        <p:nvSpPr>
          <p:cNvPr id="24" name="Text 22"/>
          <p:cNvSpPr/>
          <p:nvPr/>
        </p:nvSpPr>
        <p:spPr>
          <a:xfrm>
            <a:off x="6263640" y="1508760"/>
            <a:ext cx="5394960" cy="320040"/>
          </a:xfrm>
          <a:prstGeom prst="rect">
            <a:avLst/>
          </a:prstGeom>
          <a:noFill/>
          <a:ln/>
        </p:spPr>
        <p:txBody>
          <a:bodyPr wrap="square" rtlCol="0" anchor="ctr"/>
          <a:lstStyle/>
          <a:p>
            <a:pPr indent="0" marL="0">
              <a:buNone/>
            </a:pPr>
            <a:r>
              <a:rPr lang="en-US" sz="1400" b="1" dirty="0">
                <a:solidFill>
                  <a:srgbClr val="1B2430"/>
                </a:solidFill>
                <a:latin typeface="Cambria" pitchFamily="34" charset="0"/>
                <a:ea typeface="Cambria" pitchFamily="34" charset="-122"/>
                <a:cs typeface="Cambria" pitchFamily="34" charset="-120"/>
              </a:rPr>
              <a:t>70 / 15 / 15 Split by Class</a:t>
            </a:r>
            <a:endParaRPr lang="en-US" sz="1400" dirty="0"/>
          </a:p>
        </p:txBody>
      </p:sp>
      <p:sp>
        <p:nvSpPr>
          <p:cNvPr id="25" name="Shape 23"/>
          <p:cNvSpPr/>
          <p:nvPr/>
        </p:nvSpPr>
        <p:spPr>
          <a:xfrm>
            <a:off x="6263640" y="1920240"/>
            <a:ext cx="1737360" cy="475488"/>
          </a:xfrm>
          <a:prstGeom prst="rect">
            <a:avLst/>
          </a:prstGeom>
          <a:solidFill>
            <a:srgbClr val="1B2A4A"/>
          </a:solidFill>
          <a:ln w="9525">
            <a:solidFill>
              <a:srgbClr val="E1E7EA"/>
            </a:solidFill>
            <a:prstDash val="solid"/>
          </a:ln>
        </p:spPr>
      </p:sp>
      <p:sp>
        <p:nvSpPr>
          <p:cNvPr id="26" name="Text 24"/>
          <p:cNvSpPr/>
          <p:nvPr/>
        </p:nvSpPr>
        <p:spPr>
          <a:xfrm>
            <a:off x="6400800" y="1920240"/>
            <a:ext cx="1600200" cy="475488"/>
          </a:xfrm>
          <a:prstGeom prst="rect">
            <a:avLst/>
          </a:prstGeom>
          <a:noFill/>
          <a:ln/>
        </p:spPr>
        <p:txBody>
          <a:bodyPr wrap="square" rtlCol="0" anchor="ctr"/>
          <a:lstStyle/>
          <a:p>
            <a:pPr algn="l" indent="0" marL="0">
              <a:buNone/>
            </a:pPr>
            <a:r>
              <a:rPr lang="en-US" sz="1150" b="1" dirty="0">
                <a:solidFill>
                  <a:srgbClr val="FFFFFF"/>
                </a:solidFill>
                <a:latin typeface="Calibri" pitchFamily="34" charset="0"/>
                <a:ea typeface="Calibri" pitchFamily="34" charset="-122"/>
                <a:cs typeface="Calibri" pitchFamily="34" charset="-120"/>
              </a:rPr>
              <a:t>Class</a:t>
            </a:r>
            <a:endParaRPr lang="en-US" sz="1150" dirty="0"/>
          </a:p>
        </p:txBody>
      </p:sp>
      <p:sp>
        <p:nvSpPr>
          <p:cNvPr id="27" name="Shape 25"/>
          <p:cNvSpPr/>
          <p:nvPr/>
        </p:nvSpPr>
        <p:spPr>
          <a:xfrm>
            <a:off x="8001000" y="1920240"/>
            <a:ext cx="1216152" cy="475488"/>
          </a:xfrm>
          <a:prstGeom prst="rect">
            <a:avLst/>
          </a:prstGeom>
          <a:solidFill>
            <a:srgbClr val="1B2A4A"/>
          </a:solidFill>
          <a:ln w="9525">
            <a:solidFill>
              <a:srgbClr val="E1E7EA"/>
            </a:solidFill>
            <a:prstDash val="solid"/>
          </a:ln>
        </p:spPr>
      </p:sp>
      <p:sp>
        <p:nvSpPr>
          <p:cNvPr id="28" name="Text 26"/>
          <p:cNvSpPr/>
          <p:nvPr/>
        </p:nvSpPr>
        <p:spPr>
          <a:xfrm>
            <a:off x="8001000" y="1920240"/>
            <a:ext cx="1216152" cy="475488"/>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Train</a:t>
            </a:r>
            <a:endParaRPr lang="en-US" sz="1150" dirty="0"/>
          </a:p>
        </p:txBody>
      </p:sp>
      <p:sp>
        <p:nvSpPr>
          <p:cNvPr id="29" name="Shape 27"/>
          <p:cNvSpPr/>
          <p:nvPr/>
        </p:nvSpPr>
        <p:spPr>
          <a:xfrm>
            <a:off x="9217152" y="1920240"/>
            <a:ext cx="1216152" cy="475488"/>
          </a:xfrm>
          <a:prstGeom prst="rect">
            <a:avLst/>
          </a:prstGeom>
          <a:solidFill>
            <a:srgbClr val="1B2A4A"/>
          </a:solidFill>
          <a:ln w="9525">
            <a:solidFill>
              <a:srgbClr val="E1E7EA"/>
            </a:solidFill>
            <a:prstDash val="solid"/>
          </a:ln>
        </p:spPr>
      </p:sp>
      <p:sp>
        <p:nvSpPr>
          <p:cNvPr id="30" name="Text 28"/>
          <p:cNvSpPr/>
          <p:nvPr/>
        </p:nvSpPr>
        <p:spPr>
          <a:xfrm>
            <a:off x="9217152" y="1920240"/>
            <a:ext cx="1216152" cy="475488"/>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Val</a:t>
            </a:r>
            <a:endParaRPr lang="en-US" sz="1150" dirty="0"/>
          </a:p>
        </p:txBody>
      </p:sp>
      <p:sp>
        <p:nvSpPr>
          <p:cNvPr id="31" name="Shape 29"/>
          <p:cNvSpPr/>
          <p:nvPr/>
        </p:nvSpPr>
        <p:spPr>
          <a:xfrm>
            <a:off x="10433304" y="1920240"/>
            <a:ext cx="1225296" cy="475488"/>
          </a:xfrm>
          <a:prstGeom prst="rect">
            <a:avLst/>
          </a:prstGeom>
          <a:solidFill>
            <a:srgbClr val="1B2A4A"/>
          </a:solidFill>
          <a:ln w="9525">
            <a:solidFill>
              <a:srgbClr val="E1E7EA"/>
            </a:solidFill>
            <a:prstDash val="solid"/>
          </a:ln>
        </p:spPr>
      </p:sp>
      <p:sp>
        <p:nvSpPr>
          <p:cNvPr id="32" name="Text 30"/>
          <p:cNvSpPr/>
          <p:nvPr/>
        </p:nvSpPr>
        <p:spPr>
          <a:xfrm>
            <a:off x="10433304" y="1920240"/>
            <a:ext cx="1225296" cy="475488"/>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Test</a:t>
            </a:r>
            <a:endParaRPr lang="en-US" sz="1150" dirty="0"/>
          </a:p>
        </p:txBody>
      </p:sp>
      <p:sp>
        <p:nvSpPr>
          <p:cNvPr id="33" name="Shape 31"/>
          <p:cNvSpPr/>
          <p:nvPr/>
        </p:nvSpPr>
        <p:spPr>
          <a:xfrm>
            <a:off x="6263640" y="2395728"/>
            <a:ext cx="1737360" cy="475488"/>
          </a:xfrm>
          <a:prstGeom prst="rect">
            <a:avLst/>
          </a:prstGeom>
          <a:solidFill>
            <a:srgbClr val="F3F6F8"/>
          </a:solidFill>
          <a:ln w="9525">
            <a:solidFill>
              <a:srgbClr val="E1E7EA"/>
            </a:solidFill>
            <a:prstDash val="solid"/>
          </a:ln>
        </p:spPr>
      </p:sp>
      <p:sp>
        <p:nvSpPr>
          <p:cNvPr id="34" name="Text 32"/>
          <p:cNvSpPr/>
          <p:nvPr/>
        </p:nvSpPr>
        <p:spPr>
          <a:xfrm>
            <a:off x="6400800" y="2395728"/>
            <a:ext cx="1600200" cy="475488"/>
          </a:xfrm>
          <a:prstGeom prst="rect">
            <a:avLst/>
          </a:prstGeom>
          <a:noFill/>
          <a:ln/>
        </p:spPr>
        <p:txBody>
          <a:bodyPr wrap="square" rtlCol="0" anchor="ctr"/>
          <a:lstStyle/>
          <a:p>
            <a:pPr algn="l" indent="0" marL="0">
              <a:buNone/>
            </a:pPr>
            <a:r>
              <a:rPr lang="en-US" sz="1150" dirty="0">
                <a:solidFill>
                  <a:srgbClr val="1B2430"/>
                </a:solidFill>
                <a:latin typeface="Calibri" pitchFamily="34" charset="0"/>
                <a:ea typeface="Calibri" pitchFamily="34" charset="-122"/>
                <a:cs typeface="Calibri" pitchFamily="34" charset="-120"/>
              </a:rPr>
              <a:t>closed</a:t>
            </a:r>
            <a:endParaRPr lang="en-US" sz="1150" dirty="0"/>
          </a:p>
        </p:txBody>
      </p:sp>
      <p:sp>
        <p:nvSpPr>
          <p:cNvPr id="35" name="Shape 33"/>
          <p:cNvSpPr/>
          <p:nvPr/>
        </p:nvSpPr>
        <p:spPr>
          <a:xfrm>
            <a:off x="8001000" y="2395728"/>
            <a:ext cx="1216152" cy="475488"/>
          </a:xfrm>
          <a:prstGeom prst="rect">
            <a:avLst/>
          </a:prstGeom>
          <a:solidFill>
            <a:srgbClr val="F3F6F8"/>
          </a:solidFill>
          <a:ln w="9525">
            <a:solidFill>
              <a:srgbClr val="E1E7EA"/>
            </a:solidFill>
            <a:prstDash val="solid"/>
          </a:ln>
        </p:spPr>
      </p:sp>
      <p:sp>
        <p:nvSpPr>
          <p:cNvPr id="36" name="Text 34"/>
          <p:cNvSpPr/>
          <p:nvPr/>
        </p:nvSpPr>
        <p:spPr>
          <a:xfrm>
            <a:off x="8001000" y="2395728"/>
            <a:ext cx="1216152" cy="475488"/>
          </a:xfrm>
          <a:prstGeom prst="rect">
            <a:avLst/>
          </a:prstGeom>
          <a:noFill/>
          <a:ln/>
        </p:spPr>
        <p:txBody>
          <a:bodyPr wrap="square" rtlCol="0" anchor="ctr"/>
          <a:lstStyle/>
          <a:p>
            <a:pPr algn="ctr" indent="0" marL="0">
              <a:buNone/>
            </a:pPr>
            <a:r>
              <a:rPr lang="en-US" sz="1150" dirty="0">
                <a:solidFill>
                  <a:srgbClr val="1B2430"/>
                </a:solidFill>
                <a:latin typeface="Calibri" pitchFamily="34" charset="0"/>
                <a:ea typeface="Calibri" pitchFamily="34" charset="-122"/>
                <a:cs typeface="Calibri" pitchFamily="34" charset="-120"/>
              </a:rPr>
              <a:t>508</a:t>
            </a:r>
            <a:endParaRPr lang="en-US" sz="1150" dirty="0"/>
          </a:p>
        </p:txBody>
      </p:sp>
      <p:sp>
        <p:nvSpPr>
          <p:cNvPr id="37" name="Shape 35"/>
          <p:cNvSpPr/>
          <p:nvPr/>
        </p:nvSpPr>
        <p:spPr>
          <a:xfrm>
            <a:off x="9217152" y="2395728"/>
            <a:ext cx="1216152" cy="475488"/>
          </a:xfrm>
          <a:prstGeom prst="rect">
            <a:avLst/>
          </a:prstGeom>
          <a:solidFill>
            <a:srgbClr val="F3F6F8"/>
          </a:solidFill>
          <a:ln w="9525">
            <a:solidFill>
              <a:srgbClr val="E1E7EA"/>
            </a:solidFill>
            <a:prstDash val="solid"/>
          </a:ln>
        </p:spPr>
      </p:sp>
      <p:sp>
        <p:nvSpPr>
          <p:cNvPr id="38" name="Text 36"/>
          <p:cNvSpPr/>
          <p:nvPr/>
        </p:nvSpPr>
        <p:spPr>
          <a:xfrm>
            <a:off x="9217152" y="2395728"/>
            <a:ext cx="1216152" cy="475488"/>
          </a:xfrm>
          <a:prstGeom prst="rect">
            <a:avLst/>
          </a:prstGeom>
          <a:noFill/>
          <a:ln/>
        </p:spPr>
        <p:txBody>
          <a:bodyPr wrap="square" rtlCol="0" anchor="ctr"/>
          <a:lstStyle/>
          <a:p>
            <a:pPr algn="ctr" indent="0" marL="0">
              <a:buNone/>
            </a:pPr>
            <a:r>
              <a:rPr lang="en-US" sz="1150" dirty="0">
                <a:solidFill>
                  <a:srgbClr val="1B2430"/>
                </a:solidFill>
                <a:latin typeface="Calibri" pitchFamily="34" charset="0"/>
                <a:ea typeface="Calibri" pitchFamily="34" charset="-122"/>
                <a:cs typeface="Calibri" pitchFamily="34" charset="-120"/>
              </a:rPr>
              <a:t>109</a:t>
            </a:r>
            <a:endParaRPr lang="en-US" sz="1150" dirty="0"/>
          </a:p>
        </p:txBody>
      </p:sp>
      <p:sp>
        <p:nvSpPr>
          <p:cNvPr id="39" name="Shape 37"/>
          <p:cNvSpPr/>
          <p:nvPr/>
        </p:nvSpPr>
        <p:spPr>
          <a:xfrm>
            <a:off x="10433304" y="2395728"/>
            <a:ext cx="1225296" cy="475488"/>
          </a:xfrm>
          <a:prstGeom prst="rect">
            <a:avLst/>
          </a:prstGeom>
          <a:solidFill>
            <a:srgbClr val="F3F6F8"/>
          </a:solidFill>
          <a:ln w="9525">
            <a:solidFill>
              <a:srgbClr val="E1E7EA"/>
            </a:solidFill>
            <a:prstDash val="solid"/>
          </a:ln>
        </p:spPr>
      </p:sp>
      <p:sp>
        <p:nvSpPr>
          <p:cNvPr id="40" name="Text 38"/>
          <p:cNvSpPr/>
          <p:nvPr/>
        </p:nvSpPr>
        <p:spPr>
          <a:xfrm>
            <a:off x="10433304" y="2395728"/>
            <a:ext cx="1225296" cy="475488"/>
          </a:xfrm>
          <a:prstGeom prst="rect">
            <a:avLst/>
          </a:prstGeom>
          <a:noFill/>
          <a:ln/>
        </p:spPr>
        <p:txBody>
          <a:bodyPr wrap="square" rtlCol="0" anchor="ctr"/>
          <a:lstStyle/>
          <a:p>
            <a:pPr algn="ctr" indent="0" marL="0">
              <a:buNone/>
            </a:pPr>
            <a:r>
              <a:rPr lang="en-US" sz="1150" dirty="0">
                <a:solidFill>
                  <a:srgbClr val="1B2430"/>
                </a:solidFill>
                <a:latin typeface="Calibri" pitchFamily="34" charset="0"/>
                <a:ea typeface="Calibri" pitchFamily="34" charset="-122"/>
                <a:cs typeface="Calibri" pitchFamily="34" charset="-120"/>
              </a:rPr>
              <a:t>109</a:t>
            </a:r>
            <a:endParaRPr lang="en-US" sz="1150" dirty="0"/>
          </a:p>
        </p:txBody>
      </p:sp>
      <p:sp>
        <p:nvSpPr>
          <p:cNvPr id="41" name="Shape 39"/>
          <p:cNvSpPr/>
          <p:nvPr/>
        </p:nvSpPr>
        <p:spPr>
          <a:xfrm>
            <a:off x="6263640" y="2871216"/>
            <a:ext cx="1737360" cy="475488"/>
          </a:xfrm>
          <a:prstGeom prst="rect">
            <a:avLst/>
          </a:prstGeom>
          <a:solidFill>
            <a:srgbClr val="FFFFFF"/>
          </a:solidFill>
          <a:ln w="9525">
            <a:solidFill>
              <a:srgbClr val="E1E7EA"/>
            </a:solidFill>
            <a:prstDash val="solid"/>
          </a:ln>
        </p:spPr>
      </p:sp>
      <p:sp>
        <p:nvSpPr>
          <p:cNvPr id="42" name="Text 40"/>
          <p:cNvSpPr/>
          <p:nvPr/>
        </p:nvSpPr>
        <p:spPr>
          <a:xfrm>
            <a:off x="6400800" y="2871216"/>
            <a:ext cx="1600200" cy="475488"/>
          </a:xfrm>
          <a:prstGeom prst="rect">
            <a:avLst/>
          </a:prstGeom>
          <a:noFill/>
          <a:ln/>
        </p:spPr>
        <p:txBody>
          <a:bodyPr wrap="square" rtlCol="0" anchor="ctr"/>
          <a:lstStyle/>
          <a:p>
            <a:pPr algn="l" indent="0" marL="0">
              <a:buNone/>
            </a:pPr>
            <a:r>
              <a:rPr lang="en-US" sz="1150" dirty="0">
                <a:solidFill>
                  <a:srgbClr val="1B2430"/>
                </a:solidFill>
                <a:latin typeface="Calibri" pitchFamily="34" charset="0"/>
                <a:ea typeface="Calibri" pitchFamily="34" charset="-122"/>
                <a:cs typeface="Calibri" pitchFamily="34" charset="-120"/>
              </a:rPr>
              <a:t>open</a:t>
            </a:r>
            <a:endParaRPr lang="en-US" sz="1150" dirty="0"/>
          </a:p>
        </p:txBody>
      </p:sp>
      <p:sp>
        <p:nvSpPr>
          <p:cNvPr id="43" name="Shape 41"/>
          <p:cNvSpPr/>
          <p:nvPr/>
        </p:nvSpPr>
        <p:spPr>
          <a:xfrm>
            <a:off x="8001000" y="2871216"/>
            <a:ext cx="1216152" cy="475488"/>
          </a:xfrm>
          <a:prstGeom prst="rect">
            <a:avLst/>
          </a:prstGeom>
          <a:solidFill>
            <a:srgbClr val="FFFFFF"/>
          </a:solidFill>
          <a:ln w="9525">
            <a:solidFill>
              <a:srgbClr val="E1E7EA"/>
            </a:solidFill>
            <a:prstDash val="solid"/>
          </a:ln>
        </p:spPr>
      </p:sp>
      <p:sp>
        <p:nvSpPr>
          <p:cNvPr id="44" name="Text 42"/>
          <p:cNvSpPr/>
          <p:nvPr/>
        </p:nvSpPr>
        <p:spPr>
          <a:xfrm>
            <a:off x="8001000" y="2871216"/>
            <a:ext cx="1216152" cy="475488"/>
          </a:xfrm>
          <a:prstGeom prst="rect">
            <a:avLst/>
          </a:prstGeom>
          <a:noFill/>
          <a:ln/>
        </p:spPr>
        <p:txBody>
          <a:bodyPr wrap="square" rtlCol="0" anchor="ctr"/>
          <a:lstStyle/>
          <a:p>
            <a:pPr algn="ctr" indent="0" marL="0">
              <a:buNone/>
            </a:pPr>
            <a:r>
              <a:rPr lang="en-US" sz="1150" dirty="0">
                <a:solidFill>
                  <a:srgbClr val="1B2430"/>
                </a:solidFill>
                <a:latin typeface="Calibri" pitchFamily="34" charset="0"/>
                <a:ea typeface="Calibri" pitchFamily="34" charset="-122"/>
                <a:cs typeface="Calibri" pitchFamily="34" charset="-120"/>
              </a:rPr>
              <a:t>508</a:t>
            </a:r>
            <a:endParaRPr lang="en-US" sz="1150" dirty="0"/>
          </a:p>
        </p:txBody>
      </p:sp>
      <p:sp>
        <p:nvSpPr>
          <p:cNvPr id="45" name="Shape 43"/>
          <p:cNvSpPr/>
          <p:nvPr/>
        </p:nvSpPr>
        <p:spPr>
          <a:xfrm>
            <a:off x="9217152" y="2871216"/>
            <a:ext cx="1216152" cy="475488"/>
          </a:xfrm>
          <a:prstGeom prst="rect">
            <a:avLst/>
          </a:prstGeom>
          <a:solidFill>
            <a:srgbClr val="FFFFFF"/>
          </a:solidFill>
          <a:ln w="9525">
            <a:solidFill>
              <a:srgbClr val="E1E7EA"/>
            </a:solidFill>
            <a:prstDash val="solid"/>
          </a:ln>
        </p:spPr>
      </p:sp>
      <p:sp>
        <p:nvSpPr>
          <p:cNvPr id="46" name="Text 44"/>
          <p:cNvSpPr/>
          <p:nvPr/>
        </p:nvSpPr>
        <p:spPr>
          <a:xfrm>
            <a:off x="9217152" y="2871216"/>
            <a:ext cx="1216152" cy="475488"/>
          </a:xfrm>
          <a:prstGeom prst="rect">
            <a:avLst/>
          </a:prstGeom>
          <a:noFill/>
          <a:ln/>
        </p:spPr>
        <p:txBody>
          <a:bodyPr wrap="square" rtlCol="0" anchor="ctr"/>
          <a:lstStyle/>
          <a:p>
            <a:pPr algn="ctr" indent="0" marL="0">
              <a:buNone/>
            </a:pPr>
            <a:r>
              <a:rPr lang="en-US" sz="1150" dirty="0">
                <a:solidFill>
                  <a:srgbClr val="1B2430"/>
                </a:solidFill>
                <a:latin typeface="Calibri" pitchFamily="34" charset="0"/>
                <a:ea typeface="Calibri" pitchFamily="34" charset="-122"/>
                <a:cs typeface="Calibri" pitchFamily="34" charset="-120"/>
              </a:rPr>
              <a:t>109</a:t>
            </a:r>
            <a:endParaRPr lang="en-US" sz="1150" dirty="0"/>
          </a:p>
        </p:txBody>
      </p:sp>
      <p:sp>
        <p:nvSpPr>
          <p:cNvPr id="47" name="Shape 45"/>
          <p:cNvSpPr/>
          <p:nvPr/>
        </p:nvSpPr>
        <p:spPr>
          <a:xfrm>
            <a:off x="10433304" y="2871216"/>
            <a:ext cx="1225296" cy="475488"/>
          </a:xfrm>
          <a:prstGeom prst="rect">
            <a:avLst/>
          </a:prstGeom>
          <a:solidFill>
            <a:srgbClr val="FFFFFF"/>
          </a:solidFill>
          <a:ln w="9525">
            <a:solidFill>
              <a:srgbClr val="E1E7EA"/>
            </a:solidFill>
            <a:prstDash val="solid"/>
          </a:ln>
        </p:spPr>
      </p:sp>
      <p:sp>
        <p:nvSpPr>
          <p:cNvPr id="48" name="Text 46"/>
          <p:cNvSpPr/>
          <p:nvPr/>
        </p:nvSpPr>
        <p:spPr>
          <a:xfrm>
            <a:off x="10433304" y="2871216"/>
            <a:ext cx="1225296" cy="475488"/>
          </a:xfrm>
          <a:prstGeom prst="rect">
            <a:avLst/>
          </a:prstGeom>
          <a:noFill/>
          <a:ln/>
        </p:spPr>
        <p:txBody>
          <a:bodyPr wrap="square" rtlCol="0" anchor="ctr"/>
          <a:lstStyle/>
          <a:p>
            <a:pPr algn="ctr" indent="0" marL="0">
              <a:buNone/>
            </a:pPr>
            <a:r>
              <a:rPr lang="en-US" sz="1150" dirty="0">
                <a:solidFill>
                  <a:srgbClr val="1B2430"/>
                </a:solidFill>
                <a:latin typeface="Calibri" pitchFamily="34" charset="0"/>
                <a:ea typeface="Calibri" pitchFamily="34" charset="-122"/>
                <a:cs typeface="Calibri" pitchFamily="34" charset="-120"/>
              </a:rPr>
              <a:t>109</a:t>
            </a:r>
            <a:endParaRPr lang="en-US" sz="1150" dirty="0"/>
          </a:p>
        </p:txBody>
      </p:sp>
      <p:sp>
        <p:nvSpPr>
          <p:cNvPr id="49" name="Shape 47"/>
          <p:cNvSpPr/>
          <p:nvPr/>
        </p:nvSpPr>
        <p:spPr>
          <a:xfrm>
            <a:off x="6263640" y="3346704"/>
            <a:ext cx="1737360" cy="475488"/>
          </a:xfrm>
          <a:prstGeom prst="rect">
            <a:avLst/>
          </a:prstGeom>
          <a:solidFill>
            <a:srgbClr val="F3F6F8"/>
          </a:solidFill>
          <a:ln w="9525">
            <a:solidFill>
              <a:srgbClr val="E1E7EA"/>
            </a:solidFill>
            <a:prstDash val="solid"/>
          </a:ln>
        </p:spPr>
      </p:sp>
      <p:sp>
        <p:nvSpPr>
          <p:cNvPr id="50" name="Text 48"/>
          <p:cNvSpPr/>
          <p:nvPr/>
        </p:nvSpPr>
        <p:spPr>
          <a:xfrm>
            <a:off x="6400800" y="3346704"/>
            <a:ext cx="1600200" cy="475488"/>
          </a:xfrm>
          <a:prstGeom prst="rect">
            <a:avLst/>
          </a:prstGeom>
          <a:noFill/>
          <a:ln/>
        </p:spPr>
        <p:txBody>
          <a:bodyPr wrap="square" rtlCol="0" anchor="ctr"/>
          <a:lstStyle/>
          <a:p>
            <a:pPr algn="l" indent="0" marL="0">
              <a:buNone/>
            </a:pPr>
            <a:r>
              <a:rPr lang="en-US" sz="1150" dirty="0">
                <a:solidFill>
                  <a:srgbClr val="1B2430"/>
                </a:solidFill>
                <a:latin typeface="Calibri" pitchFamily="34" charset="0"/>
                <a:ea typeface="Calibri" pitchFamily="34" charset="-122"/>
                <a:cs typeface="Calibri" pitchFamily="34" charset="-120"/>
              </a:rPr>
              <a:t>yawn</a:t>
            </a:r>
            <a:endParaRPr lang="en-US" sz="1150" dirty="0"/>
          </a:p>
        </p:txBody>
      </p:sp>
      <p:sp>
        <p:nvSpPr>
          <p:cNvPr id="51" name="Shape 49"/>
          <p:cNvSpPr/>
          <p:nvPr/>
        </p:nvSpPr>
        <p:spPr>
          <a:xfrm>
            <a:off x="8001000" y="3346704"/>
            <a:ext cx="1216152" cy="475488"/>
          </a:xfrm>
          <a:prstGeom prst="rect">
            <a:avLst/>
          </a:prstGeom>
          <a:solidFill>
            <a:srgbClr val="F3F6F8"/>
          </a:solidFill>
          <a:ln w="9525">
            <a:solidFill>
              <a:srgbClr val="E1E7EA"/>
            </a:solidFill>
            <a:prstDash val="solid"/>
          </a:ln>
        </p:spPr>
      </p:sp>
      <p:sp>
        <p:nvSpPr>
          <p:cNvPr id="52" name="Text 50"/>
          <p:cNvSpPr/>
          <p:nvPr/>
        </p:nvSpPr>
        <p:spPr>
          <a:xfrm>
            <a:off x="8001000" y="3346704"/>
            <a:ext cx="1216152" cy="475488"/>
          </a:xfrm>
          <a:prstGeom prst="rect">
            <a:avLst/>
          </a:prstGeom>
          <a:noFill/>
          <a:ln/>
        </p:spPr>
        <p:txBody>
          <a:bodyPr wrap="square" rtlCol="0" anchor="ctr"/>
          <a:lstStyle/>
          <a:p>
            <a:pPr algn="ctr" indent="0" marL="0">
              <a:buNone/>
            </a:pPr>
            <a:r>
              <a:rPr lang="en-US" sz="1150" dirty="0">
                <a:solidFill>
                  <a:srgbClr val="1B2430"/>
                </a:solidFill>
                <a:latin typeface="Calibri" pitchFamily="34" charset="0"/>
                <a:ea typeface="Calibri" pitchFamily="34" charset="-122"/>
                <a:cs typeface="Calibri" pitchFamily="34" charset="-120"/>
              </a:rPr>
              <a:t>506</a:t>
            </a:r>
            <a:endParaRPr lang="en-US" sz="1150" dirty="0"/>
          </a:p>
        </p:txBody>
      </p:sp>
      <p:sp>
        <p:nvSpPr>
          <p:cNvPr id="53" name="Shape 51"/>
          <p:cNvSpPr/>
          <p:nvPr/>
        </p:nvSpPr>
        <p:spPr>
          <a:xfrm>
            <a:off x="9217152" y="3346704"/>
            <a:ext cx="1216152" cy="475488"/>
          </a:xfrm>
          <a:prstGeom prst="rect">
            <a:avLst/>
          </a:prstGeom>
          <a:solidFill>
            <a:srgbClr val="F3F6F8"/>
          </a:solidFill>
          <a:ln w="9525">
            <a:solidFill>
              <a:srgbClr val="E1E7EA"/>
            </a:solidFill>
            <a:prstDash val="solid"/>
          </a:ln>
        </p:spPr>
      </p:sp>
      <p:sp>
        <p:nvSpPr>
          <p:cNvPr id="54" name="Text 52"/>
          <p:cNvSpPr/>
          <p:nvPr/>
        </p:nvSpPr>
        <p:spPr>
          <a:xfrm>
            <a:off x="9217152" y="3346704"/>
            <a:ext cx="1216152" cy="475488"/>
          </a:xfrm>
          <a:prstGeom prst="rect">
            <a:avLst/>
          </a:prstGeom>
          <a:noFill/>
          <a:ln/>
        </p:spPr>
        <p:txBody>
          <a:bodyPr wrap="square" rtlCol="0" anchor="ctr"/>
          <a:lstStyle/>
          <a:p>
            <a:pPr algn="ctr" indent="0" marL="0">
              <a:buNone/>
            </a:pPr>
            <a:r>
              <a:rPr lang="en-US" sz="1150" dirty="0">
                <a:solidFill>
                  <a:srgbClr val="1B2430"/>
                </a:solidFill>
                <a:latin typeface="Calibri" pitchFamily="34" charset="0"/>
                <a:ea typeface="Calibri" pitchFamily="34" charset="-122"/>
                <a:cs typeface="Calibri" pitchFamily="34" charset="-120"/>
              </a:rPr>
              <a:t>108</a:t>
            </a:r>
            <a:endParaRPr lang="en-US" sz="1150" dirty="0"/>
          </a:p>
        </p:txBody>
      </p:sp>
      <p:sp>
        <p:nvSpPr>
          <p:cNvPr id="55" name="Shape 53"/>
          <p:cNvSpPr/>
          <p:nvPr/>
        </p:nvSpPr>
        <p:spPr>
          <a:xfrm>
            <a:off x="10433304" y="3346704"/>
            <a:ext cx="1225296" cy="475488"/>
          </a:xfrm>
          <a:prstGeom prst="rect">
            <a:avLst/>
          </a:prstGeom>
          <a:solidFill>
            <a:srgbClr val="F3F6F8"/>
          </a:solidFill>
          <a:ln w="9525">
            <a:solidFill>
              <a:srgbClr val="E1E7EA"/>
            </a:solidFill>
            <a:prstDash val="solid"/>
          </a:ln>
        </p:spPr>
      </p:sp>
      <p:sp>
        <p:nvSpPr>
          <p:cNvPr id="56" name="Text 54"/>
          <p:cNvSpPr/>
          <p:nvPr/>
        </p:nvSpPr>
        <p:spPr>
          <a:xfrm>
            <a:off x="10433304" y="3346704"/>
            <a:ext cx="1225296" cy="475488"/>
          </a:xfrm>
          <a:prstGeom prst="rect">
            <a:avLst/>
          </a:prstGeom>
          <a:noFill/>
          <a:ln/>
        </p:spPr>
        <p:txBody>
          <a:bodyPr wrap="square" rtlCol="0" anchor="ctr"/>
          <a:lstStyle/>
          <a:p>
            <a:pPr algn="ctr" indent="0" marL="0">
              <a:buNone/>
            </a:pPr>
            <a:r>
              <a:rPr lang="en-US" sz="1150" dirty="0">
                <a:solidFill>
                  <a:srgbClr val="1B2430"/>
                </a:solidFill>
                <a:latin typeface="Calibri" pitchFamily="34" charset="0"/>
                <a:ea typeface="Calibri" pitchFamily="34" charset="-122"/>
                <a:cs typeface="Calibri" pitchFamily="34" charset="-120"/>
              </a:rPr>
              <a:t>109</a:t>
            </a:r>
            <a:endParaRPr lang="en-US" sz="1150" dirty="0"/>
          </a:p>
        </p:txBody>
      </p:sp>
      <p:sp>
        <p:nvSpPr>
          <p:cNvPr id="57" name="Shape 55"/>
          <p:cNvSpPr/>
          <p:nvPr/>
        </p:nvSpPr>
        <p:spPr>
          <a:xfrm>
            <a:off x="6263640" y="3822192"/>
            <a:ext cx="1737360" cy="475488"/>
          </a:xfrm>
          <a:prstGeom prst="rect">
            <a:avLst/>
          </a:prstGeom>
          <a:solidFill>
            <a:srgbClr val="FFFFFF"/>
          </a:solidFill>
          <a:ln w="9525">
            <a:solidFill>
              <a:srgbClr val="E1E7EA"/>
            </a:solidFill>
            <a:prstDash val="solid"/>
          </a:ln>
        </p:spPr>
      </p:sp>
      <p:sp>
        <p:nvSpPr>
          <p:cNvPr id="58" name="Text 56"/>
          <p:cNvSpPr/>
          <p:nvPr/>
        </p:nvSpPr>
        <p:spPr>
          <a:xfrm>
            <a:off x="6400800" y="3822192"/>
            <a:ext cx="1600200" cy="475488"/>
          </a:xfrm>
          <a:prstGeom prst="rect">
            <a:avLst/>
          </a:prstGeom>
          <a:noFill/>
          <a:ln/>
        </p:spPr>
        <p:txBody>
          <a:bodyPr wrap="square" rtlCol="0" anchor="ctr"/>
          <a:lstStyle/>
          <a:p>
            <a:pPr algn="l" indent="0" marL="0">
              <a:buNone/>
            </a:pPr>
            <a:r>
              <a:rPr lang="en-US" sz="1150" dirty="0">
                <a:solidFill>
                  <a:srgbClr val="1B2430"/>
                </a:solidFill>
                <a:latin typeface="Calibri" pitchFamily="34" charset="0"/>
                <a:ea typeface="Calibri" pitchFamily="34" charset="-122"/>
                <a:cs typeface="Calibri" pitchFamily="34" charset="-120"/>
              </a:rPr>
              <a:t>no_yawn</a:t>
            </a:r>
            <a:endParaRPr lang="en-US" sz="1150" dirty="0"/>
          </a:p>
        </p:txBody>
      </p:sp>
      <p:sp>
        <p:nvSpPr>
          <p:cNvPr id="59" name="Shape 57"/>
          <p:cNvSpPr/>
          <p:nvPr/>
        </p:nvSpPr>
        <p:spPr>
          <a:xfrm>
            <a:off x="8001000" y="3822192"/>
            <a:ext cx="1216152" cy="475488"/>
          </a:xfrm>
          <a:prstGeom prst="rect">
            <a:avLst/>
          </a:prstGeom>
          <a:solidFill>
            <a:srgbClr val="FFFFFF"/>
          </a:solidFill>
          <a:ln w="9525">
            <a:solidFill>
              <a:srgbClr val="E1E7EA"/>
            </a:solidFill>
            <a:prstDash val="solid"/>
          </a:ln>
        </p:spPr>
      </p:sp>
      <p:sp>
        <p:nvSpPr>
          <p:cNvPr id="60" name="Text 58"/>
          <p:cNvSpPr/>
          <p:nvPr/>
        </p:nvSpPr>
        <p:spPr>
          <a:xfrm>
            <a:off x="8001000" y="3822192"/>
            <a:ext cx="1216152" cy="475488"/>
          </a:xfrm>
          <a:prstGeom prst="rect">
            <a:avLst/>
          </a:prstGeom>
          <a:noFill/>
          <a:ln/>
        </p:spPr>
        <p:txBody>
          <a:bodyPr wrap="square" rtlCol="0" anchor="ctr"/>
          <a:lstStyle/>
          <a:p>
            <a:pPr algn="ctr" indent="0" marL="0">
              <a:buNone/>
            </a:pPr>
            <a:r>
              <a:rPr lang="en-US" sz="1150" dirty="0">
                <a:solidFill>
                  <a:srgbClr val="1B2430"/>
                </a:solidFill>
                <a:latin typeface="Calibri" pitchFamily="34" charset="0"/>
                <a:ea typeface="Calibri" pitchFamily="34" charset="-122"/>
                <a:cs typeface="Calibri" pitchFamily="34" charset="-120"/>
              </a:rPr>
              <a:t>507</a:t>
            </a:r>
            <a:endParaRPr lang="en-US" sz="1150" dirty="0"/>
          </a:p>
        </p:txBody>
      </p:sp>
      <p:sp>
        <p:nvSpPr>
          <p:cNvPr id="61" name="Shape 59"/>
          <p:cNvSpPr/>
          <p:nvPr/>
        </p:nvSpPr>
        <p:spPr>
          <a:xfrm>
            <a:off x="9217152" y="3822192"/>
            <a:ext cx="1216152" cy="475488"/>
          </a:xfrm>
          <a:prstGeom prst="rect">
            <a:avLst/>
          </a:prstGeom>
          <a:solidFill>
            <a:srgbClr val="FFFFFF"/>
          </a:solidFill>
          <a:ln w="9525">
            <a:solidFill>
              <a:srgbClr val="E1E7EA"/>
            </a:solidFill>
            <a:prstDash val="solid"/>
          </a:ln>
        </p:spPr>
      </p:sp>
      <p:sp>
        <p:nvSpPr>
          <p:cNvPr id="62" name="Text 60"/>
          <p:cNvSpPr/>
          <p:nvPr/>
        </p:nvSpPr>
        <p:spPr>
          <a:xfrm>
            <a:off x="9217152" y="3822192"/>
            <a:ext cx="1216152" cy="475488"/>
          </a:xfrm>
          <a:prstGeom prst="rect">
            <a:avLst/>
          </a:prstGeom>
          <a:noFill/>
          <a:ln/>
        </p:spPr>
        <p:txBody>
          <a:bodyPr wrap="square" rtlCol="0" anchor="ctr"/>
          <a:lstStyle/>
          <a:p>
            <a:pPr algn="ctr" indent="0" marL="0">
              <a:buNone/>
            </a:pPr>
            <a:r>
              <a:rPr lang="en-US" sz="1150" dirty="0">
                <a:solidFill>
                  <a:srgbClr val="1B2430"/>
                </a:solidFill>
                <a:latin typeface="Calibri" pitchFamily="34" charset="0"/>
                <a:ea typeface="Calibri" pitchFamily="34" charset="-122"/>
                <a:cs typeface="Calibri" pitchFamily="34" charset="-120"/>
              </a:rPr>
              <a:t>109</a:t>
            </a:r>
            <a:endParaRPr lang="en-US" sz="1150" dirty="0"/>
          </a:p>
        </p:txBody>
      </p:sp>
      <p:sp>
        <p:nvSpPr>
          <p:cNvPr id="63" name="Shape 61"/>
          <p:cNvSpPr/>
          <p:nvPr/>
        </p:nvSpPr>
        <p:spPr>
          <a:xfrm>
            <a:off x="10433304" y="3822192"/>
            <a:ext cx="1225296" cy="475488"/>
          </a:xfrm>
          <a:prstGeom prst="rect">
            <a:avLst/>
          </a:prstGeom>
          <a:solidFill>
            <a:srgbClr val="FFFFFF"/>
          </a:solidFill>
          <a:ln w="9525">
            <a:solidFill>
              <a:srgbClr val="E1E7EA"/>
            </a:solidFill>
            <a:prstDash val="solid"/>
          </a:ln>
        </p:spPr>
      </p:sp>
      <p:sp>
        <p:nvSpPr>
          <p:cNvPr id="64" name="Text 62"/>
          <p:cNvSpPr/>
          <p:nvPr/>
        </p:nvSpPr>
        <p:spPr>
          <a:xfrm>
            <a:off x="10433304" y="3822192"/>
            <a:ext cx="1225296" cy="475488"/>
          </a:xfrm>
          <a:prstGeom prst="rect">
            <a:avLst/>
          </a:prstGeom>
          <a:noFill/>
          <a:ln/>
        </p:spPr>
        <p:txBody>
          <a:bodyPr wrap="square" rtlCol="0" anchor="ctr"/>
          <a:lstStyle/>
          <a:p>
            <a:pPr algn="ctr" indent="0" marL="0">
              <a:buNone/>
            </a:pPr>
            <a:r>
              <a:rPr lang="en-US" sz="1150" dirty="0">
                <a:solidFill>
                  <a:srgbClr val="1B2430"/>
                </a:solidFill>
                <a:latin typeface="Calibri" pitchFamily="34" charset="0"/>
                <a:ea typeface="Calibri" pitchFamily="34" charset="-122"/>
                <a:cs typeface="Calibri" pitchFamily="34" charset="-120"/>
              </a:rPr>
              <a:t>109</a:t>
            </a:r>
            <a:endParaRPr lang="en-US" sz="1150" dirty="0"/>
          </a:p>
        </p:txBody>
      </p:sp>
      <p:sp>
        <p:nvSpPr>
          <p:cNvPr id="65" name="Shape 63"/>
          <p:cNvSpPr/>
          <p:nvPr/>
        </p:nvSpPr>
        <p:spPr>
          <a:xfrm>
            <a:off x="6263640" y="4297680"/>
            <a:ext cx="1737360" cy="475488"/>
          </a:xfrm>
          <a:prstGeom prst="rect">
            <a:avLst/>
          </a:prstGeom>
          <a:solidFill>
            <a:srgbClr val="F3F6F8"/>
          </a:solidFill>
          <a:ln w="9525">
            <a:solidFill>
              <a:srgbClr val="E1E7EA"/>
            </a:solidFill>
            <a:prstDash val="solid"/>
          </a:ln>
        </p:spPr>
      </p:sp>
      <p:sp>
        <p:nvSpPr>
          <p:cNvPr id="66" name="Text 64"/>
          <p:cNvSpPr/>
          <p:nvPr/>
        </p:nvSpPr>
        <p:spPr>
          <a:xfrm>
            <a:off x="6400800" y="4297680"/>
            <a:ext cx="1600200" cy="475488"/>
          </a:xfrm>
          <a:prstGeom prst="rect">
            <a:avLst/>
          </a:prstGeom>
          <a:noFill/>
          <a:ln/>
        </p:spPr>
        <p:txBody>
          <a:bodyPr wrap="square" rtlCol="0" anchor="ctr"/>
          <a:lstStyle/>
          <a:p>
            <a:pPr algn="l" indent="0" marL="0">
              <a:buNone/>
            </a:pPr>
            <a:r>
              <a:rPr lang="en-US" sz="1150" b="1" dirty="0">
                <a:solidFill>
                  <a:srgbClr val="1B2430"/>
                </a:solidFill>
                <a:latin typeface="Calibri" pitchFamily="34" charset="0"/>
                <a:ea typeface="Calibri" pitchFamily="34" charset="-122"/>
                <a:cs typeface="Calibri" pitchFamily="34" charset="-120"/>
              </a:rPr>
              <a:t>Total</a:t>
            </a:r>
            <a:endParaRPr lang="en-US" sz="1150" dirty="0"/>
          </a:p>
        </p:txBody>
      </p:sp>
      <p:sp>
        <p:nvSpPr>
          <p:cNvPr id="67" name="Shape 65"/>
          <p:cNvSpPr/>
          <p:nvPr/>
        </p:nvSpPr>
        <p:spPr>
          <a:xfrm>
            <a:off x="8001000" y="4297680"/>
            <a:ext cx="1216152" cy="475488"/>
          </a:xfrm>
          <a:prstGeom prst="rect">
            <a:avLst/>
          </a:prstGeom>
          <a:solidFill>
            <a:srgbClr val="F3F6F8"/>
          </a:solidFill>
          <a:ln w="9525">
            <a:solidFill>
              <a:srgbClr val="E1E7EA"/>
            </a:solidFill>
            <a:prstDash val="solid"/>
          </a:ln>
        </p:spPr>
      </p:sp>
      <p:sp>
        <p:nvSpPr>
          <p:cNvPr id="68" name="Text 66"/>
          <p:cNvSpPr/>
          <p:nvPr/>
        </p:nvSpPr>
        <p:spPr>
          <a:xfrm>
            <a:off x="8001000" y="4297680"/>
            <a:ext cx="1216152" cy="475488"/>
          </a:xfrm>
          <a:prstGeom prst="rect">
            <a:avLst/>
          </a:prstGeom>
          <a:noFill/>
          <a:ln/>
        </p:spPr>
        <p:txBody>
          <a:bodyPr wrap="square" rtlCol="0" anchor="ctr"/>
          <a:lstStyle/>
          <a:p>
            <a:pPr algn="ctr" indent="0" marL="0">
              <a:buNone/>
            </a:pPr>
            <a:r>
              <a:rPr lang="en-US" sz="1150" b="1" dirty="0">
                <a:solidFill>
                  <a:srgbClr val="1B2430"/>
                </a:solidFill>
                <a:latin typeface="Calibri" pitchFamily="34" charset="0"/>
                <a:ea typeface="Calibri" pitchFamily="34" charset="-122"/>
                <a:cs typeface="Calibri" pitchFamily="34" charset="-120"/>
              </a:rPr>
              <a:t>2,029</a:t>
            </a:r>
            <a:endParaRPr lang="en-US" sz="1150" dirty="0"/>
          </a:p>
        </p:txBody>
      </p:sp>
      <p:sp>
        <p:nvSpPr>
          <p:cNvPr id="69" name="Shape 67"/>
          <p:cNvSpPr/>
          <p:nvPr/>
        </p:nvSpPr>
        <p:spPr>
          <a:xfrm>
            <a:off x="9217152" y="4297680"/>
            <a:ext cx="1216152" cy="475488"/>
          </a:xfrm>
          <a:prstGeom prst="rect">
            <a:avLst/>
          </a:prstGeom>
          <a:solidFill>
            <a:srgbClr val="F3F6F8"/>
          </a:solidFill>
          <a:ln w="9525">
            <a:solidFill>
              <a:srgbClr val="E1E7EA"/>
            </a:solidFill>
            <a:prstDash val="solid"/>
          </a:ln>
        </p:spPr>
      </p:sp>
      <p:sp>
        <p:nvSpPr>
          <p:cNvPr id="70" name="Text 68"/>
          <p:cNvSpPr/>
          <p:nvPr/>
        </p:nvSpPr>
        <p:spPr>
          <a:xfrm>
            <a:off x="9217152" y="4297680"/>
            <a:ext cx="1216152" cy="475488"/>
          </a:xfrm>
          <a:prstGeom prst="rect">
            <a:avLst/>
          </a:prstGeom>
          <a:noFill/>
          <a:ln/>
        </p:spPr>
        <p:txBody>
          <a:bodyPr wrap="square" rtlCol="0" anchor="ctr"/>
          <a:lstStyle/>
          <a:p>
            <a:pPr algn="ctr" indent="0" marL="0">
              <a:buNone/>
            </a:pPr>
            <a:r>
              <a:rPr lang="en-US" sz="1150" b="1" dirty="0">
                <a:solidFill>
                  <a:srgbClr val="1B2430"/>
                </a:solidFill>
                <a:latin typeface="Calibri" pitchFamily="34" charset="0"/>
                <a:ea typeface="Calibri" pitchFamily="34" charset="-122"/>
                <a:cs typeface="Calibri" pitchFamily="34" charset="-120"/>
              </a:rPr>
              <a:t>435</a:t>
            </a:r>
            <a:endParaRPr lang="en-US" sz="1150" dirty="0"/>
          </a:p>
        </p:txBody>
      </p:sp>
      <p:sp>
        <p:nvSpPr>
          <p:cNvPr id="71" name="Shape 69"/>
          <p:cNvSpPr/>
          <p:nvPr/>
        </p:nvSpPr>
        <p:spPr>
          <a:xfrm>
            <a:off x="10433304" y="4297680"/>
            <a:ext cx="1225296" cy="475488"/>
          </a:xfrm>
          <a:prstGeom prst="rect">
            <a:avLst/>
          </a:prstGeom>
          <a:solidFill>
            <a:srgbClr val="F3F6F8"/>
          </a:solidFill>
          <a:ln w="9525">
            <a:solidFill>
              <a:srgbClr val="E1E7EA"/>
            </a:solidFill>
            <a:prstDash val="solid"/>
          </a:ln>
        </p:spPr>
      </p:sp>
      <p:sp>
        <p:nvSpPr>
          <p:cNvPr id="72" name="Text 70"/>
          <p:cNvSpPr/>
          <p:nvPr/>
        </p:nvSpPr>
        <p:spPr>
          <a:xfrm>
            <a:off x="10433304" y="4297680"/>
            <a:ext cx="1225296" cy="475488"/>
          </a:xfrm>
          <a:prstGeom prst="rect">
            <a:avLst/>
          </a:prstGeom>
          <a:noFill/>
          <a:ln/>
        </p:spPr>
        <p:txBody>
          <a:bodyPr wrap="square" rtlCol="0" anchor="ctr"/>
          <a:lstStyle/>
          <a:p>
            <a:pPr algn="ctr" indent="0" marL="0">
              <a:buNone/>
            </a:pPr>
            <a:r>
              <a:rPr lang="en-US" sz="1150" b="1" dirty="0">
                <a:solidFill>
                  <a:srgbClr val="1B2430"/>
                </a:solidFill>
                <a:latin typeface="Calibri" pitchFamily="34" charset="0"/>
                <a:ea typeface="Calibri" pitchFamily="34" charset="-122"/>
                <a:cs typeface="Calibri" pitchFamily="34" charset="-120"/>
              </a:rPr>
              <a:t>436</a:t>
            </a:r>
            <a:endParaRPr lang="en-US" sz="1150" dirty="0"/>
          </a:p>
        </p:txBody>
      </p:sp>
      <p:sp>
        <p:nvSpPr>
          <p:cNvPr id="73" name="Text 71"/>
          <p:cNvSpPr/>
          <p:nvPr/>
        </p:nvSpPr>
        <p:spPr>
          <a:xfrm>
            <a:off x="6263640" y="5001768"/>
            <a:ext cx="5394960" cy="457200"/>
          </a:xfrm>
          <a:prstGeom prst="rect">
            <a:avLst/>
          </a:prstGeom>
          <a:noFill/>
          <a:ln/>
        </p:spPr>
        <p:txBody>
          <a:bodyPr wrap="square" rtlCol="0" anchor="ctr"/>
          <a:lstStyle/>
          <a:p>
            <a:pPr indent="0" marL="0">
              <a:buNone/>
            </a:pPr>
            <a:r>
              <a:rPr lang="en-US" sz="1050" i="1" dirty="0">
                <a:solidFill>
                  <a:srgbClr val="5C6773"/>
                </a:solidFill>
                <a:latin typeface="Calibri" pitchFamily="34" charset="0"/>
                <a:ea typeface="Calibri" pitchFamily="34" charset="-122"/>
                <a:cs typeface="Calibri" pitchFamily="34" charset="-120"/>
              </a:rPr>
              <a:t>Split performed per class with train_test_split (seed=42) to preserve class balance across all three sets.</a:t>
            </a:r>
            <a:endParaRPr lang="en-US" sz="1050" dirty="0"/>
          </a:p>
        </p:txBody>
      </p:sp>
      <p:sp>
        <p:nvSpPr>
          <p:cNvPr id="74" name="Text 72"/>
          <p:cNvSpPr/>
          <p:nvPr/>
        </p:nvSpPr>
        <p:spPr>
          <a:xfrm>
            <a:off x="457200" y="6492240"/>
            <a:ext cx="6400800" cy="274320"/>
          </a:xfrm>
          <a:prstGeom prst="rect">
            <a:avLst/>
          </a:prstGeom>
          <a:noFill/>
          <a:ln/>
        </p:spPr>
        <p:txBody>
          <a:bodyPr wrap="square" rtlCol="0" anchor="ctr"/>
          <a:lstStyle/>
          <a:p>
            <a:pPr algn="l" indent="0" marL="0">
              <a:buNone/>
            </a:pPr>
            <a:r>
              <a:rPr lang="en-US" sz="900" dirty="0">
                <a:solidFill>
                  <a:srgbClr val="5C6773"/>
                </a:solidFill>
                <a:latin typeface="Calibri" pitchFamily="34" charset="0"/>
                <a:ea typeface="Calibri" pitchFamily="34" charset="-122"/>
                <a:cs typeface="Calibri" pitchFamily="34" charset="-120"/>
              </a:rPr>
              <a:t>Driver Drowsiness Detection</a:t>
            </a:r>
            <a:endParaRPr lang="en-US" sz="900" dirty="0"/>
          </a:p>
        </p:txBody>
      </p:sp>
      <p:sp>
        <p:nvSpPr>
          <p:cNvPr id="75" name="Text 73"/>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C6773"/>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indent="0" marL="0">
              <a:buNone/>
            </a:pPr>
            <a:r>
              <a:rPr lang="en-US" sz="2900" b="1" dirty="0">
                <a:solidFill>
                  <a:srgbClr val="1B2430"/>
                </a:solidFill>
                <a:latin typeface="Cambria" pitchFamily="34" charset="0"/>
                <a:ea typeface="Cambria" pitchFamily="34" charset="-122"/>
                <a:cs typeface="Cambria" pitchFamily="34" charset="-120"/>
              </a:rPr>
              <a:t>Data Preprocessing &amp; Augmentation</a:t>
            </a:r>
            <a:endParaRPr lang="en-US" sz="2900" dirty="0"/>
          </a:p>
        </p:txBody>
      </p:sp>
      <p:sp>
        <p:nvSpPr>
          <p:cNvPr id="3" name="Text 1"/>
          <p:cNvSpPr/>
          <p:nvPr/>
        </p:nvSpPr>
        <p:spPr>
          <a:xfrm>
            <a:off x="548640" y="960120"/>
            <a:ext cx="11064240" cy="365760"/>
          </a:xfrm>
          <a:prstGeom prst="rect">
            <a:avLst/>
          </a:prstGeom>
          <a:noFill/>
          <a:ln/>
        </p:spPr>
        <p:txBody>
          <a:bodyPr wrap="square" rtlCol="0" anchor="ctr"/>
          <a:lstStyle/>
          <a:p>
            <a:pPr indent="0" marL="0">
              <a:buNone/>
            </a:pPr>
            <a:r>
              <a:rPr lang="en-US" sz="1300" dirty="0">
                <a:solidFill>
                  <a:srgbClr val="5C6773"/>
                </a:solidFill>
                <a:latin typeface="Calibri" pitchFamily="34" charset="0"/>
                <a:ea typeface="Calibri" pitchFamily="34" charset="-122"/>
                <a:cs typeface="Calibri" pitchFamily="34" charset="-120"/>
              </a:rPr>
              <a:t>Preparing images for consistent, robust model input</a:t>
            </a:r>
            <a:endParaRPr lang="en-US" sz="1300" dirty="0"/>
          </a:p>
        </p:txBody>
      </p:sp>
      <p:sp>
        <p:nvSpPr>
          <p:cNvPr id="4" name="Shape 2"/>
          <p:cNvSpPr/>
          <p:nvPr/>
        </p:nvSpPr>
        <p:spPr>
          <a:xfrm>
            <a:off x="548640" y="1691640"/>
            <a:ext cx="3611880" cy="2148840"/>
          </a:xfrm>
          <a:prstGeom prst="roundRect">
            <a:avLst>
              <a:gd name="adj" fmla="val 2979"/>
            </a:avLst>
          </a:prstGeom>
          <a:solidFill>
            <a:srgbClr val="F3F6F8"/>
          </a:solidFill>
          <a:ln/>
        </p:spPr>
      </p:sp>
      <p:sp>
        <p:nvSpPr>
          <p:cNvPr id="5" name="Shape 3"/>
          <p:cNvSpPr/>
          <p:nvPr/>
        </p:nvSpPr>
        <p:spPr>
          <a:xfrm>
            <a:off x="749808" y="1892808"/>
            <a:ext cx="384048" cy="73152"/>
          </a:xfrm>
          <a:prstGeom prst="roundRect">
            <a:avLst/>
          </a:prstGeom>
          <a:solidFill>
            <a:srgbClr val="2E86AB"/>
          </a:solidFill>
          <a:ln/>
        </p:spPr>
      </p:sp>
      <p:sp>
        <p:nvSpPr>
          <p:cNvPr id="6" name="Text 4"/>
          <p:cNvSpPr/>
          <p:nvPr/>
        </p:nvSpPr>
        <p:spPr>
          <a:xfrm>
            <a:off x="749808" y="2075688"/>
            <a:ext cx="3209544" cy="457200"/>
          </a:xfrm>
          <a:prstGeom prst="rect">
            <a:avLst/>
          </a:prstGeom>
          <a:noFill/>
          <a:ln/>
        </p:spPr>
        <p:txBody>
          <a:bodyPr wrap="square" rtlCol="0" anchor="t"/>
          <a:lstStyle/>
          <a:p>
            <a:pPr indent="0" marL="0">
              <a:buNone/>
            </a:pPr>
            <a:r>
              <a:rPr lang="en-US" sz="1350" b="1" dirty="0">
                <a:solidFill>
                  <a:srgbClr val="1B2430"/>
                </a:solidFill>
                <a:latin typeface="Cambria" pitchFamily="34" charset="0"/>
                <a:ea typeface="Cambria" pitchFamily="34" charset="-122"/>
                <a:cs typeface="Cambria" pitchFamily="34" charset="-120"/>
              </a:rPr>
              <a:t>Resize</a:t>
            </a:r>
            <a:endParaRPr lang="en-US" sz="1350" dirty="0"/>
          </a:p>
        </p:txBody>
      </p:sp>
      <p:sp>
        <p:nvSpPr>
          <p:cNvPr id="7" name="Text 5"/>
          <p:cNvSpPr/>
          <p:nvPr/>
        </p:nvSpPr>
        <p:spPr>
          <a:xfrm>
            <a:off x="749808" y="2560320"/>
            <a:ext cx="3209544" cy="1097280"/>
          </a:xfrm>
          <a:prstGeom prst="rect">
            <a:avLst/>
          </a:prstGeom>
          <a:noFill/>
          <a:ln/>
        </p:spPr>
        <p:txBody>
          <a:bodyPr wrap="square" rtlCol="0" anchor="t"/>
          <a:lstStyle/>
          <a:p>
            <a:pPr indent="0" marL="0">
              <a:lnSpc>
                <a:spcPct val="115000"/>
              </a:lnSpc>
              <a:buNone/>
            </a:pPr>
            <a:r>
              <a:rPr lang="en-US" sz="1080" dirty="0">
                <a:solidFill>
                  <a:srgbClr val="5C6773"/>
                </a:solidFill>
                <a:latin typeface="Calibri" pitchFamily="34" charset="0"/>
                <a:ea typeface="Calibri" pitchFamily="34" charset="-122"/>
                <a:cs typeface="Calibri" pitchFamily="34" charset="-120"/>
              </a:rPr>
              <a:t>All images resized to 224 × 224 to match MobileNetV2's expected input shape.</a:t>
            </a:r>
            <a:endParaRPr lang="en-US" sz="1080" dirty="0"/>
          </a:p>
        </p:txBody>
      </p:sp>
      <p:sp>
        <p:nvSpPr>
          <p:cNvPr id="8" name="Shape 6"/>
          <p:cNvSpPr/>
          <p:nvPr/>
        </p:nvSpPr>
        <p:spPr>
          <a:xfrm>
            <a:off x="4379976" y="1691640"/>
            <a:ext cx="3611880" cy="2148840"/>
          </a:xfrm>
          <a:prstGeom prst="roundRect">
            <a:avLst>
              <a:gd name="adj" fmla="val 2979"/>
            </a:avLst>
          </a:prstGeom>
          <a:solidFill>
            <a:srgbClr val="F3F6F8"/>
          </a:solidFill>
          <a:ln/>
        </p:spPr>
      </p:sp>
      <p:sp>
        <p:nvSpPr>
          <p:cNvPr id="9" name="Shape 7"/>
          <p:cNvSpPr/>
          <p:nvPr/>
        </p:nvSpPr>
        <p:spPr>
          <a:xfrm>
            <a:off x="4581144" y="1892808"/>
            <a:ext cx="384048" cy="73152"/>
          </a:xfrm>
          <a:prstGeom prst="roundRect">
            <a:avLst/>
          </a:prstGeom>
          <a:solidFill>
            <a:srgbClr val="2E86AB"/>
          </a:solidFill>
          <a:ln/>
        </p:spPr>
      </p:sp>
      <p:sp>
        <p:nvSpPr>
          <p:cNvPr id="10" name="Text 8"/>
          <p:cNvSpPr/>
          <p:nvPr/>
        </p:nvSpPr>
        <p:spPr>
          <a:xfrm>
            <a:off x="4581144" y="2075688"/>
            <a:ext cx="3209544" cy="457200"/>
          </a:xfrm>
          <a:prstGeom prst="rect">
            <a:avLst/>
          </a:prstGeom>
          <a:noFill/>
          <a:ln/>
        </p:spPr>
        <p:txBody>
          <a:bodyPr wrap="square" rtlCol="0" anchor="t"/>
          <a:lstStyle/>
          <a:p>
            <a:pPr indent="0" marL="0">
              <a:buNone/>
            </a:pPr>
            <a:r>
              <a:rPr lang="en-US" sz="1350" b="1" dirty="0">
                <a:solidFill>
                  <a:srgbClr val="1B2430"/>
                </a:solidFill>
                <a:latin typeface="Cambria" pitchFamily="34" charset="0"/>
                <a:ea typeface="Cambria" pitchFamily="34" charset="-122"/>
                <a:cs typeface="Cambria" pitchFamily="34" charset="-120"/>
              </a:rPr>
              <a:t>Normalization</a:t>
            </a:r>
            <a:endParaRPr lang="en-US" sz="1350" dirty="0"/>
          </a:p>
        </p:txBody>
      </p:sp>
      <p:sp>
        <p:nvSpPr>
          <p:cNvPr id="11" name="Text 9"/>
          <p:cNvSpPr/>
          <p:nvPr/>
        </p:nvSpPr>
        <p:spPr>
          <a:xfrm>
            <a:off x="4581144" y="2560320"/>
            <a:ext cx="3209544" cy="1097280"/>
          </a:xfrm>
          <a:prstGeom prst="rect">
            <a:avLst/>
          </a:prstGeom>
          <a:noFill/>
          <a:ln/>
        </p:spPr>
        <p:txBody>
          <a:bodyPr wrap="square" rtlCol="0" anchor="t"/>
          <a:lstStyle/>
          <a:p>
            <a:pPr indent="0" marL="0">
              <a:lnSpc>
                <a:spcPct val="115000"/>
              </a:lnSpc>
              <a:buNone/>
            </a:pPr>
            <a:r>
              <a:rPr lang="en-US" sz="1080" dirty="0">
                <a:solidFill>
                  <a:srgbClr val="5C6773"/>
                </a:solidFill>
                <a:latin typeface="Calibri" pitchFamily="34" charset="0"/>
                <a:ea typeface="Calibri" pitchFamily="34" charset="-122"/>
                <a:cs typeface="Calibri" pitchFamily="34" charset="-120"/>
              </a:rPr>
              <a:t>Custom CNN: pixel values rescaled to 0–1. MobileNetV2: model-specific preprocess_input applied.</a:t>
            </a:r>
            <a:endParaRPr lang="en-US" sz="1080" dirty="0"/>
          </a:p>
        </p:txBody>
      </p:sp>
      <p:sp>
        <p:nvSpPr>
          <p:cNvPr id="12" name="Shape 10"/>
          <p:cNvSpPr/>
          <p:nvPr/>
        </p:nvSpPr>
        <p:spPr>
          <a:xfrm>
            <a:off x="8211312" y="1691640"/>
            <a:ext cx="3611880" cy="2148840"/>
          </a:xfrm>
          <a:prstGeom prst="roundRect">
            <a:avLst>
              <a:gd name="adj" fmla="val 2979"/>
            </a:avLst>
          </a:prstGeom>
          <a:solidFill>
            <a:srgbClr val="F3F6F8"/>
          </a:solidFill>
          <a:ln/>
        </p:spPr>
      </p:sp>
      <p:sp>
        <p:nvSpPr>
          <p:cNvPr id="13" name="Shape 11"/>
          <p:cNvSpPr/>
          <p:nvPr/>
        </p:nvSpPr>
        <p:spPr>
          <a:xfrm>
            <a:off x="8412480" y="1892808"/>
            <a:ext cx="384048" cy="73152"/>
          </a:xfrm>
          <a:prstGeom prst="roundRect">
            <a:avLst/>
          </a:prstGeom>
          <a:solidFill>
            <a:srgbClr val="2E86AB"/>
          </a:solidFill>
          <a:ln/>
        </p:spPr>
      </p:sp>
      <p:sp>
        <p:nvSpPr>
          <p:cNvPr id="14" name="Text 12"/>
          <p:cNvSpPr/>
          <p:nvPr/>
        </p:nvSpPr>
        <p:spPr>
          <a:xfrm>
            <a:off x="8412480" y="2075688"/>
            <a:ext cx="3209544" cy="457200"/>
          </a:xfrm>
          <a:prstGeom prst="rect">
            <a:avLst/>
          </a:prstGeom>
          <a:noFill/>
          <a:ln/>
        </p:spPr>
        <p:txBody>
          <a:bodyPr wrap="square" rtlCol="0" anchor="t"/>
          <a:lstStyle/>
          <a:p>
            <a:pPr indent="0" marL="0">
              <a:buNone/>
            </a:pPr>
            <a:r>
              <a:rPr lang="en-US" sz="1350" b="1" dirty="0">
                <a:solidFill>
                  <a:srgbClr val="1B2430"/>
                </a:solidFill>
                <a:latin typeface="Cambria" pitchFamily="34" charset="0"/>
                <a:ea typeface="Cambria" pitchFamily="34" charset="-122"/>
                <a:cs typeface="Cambria" pitchFamily="34" charset="-120"/>
              </a:rPr>
              <a:t>Random Rotation</a:t>
            </a:r>
            <a:endParaRPr lang="en-US" sz="1350" dirty="0"/>
          </a:p>
        </p:txBody>
      </p:sp>
      <p:sp>
        <p:nvSpPr>
          <p:cNvPr id="15" name="Text 13"/>
          <p:cNvSpPr/>
          <p:nvPr/>
        </p:nvSpPr>
        <p:spPr>
          <a:xfrm>
            <a:off x="8412480" y="2560320"/>
            <a:ext cx="3209544" cy="1097280"/>
          </a:xfrm>
          <a:prstGeom prst="rect">
            <a:avLst/>
          </a:prstGeom>
          <a:noFill/>
          <a:ln/>
        </p:spPr>
        <p:txBody>
          <a:bodyPr wrap="square" rtlCol="0" anchor="t"/>
          <a:lstStyle/>
          <a:p>
            <a:pPr indent="0" marL="0">
              <a:lnSpc>
                <a:spcPct val="115000"/>
              </a:lnSpc>
              <a:buNone/>
            </a:pPr>
            <a:r>
              <a:rPr lang="en-US" sz="1080" dirty="0">
                <a:solidFill>
                  <a:srgbClr val="5C6773"/>
                </a:solidFill>
                <a:latin typeface="Calibri" pitchFamily="34" charset="0"/>
                <a:ea typeface="Calibri" pitchFamily="34" charset="-122"/>
                <a:cs typeface="Calibri" pitchFamily="34" charset="-120"/>
              </a:rPr>
              <a:t>±10% rotation applied during training for pose invariance.</a:t>
            </a:r>
            <a:endParaRPr lang="en-US" sz="1080" dirty="0"/>
          </a:p>
        </p:txBody>
      </p:sp>
      <p:sp>
        <p:nvSpPr>
          <p:cNvPr id="16" name="Shape 14"/>
          <p:cNvSpPr/>
          <p:nvPr/>
        </p:nvSpPr>
        <p:spPr>
          <a:xfrm>
            <a:off x="548640" y="4096512"/>
            <a:ext cx="3611880" cy="2148840"/>
          </a:xfrm>
          <a:prstGeom prst="roundRect">
            <a:avLst>
              <a:gd name="adj" fmla="val 2979"/>
            </a:avLst>
          </a:prstGeom>
          <a:solidFill>
            <a:srgbClr val="F3F6F8"/>
          </a:solidFill>
          <a:ln/>
        </p:spPr>
      </p:sp>
      <p:sp>
        <p:nvSpPr>
          <p:cNvPr id="17" name="Shape 15"/>
          <p:cNvSpPr/>
          <p:nvPr/>
        </p:nvSpPr>
        <p:spPr>
          <a:xfrm>
            <a:off x="749808" y="4297680"/>
            <a:ext cx="384048" cy="73152"/>
          </a:xfrm>
          <a:prstGeom prst="roundRect">
            <a:avLst/>
          </a:prstGeom>
          <a:solidFill>
            <a:srgbClr val="2E86AB"/>
          </a:solidFill>
          <a:ln/>
        </p:spPr>
      </p:sp>
      <p:sp>
        <p:nvSpPr>
          <p:cNvPr id="18" name="Text 16"/>
          <p:cNvSpPr/>
          <p:nvPr/>
        </p:nvSpPr>
        <p:spPr>
          <a:xfrm>
            <a:off x="749808" y="4480560"/>
            <a:ext cx="3209544" cy="457200"/>
          </a:xfrm>
          <a:prstGeom prst="rect">
            <a:avLst/>
          </a:prstGeom>
          <a:noFill/>
          <a:ln/>
        </p:spPr>
        <p:txBody>
          <a:bodyPr wrap="square" rtlCol="0" anchor="t"/>
          <a:lstStyle/>
          <a:p>
            <a:pPr indent="0" marL="0">
              <a:buNone/>
            </a:pPr>
            <a:r>
              <a:rPr lang="en-US" sz="1350" b="1" dirty="0">
                <a:solidFill>
                  <a:srgbClr val="1B2430"/>
                </a:solidFill>
                <a:latin typeface="Cambria" pitchFamily="34" charset="0"/>
                <a:ea typeface="Cambria" pitchFamily="34" charset="-122"/>
                <a:cs typeface="Cambria" pitchFamily="34" charset="-120"/>
              </a:rPr>
              <a:t>Random Zoom</a:t>
            </a:r>
            <a:endParaRPr lang="en-US" sz="1350" dirty="0"/>
          </a:p>
        </p:txBody>
      </p:sp>
      <p:sp>
        <p:nvSpPr>
          <p:cNvPr id="19" name="Text 17"/>
          <p:cNvSpPr/>
          <p:nvPr/>
        </p:nvSpPr>
        <p:spPr>
          <a:xfrm>
            <a:off x="749808" y="4965192"/>
            <a:ext cx="3209544" cy="1097280"/>
          </a:xfrm>
          <a:prstGeom prst="rect">
            <a:avLst/>
          </a:prstGeom>
          <a:noFill/>
          <a:ln/>
        </p:spPr>
        <p:txBody>
          <a:bodyPr wrap="square" rtlCol="0" anchor="t"/>
          <a:lstStyle/>
          <a:p>
            <a:pPr indent="0" marL="0">
              <a:lnSpc>
                <a:spcPct val="115000"/>
              </a:lnSpc>
              <a:buNone/>
            </a:pPr>
            <a:r>
              <a:rPr lang="en-US" sz="1080" dirty="0">
                <a:solidFill>
                  <a:srgbClr val="5C6773"/>
                </a:solidFill>
                <a:latin typeface="Calibri" pitchFamily="34" charset="0"/>
                <a:ea typeface="Calibri" pitchFamily="34" charset="-122"/>
                <a:cs typeface="Calibri" pitchFamily="34" charset="-120"/>
              </a:rPr>
              <a:t>±10% zoom variation to simulate distance/camera framing changes.</a:t>
            </a:r>
            <a:endParaRPr lang="en-US" sz="1080" dirty="0"/>
          </a:p>
        </p:txBody>
      </p:sp>
      <p:sp>
        <p:nvSpPr>
          <p:cNvPr id="20" name="Shape 18"/>
          <p:cNvSpPr/>
          <p:nvPr/>
        </p:nvSpPr>
        <p:spPr>
          <a:xfrm>
            <a:off x="4379976" y="4096512"/>
            <a:ext cx="3611880" cy="2148840"/>
          </a:xfrm>
          <a:prstGeom prst="roundRect">
            <a:avLst>
              <a:gd name="adj" fmla="val 2979"/>
            </a:avLst>
          </a:prstGeom>
          <a:solidFill>
            <a:srgbClr val="F3F6F8"/>
          </a:solidFill>
          <a:ln/>
        </p:spPr>
      </p:sp>
      <p:sp>
        <p:nvSpPr>
          <p:cNvPr id="21" name="Shape 19"/>
          <p:cNvSpPr/>
          <p:nvPr/>
        </p:nvSpPr>
        <p:spPr>
          <a:xfrm>
            <a:off x="4581144" y="4297680"/>
            <a:ext cx="384048" cy="73152"/>
          </a:xfrm>
          <a:prstGeom prst="roundRect">
            <a:avLst/>
          </a:prstGeom>
          <a:solidFill>
            <a:srgbClr val="2E86AB"/>
          </a:solidFill>
          <a:ln/>
        </p:spPr>
      </p:sp>
      <p:sp>
        <p:nvSpPr>
          <p:cNvPr id="22" name="Text 20"/>
          <p:cNvSpPr/>
          <p:nvPr/>
        </p:nvSpPr>
        <p:spPr>
          <a:xfrm>
            <a:off x="4581144" y="4480560"/>
            <a:ext cx="3209544" cy="457200"/>
          </a:xfrm>
          <a:prstGeom prst="rect">
            <a:avLst/>
          </a:prstGeom>
          <a:noFill/>
          <a:ln/>
        </p:spPr>
        <p:txBody>
          <a:bodyPr wrap="square" rtlCol="0" anchor="t"/>
          <a:lstStyle/>
          <a:p>
            <a:pPr indent="0" marL="0">
              <a:buNone/>
            </a:pPr>
            <a:r>
              <a:rPr lang="en-US" sz="1350" b="1" dirty="0">
                <a:solidFill>
                  <a:srgbClr val="1B2430"/>
                </a:solidFill>
                <a:latin typeface="Cambria" pitchFamily="34" charset="0"/>
                <a:ea typeface="Cambria" pitchFamily="34" charset="-122"/>
                <a:cs typeface="Cambria" pitchFamily="34" charset="-120"/>
              </a:rPr>
              <a:t>Brightness Variation</a:t>
            </a:r>
            <a:endParaRPr lang="en-US" sz="1350" dirty="0"/>
          </a:p>
        </p:txBody>
      </p:sp>
      <p:sp>
        <p:nvSpPr>
          <p:cNvPr id="23" name="Text 21"/>
          <p:cNvSpPr/>
          <p:nvPr/>
        </p:nvSpPr>
        <p:spPr>
          <a:xfrm>
            <a:off x="4581144" y="4965192"/>
            <a:ext cx="3209544" cy="1097280"/>
          </a:xfrm>
          <a:prstGeom prst="rect">
            <a:avLst/>
          </a:prstGeom>
          <a:noFill/>
          <a:ln/>
        </p:spPr>
        <p:txBody>
          <a:bodyPr wrap="square" rtlCol="0" anchor="t"/>
          <a:lstStyle/>
          <a:p>
            <a:pPr indent="0" marL="0">
              <a:lnSpc>
                <a:spcPct val="115000"/>
              </a:lnSpc>
              <a:buNone/>
            </a:pPr>
            <a:r>
              <a:rPr lang="en-US" sz="1080" dirty="0">
                <a:solidFill>
                  <a:srgbClr val="5C6773"/>
                </a:solidFill>
                <a:latin typeface="Calibri" pitchFamily="34" charset="0"/>
                <a:ea typeface="Calibri" pitchFamily="34" charset="-122"/>
                <a:cs typeface="Calibri" pitchFamily="34" charset="-120"/>
              </a:rPr>
              <a:t>±15% brightness shift to simulate low-light and changing illumination.</a:t>
            </a:r>
            <a:endParaRPr lang="en-US" sz="1080" dirty="0"/>
          </a:p>
        </p:txBody>
      </p:sp>
      <p:sp>
        <p:nvSpPr>
          <p:cNvPr id="24" name="Shape 22"/>
          <p:cNvSpPr/>
          <p:nvPr/>
        </p:nvSpPr>
        <p:spPr>
          <a:xfrm>
            <a:off x="8211312" y="4096512"/>
            <a:ext cx="3611880" cy="2148840"/>
          </a:xfrm>
          <a:prstGeom prst="roundRect">
            <a:avLst>
              <a:gd name="adj" fmla="val 2979"/>
            </a:avLst>
          </a:prstGeom>
          <a:solidFill>
            <a:srgbClr val="F3F6F8"/>
          </a:solidFill>
          <a:ln/>
        </p:spPr>
      </p:sp>
      <p:sp>
        <p:nvSpPr>
          <p:cNvPr id="25" name="Shape 23"/>
          <p:cNvSpPr/>
          <p:nvPr/>
        </p:nvSpPr>
        <p:spPr>
          <a:xfrm>
            <a:off x="8412480" y="4297680"/>
            <a:ext cx="384048" cy="73152"/>
          </a:xfrm>
          <a:prstGeom prst="roundRect">
            <a:avLst/>
          </a:prstGeom>
          <a:solidFill>
            <a:srgbClr val="2E86AB"/>
          </a:solidFill>
          <a:ln/>
        </p:spPr>
      </p:sp>
      <p:sp>
        <p:nvSpPr>
          <p:cNvPr id="26" name="Text 24"/>
          <p:cNvSpPr/>
          <p:nvPr/>
        </p:nvSpPr>
        <p:spPr>
          <a:xfrm>
            <a:off x="8412480" y="4480560"/>
            <a:ext cx="3209544" cy="457200"/>
          </a:xfrm>
          <a:prstGeom prst="rect">
            <a:avLst/>
          </a:prstGeom>
          <a:noFill/>
          <a:ln/>
        </p:spPr>
        <p:txBody>
          <a:bodyPr wrap="square" rtlCol="0" anchor="t"/>
          <a:lstStyle/>
          <a:p>
            <a:pPr indent="0" marL="0">
              <a:buNone/>
            </a:pPr>
            <a:r>
              <a:rPr lang="en-US" sz="1350" b="1" dirty="0">
                <a:solidFill>
                  <a:srgbClr val="1B2430"/>
                </a:solidFill>
                <a:latin typeface="Cambria" pitchFamily="34" charset="0"/>
                <a:ea typeface="Cambria" pitchFamily="34" charset="-122"/>
                <a:cs typeface="Cambria" pitchFamily="34" charset="-120"/>
              </a:rPr>
              <a:t>Horizontal Flip</a:t>
            </a:r>
            <a:endParaRPr lang="en-US" sz="1350" dirty="0"/>
          </a:p>
        </p:txBody>
      </p:sp>
      <p:sp>
        <p:nvSpPr>
          <p:cNvPr id="27" name="Text 25"/>
          <p:cNvSpPr/>
          <p:nvPr/>
        </p:nvSpPr>
        <p:spPr>
          <a:xfrm>
            <a:off x="8412480" y="4965192"/>
            <a:ext cx="3209544" cy="1097280"/>
          </a:xfrm>
          <a:prstGeom prst="rect">
            <a:avLst/>
          </a:prstGeom>
          <a:noFill/>
          <a:ln/>
        </p:spPr>
        <p:txBody>
          <a:bodyPr wrap="square" rtlCol="0" anchor="t"/>
          <a:lstStyle/>
          <a:p>
            <a:pPr indent="0" marL="0">
              <a:lnSpc>
                <a:spcPct val="115000"/>
              </a:lnSpc>
              <a:buNone/>
            </a:pPr>
            <a:r>
              <a:rPr lang="en-US" sz="1080" dirty="0">
                <a:solidFill>
                  <a:srgbClr val="5C6773"/>
                </a:solidFill>
                <a:latin typeface="Calibri" pitchFamily="34" charset="0"/>
                <a:ea typeface="Calibri" pitchFamily="34" charset="-122"/>
                <a:cs typeface="Calibri" pitchFamily="34" charset="-120"/>
              </a:rPr>
              <a:t>Random horizontal flipping to increase effective training diversity.</a:t>
            </a:r>
            <a:endParaRPr lang="en-US" sz="1080" dirty="0"/>
          </a:p>
        </p:txBody>
      </p:sp>
      <p:sp>
        <p:nvSpPr>
          <p:cNvPr id="28" name="Text 26"/>
          <p:cNvSpPr/>
          <p:nvPr/>
        </p:nvSpPr>
        <p:spPr>
          <a:xfrm>
            <a:off x="457200" y="6492240"/>
            <a:ext cx="6400800" cy="274320"/>
          </a:xfrm>
          <a:prstGeom prst="rect">
            <a:avLst/>
          </a:prstGeom>
          <a:noFill/>
          <a:ln/>
        </p:spPr>
        <p:txBody>
          <a:bodyPr wrap="square" rtlCol="0" anchor="ctr"/>
          <a:lstStyle/>
          <a:p>
            <a:pPr algn="l" indent="0" marL="0">
              <a:buNone/>
            </a:pPr>
            <a:r>
              <a:rPr lang="en-US" sz="900" dirty="0">
                <a:solidFill>
                  <a:srgbClr val="5C6773"/>
                </a:solidFill>
                <a:latin typeface="Calibri" pitchFamily="34" charset="0"/>
                <a:ea typeface="Calibri" pitchFamily="34" charset="-122"/>
                <a:cs typeface="Calibri" pitchFamily="34" charset="-120"/>
              </a:rPr>
              <a:t>Driver Drowsiness Detection</a:t>
            </a:r>
            <a:endParaRPr lang="en-US" sz="900" dirty="0"/>
          </a:p>
        </p:txBody>
      </p:sp>
      <p:sp>
        <p:nvSpPr>
          <p:cNvPr id="29" name="Text 27"/>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C6773"/>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indent="0" marL="0">
              <a:buNone/>
            </a:pPr>
            <a:r>
              <a:rPr lang="en-US" sz="2900" b="1" dirty="0">
                <a:solidFill>
                  <a:srgbClr val="1B2430"/>
                </a:solidFill>
                <a:latin typeface="Cambria" pitchFamily="34" charset="0"/>
                <a:ea typeface="Cambria" pitchFamily="34" charset="-122"/>
                <a:cs typeface="Cambria" pitchFamily="34" charset="-120"/>
              </a:rPr>
              <a:t>Model Architectures</a:t>
            </a:r>
            <a:endParaRPr lang="en-US" sz="2900" dirty="0"/>
          </a:p>
        </p:txBody>
      </p:sp>
      <p:sp>
        <p:nvSpPr>
          <p:cNvPr id="3" name="Text 1"/>
          <p:cNvSpPr/>
          <p:nvPr/>
        </p:nvSpPr>
        <p:spPr>
          <a:xfrm>
            <a:off x="548640" y="960120"/>
            <a:ext cx="11064240" cy="365760"/>
          </a:xfrm>
          <a:prstGeom prst="rect">
            <a:avLst/>
          </a:prstGeom>
          <a:noFill/>
          <a:ln/>
        </p:spPr>
        <p:txBody>
          <a:bodyPr wrap="square" rtlCol="0" anchor="ctr"/>
          <a:lstStyle/>
          <a:p>
            <a:pPr indent="0" marL="0">
              <a:buNone/>
            </a:pPr>
            <a:r>
              <a:rPr lang="en-US" sz="1300" dirty="0">
                <a:solidFill>
                  <a:srgbClr val="5C6773"/>
                </a:solidFill>
                <a:latin typeface="Calibri" pitchFamily="34" charset="0"/>
                <a:ea typeface="Calibri" pitchFamily="34" charset="-122"/>
                <a:cs typeface="Calibri" pitchFamily="34" charset="-120"/>
              </a:rPr>
              <a:t>Two independent approaches, compared head-to-head</a:t>
            </a:r>
            <a:endParaRPr lang="en-US" sz="1300" dirty="0"/>
          </a:p>
        </p:txBody>
      </p:sp>
      <p:sp>
        <p:nvSpPr>
          <p:cNvPr id="4" name="Shape 2"/>
          <p:cNvSpPr/>
          <p:nvPr/>
        </p:nvSpPr>
        <p:spPr>
          <a:xfrm>
            <a:off x="548640" y="1645920"/>
            <a:ext cx="5440680" cy="4480560"/>
          </a:xfrm>
          <a:prstGeom prst="roundRect">
            <a:avLst>
              <a:gd name="adj" fmla="val 1633"/>
            </a:avLst>
          </a:prstGeom>
          <a:solidFill>
            <a:srgbClr val="F3F6F8"/>
          </a:solidFill>
          <a:ln/>
        </p:spPr>
      </p:sp>
      <p:sp>
        <p:nvSpPr>
          <p:cNvPr id="5" name="Text 3"/>
          <p:cNvSpPr/>
          <p:nvPr/>
        </p:nvSpPr>
        <p:spPr>
          <a:xfrm>
            <a:off x="822960" y="1874520"/>
            <a:ext cx="4892040" cy="411480"/>
          </a:xfrm>
          <a:prstGeom prst="rect">
            <a:avLst/>
          </a:prstGeom>
          <a:noFill/>
          <a:ln/>
        </p:spPr>
        <p:txBody>
          <a:bodyPr wrap="square" rtlCol="0" anchor="ctr"/>
          <a:lstStyle/>
          <a:p>
            <a:pPr indent="0" marL="0">
              <a:buNone/>
            </a:pPr>
            <a:r>
              <a:rPr lang="en-US" sz="1700" b="1" dirty="0">
                <a:solidFill>
                  <a:srgbClr val="1B2A4A"/>
                </a:solidFill>
                <a:latin typeface="Cambria" pitchFamily="34" charset="0"/>
                <a:ea typeface="Cambria" pitchFamily="34" charset="-122"/>
                <a:cs typeface="Cambria" pitchFamily="34" charset="-120"/>
              </a:rPr>
              <a:t>Custom CNN</a:t>
            </a:r>
            <a:endParaRPr lang="en-US" sz="1700" dirty="0"/>
          </a:p>
        </p:txBody>
      </p:sp>
      <p:sp>
        <p:nvSpPr>
          <p:cNvPr id="6" name="Text 4"/>
          <p:cNvSpPr/>
          <p:nvPr/>
        </p:nvSpPr>
        <p:spPr>
          <a:xfrm>
            <a:off x="822960" y="2304288"/>
            <a:ext cx="4892040" cy="457200"/>
          </a:xfrm>
          <a:prstGeom prst="rect">
            <a:avLst/>
          </a:prstGeom>
          <a:noFill/>
          <a:ln/>
        </p:spPr>
        <p:txBody>
          <a:bodyPr wrap="square" rtlCol="0" anchor="ctr"/>
          <a:lstStyle/>
          <a:p>
            <a:pPr indent="0" marL="0">
              <a:buNone/>
            </a:pPr>
            <a:r>
              <a:rPr lang="en-US" sz="1100" i="1" dirty="0">
                <a:solidFill>
                  <a:srgbClr val="5C6773"/>
                </a:solidFill>
                <a:latin typeface="Calibri" pitchFamily="34" charset="0"/>
                <a:ea typeface="Calibri" pitchFamily="34" charset="-122"/>
                <a:cs typeface="Calibri" pitchFamily="34" charset="-120"/>
              </a:rPr>
              <a:t>Learns visual features directly from the project dataset — no pretrained weights.</a:t>
            </a:r>
            <a:endParaRPr lang="en-US" sz="1100" dirty="0"/>
          </a:p>
        </p:txBody>
      </p:sp>
      <p:sp>
        <p:nvSpPr>
          <p:cNvPr id="7" name="Shape 5"/>
          <p:cNvSpPr/>
          <p:nvPr/>
        </p:nvSpPr>
        <p:spPr>
          <a:xfrm>
            <a:off x="822960" y="2834640"/>
            <a:ext cx="4892040" cy="301752"/>
          </a:xfrm>
          <a:prstGeom prst="roundRect">
            <a:avLst>
              <a:gd name="adj" fmla="val 15152"/>
            </a:avLst>
          </a:prstGeom>
          <a:solidFill>
            <a:srgbClr val="FFFFFF"/>
          </a:solidFill>
          <a:ln/>
        </p:spPr>
      </p:sp>
      <p:sp>
        <p:nvSpPr>
          <p:cNvPr id="8" name="Text 6"/>
          <p:cNvSpPr/>
          <p:nvPr/>
        </p:nvSpPr>
        <p:spPr>
          <a:xfrm>
            <a:off x="1005840" y="2834640"/>
            <a:ext cx="4526280" cy="301752"/>
          </a:xfrm>
          <a:prstGeom prst="rect">
            <a:avLst/>
          </a:prstGeom>
          <a:noFill/>
          <a:ln/>
        </p:spPr>
        <p:txBody>
          <a:bodyPr wrap="square" rtlCol="0" anchor="ctr"/>
          <a:lstStyle/>
          <a:p>
            <a:pPr indent="0" marL="0">
              <a:buNone/>
            </a:pPr>
            <a:r>
              <a:rPr lang="en-US" sz="1030" dirty="0">
                <a:solidFill>
                  <a:srgbClr val="1B2430"/>
                </a:solidFill>
                <a:latin typeface="Calibri" pitchFamily="34" charset="0"/>
                <a:ea typeface="Calibri" pitchFamily="34" charset="-122"/>
                <a:cs typeface="Calibri" pitchFamily="34" charset="-120"/>
              </a:rPr>
              <a:t>Input 224×224×3 + Augmentation</a:t>
            </a:r>
            <a:endParaRPr lang="en-US" sz="1030" dirty="0"/>
          </a:p>
        </p:txBody>
      </p:sp>
      <p:sp>
        <p:nvSpPr>
          <p:cNvPr id="9" name="Shape 7"/>
          <p:cNvSpPr/>
          <p:nvPr/>
        </p:nvSpPr>
        <p:spPr>
          <a:xfrm>
            <a:off x="822960" y="3177540"/>
            <a:ext cx="4892040" cy="301752"/>
          </a:xfrm>
          <a:prstGeom prst="roundRect">
            <a:avLst>
              <a:gd name="adj" fmla="val 15152"/>
            </a:avLst>
          </a:prstGeom>
          <a:solidFill>
            <a:srgbClr val="E9EEF1"/>
          </a:solidFill>
          <a:ln/>
        </p:spPr>
      </p:sp>
      <p:sp>
        <p:nvSpPr>
          <p:cNvPr id="10" name="Text 8"/>
          <p:cNvSpPr/>
          <p:nvPr/>
        </p:nvSpPr>
        <p:spPr>
          <a:xfrm>
            <a:off x="1005840" y="3177540"/>
            <a:ext cx="4526280" cy="301752"/>
          </a:xfrm>
          <a:prstGeom prst="rect">
            <a:avLst/>
          </a:prstGeom>
          <a:noFill/>
          <a:ln/>
        </p:spPr>
        <p:txBody>
          <a:bodyPr wrap="square" rtlCol="0" anchor="ctr"/>
          <a:lstStyle/>
          <a:p>
            <a:pPr indent="0" marL="0">
              <a:buNone/>
            </a:pPr>
            <a:r>
              <a:rPr lang="en-US" sz="1030" dirty="0">
                <a:solidFill>
                  <a:srgbClr val="1B2430"/>
                </a:solidFill>
                <a:latin typeface="Calibri" pitchFamily="34" charset="0"/>
                <a:ea typeface="Calibri" pitchFamily="34" charset="-122"/>
                <a:cs typeface="Calibri" pitchFamily="34" charset="-120"/>
              </a:rPr>
              <a:t>Rescaling (1/255)</a:t>
            </a:r>
            <a:endParaRPr lang="en-US" sz="1030" dirty="0"/>
          </a:p>
        </p:txBody>
      </p:sp>
      <p:sp>
        <p:nvSpPr>
          <p:cNvPr id="11" name="Shape 9"/>
          <p:cNvSpPr/>
          <p:nvPr/>
        </p:nvSpPr>
        <p:spPr>
          <a:xfrm>
            <a:off x="822960" y="3520440"/>
            <a:ext cx="4892040" cy="301752"/>
          </a:xfrm>
          <a:prstGeom prst="roundRect">
            <a:avLst>
              <a:gd name="adj" fmla="val 15152"/>
            </a:avLst>
          </a:prstGeom>
          <a:solidFill>
            <a:srgbClr val="FFFFFF"/>
          </a:solidFill>
          <a:ln/>
        </p:spPr>
      </p:sp>
      <p:sp>
        <p:nvSpPr>
          <p:cNvPr id="12" name="Text 10"/>
          <p:cNvSpPr/>
          <p:nvPr/>
        </p:nvSpPr>
        <p:spPr>
          <a:xfrm>
            <a:off x="1005840" y="3520440"/>
            <a:ext cx="4526280" cy="301752"/>
          </a:xfrm>
          <a:prstGeom prst="rect">
            <a:avLst/>
          </a:prstGeom>
          <a:noFill/>
          <a:ln/>
        </p:spPr>
        <p:txBody>
          <a:bodyPr wrap="square" rtlCol="0" anchor="ctr"/>
          <a:lstStyle/>
          <a:p>
            <a:pPr indent="0" marL="0">
              <a:buNone/>
            </a:pPr>
            <a:r>
              <a:rPr lang="en-US" sz="1030" dirty="0">
                <a:solidFill>
                  <a:srgbClr val="1B2430"/>
                </a:solidFill>
                <a:latin typeface="Calibri" pitchFamily="34" charset="0"/>
                <a:ea typeface="Calibri" pitchFamily="34" charset="-122"/>
                <a:cs typeface="Calibri" pitchFamily="34" charset="-120"/>
              </a:rPr>
              <a:t>Conv2D 32 → MaxPool</a:t>
            </a:r>
            <a:endParaRPr lang="en-US" sz="1030" dirty="0"/>
          </a:p>
        </p:txBody>
      </p:sp>
      <p:sp>
        <p:nvSpPr>
          <p:cNvPr id="13" name="Shape 11"/>
          <p:cNvSpPr/>
          <p:nvPr/>
        </p:nvSpPr>
        <p:spPr>
          <a:xfrm>
            <a:off x="822960" y="3863340"/>
            <a:ext cx="4892040" cy="301752"/>
          </a:xfrm>
          <a:prstGeom prst="roundRect">
            <a:avLst>
              <a:gd name="adj" fmla="val 15152"/>
            </a:avLst>
          </a:prstGeom>
          <a:solidFill>
            <a:srgbClr val="E9EEF1"/>
          </a:solidFill>
          <a:ln/>
        </p:spPr>
      </p:sp>
      <p:sp>
        <p:nvSpPr>
          <p:cNvPr id="14" name="Text 12"/>
          <p:cNvSpPr/>
          <p:nvPr/>
        </p:nvSpPr>
        <p:spPr>
          <a:xfrm>
            <a:off x="1005840" y="3863340"/>
            <a:ext cx="4526280" cy="301752"/>
          </a:xfrm>
          <a:prstGeom prst="rect">
            <a:avLst/>
          </a:prstGeom>
          <a:noFill/>
          <a:ln/>
        </p:spPr>
        <p:txBody>
          <a:bodyPr wrap="square" rtlCol="0" anchor="ctr"/>
          <a:lstStyle/>
          <a:p>
            <a:pPr indent="0" marL="0">
              <a:buNone/>
            </a:pPr>
            <a:r>
              <a:rPr lang="en-US" sz="1030" dirty="0">
                <a:solidFill>
                  <a:srgbClr val="1B2430"/>
                </a:solidFill>
                <a:latin typeface="Calibri" pitchFamily="34" charset="0"/>
                <a:ea typeface="Calibri" pitchFamily="34" charset="-122"/>
                <a:cs typeface="Calibri" pitchFamily="34" charset="-120"/>
              </a:rPr>
              <a:t>Conv2D 64 → MaxPool</a:t>
            </a:r>
            <a:endParaRPr lang="en-US" sz="1030" dirty="0"/>
          </a:p>
        </p:txBody>
      </p:sp>
      <p:sp>
        <p:nvSpPr>
          <p:cNvPr id="15" name="Shape 13"/>
          <p:cNvSpPr/>
          <p:nvPr/>
        </p:nvSpPr>
        <p:spPr>
          <a:xfrm>
            <a:off x="822960" y="4206240"/>
            <a:ext cx="4892040" cy="301752"/>
          </a:xfrm>
          <a:prstGeom prst="roundRect">
            <a:avLst>
              <a:gd name="adj" fmla="val 15152"/>
            </a:avLst>
          </a:prstGeom>
          <a:solidFill>
            <a:srgbClr val="FFFFFF"/>
          </a:solidFill>
          <a:ln/>
        </p:spPr>
      </p:sp>
      <p:sp>
        <p:nvSpPr>
          <p:cNvPr id="16" name="Text 14"/>
          <p:cNvSpPr/>
          <p:nvPr/>
        </p:nvSpPr>
        <p:spPr>
          <a:xfrm>
            <a:off x="1005840" y="4206240"/>
            <a:ext cx="4526280" cy="301752"/>
          </a:xfrm>
          <a:prstGeom prst="rect">
            <a:avLst/>
          </a:prstGeom>
          <a:noFill/>
          <a:ln/>
        </p:spPr>
        <p:txBody>
          <a:bodyPr wrap="square" rtlCol="0" anchor="ctr"/>
          <a:lstStyle/>
          <a:p>
            <a:pPr indent="0" marL="0">
              <a:buNone/>
            </a:pPr>
            <a:r>
              <a:rPr lang="en-US" sz="1030" dirty="0">
                <a:solidFill>
                  <a:srgbClr val="1B2430"/>
                </a:solidFill>
                <a:latin typeface="Calibri" pitchFamily="34" charset="0"/>
                <a:ea typeface="Calibri" pitchFamily="34" charset="-122"/>
                <a:cs typeface="Calibri" pitchFamily="34" charset="-120"/>
              </a:rPr>
              <a:t>Conv2D 128 → MaxPool</a:t>
            </a:r>
            <a:endParaRPr lang="en-US" sz="1030" dirty="0"/>
          </a:p>
        </p:txBody>
      </p:sp>
      <p:sp>
        <p:nvSpPr>
          <p:cNvPr id="17" name="Shape 15"/>
          <p:cNvSpPr/>
          <p:nvPr/>
        </p:nvSpPr>
        <p:spPr>
          <a:xfrm>
            <a:off x="822960" y="4549140"/>
            <a:ext cx="4892040" cy="301752"/>
          </a:xfrm>
          <a:prstGeom prst="roundRect">
            <a:avLst>
              <a:gd name="adj" fmla="val 15152"/>
            </a:avLst>
          </a:prstGeom>
          <a:solidFill>
            <a:srgbClr val="E9EEF1"/>
          </a:solidFill>
          <a:ln/>
        </p:spPr>
      </p:sp>
      <p:sp>
        <p:nvSpPr>
          <p:cNvPr id="18" name="Text 16"/>
          <p:cNvSpPr/>
          <p:nvPr/>
        </p:nvSpPr>
        <p:spPr>
          <a:xfrm>
            <a:off x="1005840" y="4549140"/>
            <a:ext cx="4526280" cy="301752"/>
          </a:xfrm>
          <a:prstGeom prst="rect">
            <a:avLst/>
          </a:prstGeom>
          <a:noFill/>
          <a:ln/>
        </p:spPr>
        <p:txBody>
          <a:bodyPr wrap="square" rtlCol="0" anchor="ctr"/>
          <a:lstStyle/>
          <a:p>
            <a:pPr indent="0" marL="0">
              <a:buNone/>
            </a:pPr>
            <a:r>
              <a:rPr lang="en-US" sz="1030" dirty="0">
                <a:solidFill>
                  <a:srgbClr val="1B2430"/>
                </a:solidFill>
                <a:latin typeface="Calibri" pitchFamily="34" charset="0"/>
                <a:ea typeface="Calibri" pitchFamily="34" charset="-122"/>
                <a:cs typeface="Calibri" pitchFamily="34" charset="-120"/>
              </a:rPr>
              <a:t>Conv2D 256 → MaxPool</a:t>
            </a:r>
            <a:endParaRPr lang="en-US" sz="1030" dirty="0"/>
          </a:p>
        </p:txBody>
      </p:sp>
      <p:sp>
        <p:nvSpPr>
          <p:cNvPr id="19" name="Shape 17"/>
          <p:cNvSpPr/>
          <p:nvPr/>
        </p:nvSpPr>
        <p:spPr>
          <a:xfrm>
            <a:off x="822960" y="4892040"/>
            <a:ext cx="4892040" cy="301752"/>
          </a:xfrm>
          <a:prstGeom prst="roundRect">
            <a:avLst>
              <a:gd name="adj" fmla="val 15152"/>
            </a:avLst>
          </a:prstGeom>
          <a:solidFill>
            <a:srgbClr val="FFFFFF"/>
          </a:solidFill>
          <a:ln/>
        </p:spPr>
      </p:sp>
      <p:sp>
        <p:nvSpPr>
          <p:cNvPr id="20" name="Text 18"/>
          <p:cNvSpPr/>
          <p:nvPr/>
        </p:nvSpPr>
        <p:spPr>
          <a:xfrm>
            <a:off x="1005840" y="4892040"/>
            <a:ext cx="4526280" cy="301752"/>
          </a:xfrm>
          <a:prstGeom prst="rect">
            <a:avLst/>
          </a:prstGeom>
          <a:noFill/>
          <a:ln/>
        </p:spPr>
        <p:txBody>
          <a:bodyPr wrap="square" rtlCol="0" anchor="ctr"/>
          <a:lstStyle/>
          <a:p>
            <a:pPr indent="0" marL="0">
              <a:buNone/>
            </a:pPr>
            <a:r>
              <a:rPr lang="en-US" sz="1030" dirty="0">
                <a:solidFill>
                  <a:srgbClr val="1B2430"/>
                </a:solidFill>
                <a:latin typeface="Calibri" pitchFamily="34" charset="0"/>
                <a:ea typeface="Calibri" pitchFamily="34" charset="-122"/>
                <a:cs typeface="Calibri" pitchFamily="34" charset="-120"/>
              </a:rPr>
              <a:t>GlobalAveragePooling2D</a:t>
            </a:r>
            <a:endParaRPr lang="en-US" sz="1030" dirty="0"/>
          </a:p>
        </p:txBody>
      </p:sp>
      <p:sp>
        <p:nvSpPr>
          <p:cNvPr id="21" name="Shape 19"/>
          <p:cNvSpPr/>
          <p:nvPr/>
        </p:nvSpPr>
        <p:spPr>
          <a:xfrm>
            <a:off x="822960" y="5234940"/>
            <a:ext cx="4892040" cy="301752"/>
          </a:xfrm>
          <a:prstGeom prst="roundRect">
            <a:avLst>
              <a:gd name="adj" fmla="val 15152"/>
            </a:avLst>
          </a:prstGeom>
          <a:solidFill>
            <a:srgbClr val="E9EEF1"/>
          </a:solidFill>
          <a:ln/>
        </p:spPr>
      </p:sp>
      <p:sp>
        <p:nvSpPr>
          <p:cNvPr id="22" name="Text 20"/>
          <p:cNvSpPr/>
          <p:nvPr/>
        </p:nvSpPr>
        <p:spPr>
          <a:xfrm>
            <a:off x="1005840" y="5234940"/>
            <a:ext cx="4526280" cy="301752"/>
          </a:xfrm>
          <a:prstGeom prst="rect">
            <a:avLst/>
          </a:prstGeom>
          <a:noFill/>
          <a:ln/>
        </p:spPr>
        <p:txBody>
          <a:bodyPr wrap="square" rtlCol="0" anchor="ctr"/>
          <a:lstStyle/>
          <a:p>
            <a:pPr indent="0" marL="0">
              <a:buNone/>
            </a:pPr>
            <a:r>
              <a:rPr lang="en-US" sz="1030" dirty="0">
                <a:solidFill>
                  <a:srgbClr val="1B2430"/>
                </a:solidFill>
                <a:latin typeface="Calibri" pitchFamily="34" charset="0"/>
                <a:ea typeface="Calibri" pitchFamily="34" charset="-122"/>
                <a:cs typeface="Calibri" pitchFamily="34" charset="-120"/>
              </a:rPr>
              <a:t>Dense 128 (ReLU) + Dropout 0.5</a:t>
            </a:r>
            <a:endParaRPr lang="en-US" sz="1030" dirty="0"/>
          </a:p>
        </p:txBody>
      </p:sp>
      <p:sp>
        <p:nvSpPr>
          <p:cNvPr id="23" name="Shape 21"/>
          <p:cNvSpPr/>
          <p:nvPr/>
        </p:nvSpPr>
        <p:spPr>
          <a:xfrm>
            <a:off x="822960" y="5577840"/>
            <a:ext cx="4892040" cy="301752"/>
          </a:xfrm>
          <a:prstGeom prst="roundRect">
            <a:avLst>
              <a:gd name="adj" fmla="val 15152"/>
            </a:avLst>
          </a:prstGeom>
          <a:solidFill>
            <a:srgbClr val="FFFFFF"/>
          </a:solidFill>
          <a:ln/>
        </p:spPr>
      </p:sp>
      <p:sp>
        <p:nvSpPr>
          <p:cNvPr id="24" name="Text 22"/>
          <p:cNvSpPr/>
          <p:nvPr/>
        </p:nvSpPr>
        <p:spPr>
          <a:xfrm>
            <a:off x="1005840" y="5577840"/>
            <a:ext cx="4526280" cy="301752"/>
          </a:xfrm>
          <a:prstGeom prst="rect">
            <a:avLst/>
          </a:prstGeom>
          <a:noFill/>
          <a:ln/>
        </p:spPr>
        <p:txBody>
          <a:bodyPr wrap="square" rtlCol="0" anchor="ctr"/>
          <a:lstStyle/>
          <a:p>
            <a:pPr indent="0" marL="0">
              <a:buNone/>
            </a:pPr>
            <a:r>
              <a:rPr lang="en-US" sz="1030" dirty="0">
                <a:solidFill>
                  <a:srgbClr val="1B2430"/>
                </a:solidFill>
                <a:latin typeface="Calibri" pitchFamily="34" charset="0"/>
                <a:ea typeface="Calibri" pitchFamily="34" charset="-122"/>
                <a:cs typeface="Calibri" pitchFamily="34" charset="-120"/>
              </a:rPr>
              <a:t>Dense 1 (Sigmoid)</a:t>
            </a:r>
            <a:endParaRPr lang="en-US" sz="1030" dirty="0"/>
          </a:p>
        </p:txBody>
      </p:sp>
      <p:sp>
        <p:nvSpPr>
          <p:cNvPr id="25" name="Shape 23"/>
          <p:cNvSpPr/>
          <p:nvPr/>
        </p:nvSpPr>
        <p:spPr>
          <a:xfrm>
            <a:off x="6263640" y="1645920"/>
            <a:ext cx="5440680" cy="4480560"/>
          </a:xfrm>
          <a:prstGeom prst="roundRect">
            <a:avLst>
              <a:gd name="adj" fmla="val 1633"/>
            </a:avLst>
          </a:prstGeom>
          <a:solidFill>
            <a:srgbClr val="0D1B2A"/>
          </a:solidFill>
          <a:ln/>
        </p:spPr>
      </p:sp>
      <p:sp>
        <p:nvSpPr>
          <p:cNvPr id="26" name="Text 24"/>
          <p:cNvSpPr/>
          <p:nvPr/>
        </p:nvSpPr>
        <p:spPr>
          <a:xfrm>
            <a:off x="6537960" y="1874520"/>
            <a:ext cx="4892040" cy="411480"/>
          </a:xfrm>
          <a:prstGeom prst="rect">
            <a:avLst/>
          </a:prstGeom>
          <a:noFill/>
          <a:ln/>
        </p:spPr>
        <p:txBody>
          <a:bodyPr wrap="square" rtlCol="0" anchor="ctr"/>
          <a:lstStyle/>
          <a:p>
            <a:pPr indent="0" marL="0">
              <a:buNone/>
            </a:pPr>
            <a:r>
              <a:rPr lang="en-US" sz="1700" b="1" dirty="0">
                <a:solidFill>
                  <a:srgbClr val="F2A93B"/>
                </a:solidFill>
                <a:latin typeface="Cambria" pitchFamily="34" charset="0"/>
                <a:ea typeface="Cambria" pitchFamily="34" charset="-122"/>
                <a:cs typeface="Cambria" pitchFamily="34" charset="-120"/>
              </a:rPr>
              <a:t>MobileNetV2 (Transfer Learning)</a:t>
            </a:r>
            <a:endParaRPr lang="en-US" sz="1700" dirty="0"/>
          </a:p>
        </p:txBody>
      </p:sp>
      <p:sp>
        <p:nvSpPr>
          <p:cNvPr id="27" name="Text 25"/>
          <p:cNvSpPr/>
          <p:nvPr/>
        </p:nvSpPr>
        <p:spPr>
          <a:xfrm>
            <a:off x="6537960" y="2304288"/>
            <a:ext cx="4892040" cy="457200"/>
          </a:xfrm>
          <a:prstGeom prst="rect">
            <a:avLst/>
          </a:prstGeom>
          <a:noFill/>
          <a:ln/>
        </p:spPr>
        <p:txBody>
          <a:bodyPr wrap="square" rtlCol="0" anchor="ctr"/>
          <a:lstStyle/>
          <a:p>
            <a:pPr indent="0" marL="0">
              <a:buNone/>
            </a:pPr>
            <a:r>
              <a:rPr lang="en-US" sz="1100" i="1" dirty="0">
                <a:solidFill>
                  <a:srgbClr val="C7D6E2"/>
                </a:solidFill>
                <a:latin typeface="Calibri" pitchFamily="34" charset="0"/>
                <a:ea typeface="Calibri" pitchFamily="34" charset="-122"/>
                <a:cs typeface="Calibri" pitchFamily="34" charset="-120"/>
              </a:rPr>
              <a:t>ImageNet-pretrained feature extractor; base layers frozen (2,257,984 params).</a:t>
            </a:r>
            <a:endParaRPr lang="en-US" sz="1100" dirty="0"/>
          </a:p>
        </p:txBody>
      </p:sp>
      <p:sp>
        <p:nvSpPr>
          <p:cNvPr id="28" name="Shape 26"/>
          <p:cNvSpPr/>
          <p:nvPr/>
        </p:nvSpPr>
        <p:spPr>
          <a:xfrm>
            <a:off x="6537960" y="2880360"/>
            <a:ext cx="4892040" cy="320040"/>
          </a:xfrm>
          <a:prstGeom prst="roundRect">
            <a:avLst>
              <a:gd name="adj" fmla="val 14286"/>
            </a:avLst>
          </a:prstGeom>
          <a:solidFill>
            <a:srgbClr val="132A42"/>
          </a:solidFill>
          <a:ln/>
        </p:spPr>
      </p:sp>
      <p:sp>
        <p:nvSpPr>
          <p:cNvPr id="29" name="Text 27"/>
          <p:cNvSpPr/>
          <p:nvPr/>
        </p:nvSpPr>
        <p:spPr>
          <a:xfrm>
            <a:off x="6720840" y="2880360"/>
            <a:ext cx="4526280" cy="320040"/>
          </a:xfrm>
          <a:prstGeom prst="rect">
            <a:avLst/>
          </a:prstGeom>
          <a:noFill/>
          <a:ln/>
        </p:spPr>
        <p:txBody>
          <a:bodyPr wrap="square" rtlCol="0" anchor="ctr"/>
          <a:lstStyle/>
          <a:p>
            <a:pPr indent="0" marL="0">
              <a:buNone/>
            </a:pPr>
            <a:r>
              <a:rPr lang="en-US" sz="1030" dirty="0">
                <a:solidFill>
                  <a:srgbClr val="D5E1EA"/>
                </a:solidFill>
                <a:latin typeface="Calibri" pitchFamily="34" charset="0"/>
                <a:ea typeface="Calibri" pitchFamily="34" charset="-122"/>
                <a:cs typeface="Calibri" pitchFamily="34" charset="-120"/>
              </a:rPr>
              <a:t>Input 224×224×3 + Augmentation</a:t>
            </a:r>
            <a:endParaRPr lang="en-US" sz="1030" dirty="0"/>
          </a:p>
        </p:txBody>
      </p:sp>
      <p:sp>
        <p:nvSpPr>
          <p:cNvPr id="30" name="Shape 28"/>
          <p:cNvSpPr/>
          <p:nvPr/>
        </p:nvSpPr>
        <p:spPr>
          <a:xfrm>
            <a:off x="6537960" y="3246120"/>
            <a:ext cx="4892040" cy="320040"/>
          </a:xfrm>
          <a:prstGeom prst="roundRect">
            <a:avLst>
              <a:gd name="adj" fmla="val 14286"/>
            </a:avLst>
          </a:prstGeom>
          <a:solidFill>
            <a:srgbClr val="0F2038"/>
          </a:solidFill>
          <a:ln/>
        </p:spPr>
      </p:sp>
      <p:sp>
        <p:nvSpPr>
          <p:cNvPr id="31" name="Text 29"/>
          <p:cNvSpPr/>
          <p:nvPr/>
        </p:nvSpPr>
        <p:spPr>
          <a:xfrm>
            <a:off x="6720840" y="3246120"/>
            <a:ext cx="4526280" cy="320040"/>
          </a:xfrm>
          <a:prstGeom prst="rect">
            <a:avLst/>
          </a:prstGeom>
          <a:noFill/>
          <a:ln/>
        </p:spPr>
        <p:txBody>
          <a:bodyPr wrap="square" rtlCol="0" anchor="ctr"/>
          <a:lstStyle/>
          <a:p>
            <a:pPr indent="0" marL="0">
              <a:buNone/>
            </a:pPr>
            <a:r>
              <a:rPr lang="en-US" sz="1030" dirty="0">
                <a:solidFill>
                  <a:srgbClr val="D5E1EA"/>
                </a:solidFill>
                <a:latin typeface="Calibri" pitchFamily="34" charset="0"/>
                <a:ea typeface="Calibri" pitchFamily="34" charset="-122"/>
                <a:cs typeface="Calibri" pitchFamily="34" charset="-120"/>
              </a:rPr>
              <a:t>preprocess_input (MobileNetV2)</a:t>
            </a:r>
            <a:endParaRPr lang="en-US" sz="1030" dirty="0"/>
          </a:p>
        </p:txBody>
      </p:sp>
      <p:sp>
        <p:nvSpPr>
          <p:cNvPr id="32" name="Shape 30"/>
          <p:cNvSpPr/>
          <p:nvPr/>
        </p:nvSpPr>
        <p:spPr>
          <a:xfrm>
            <a:off x="6537960" y="3611880"/>
            <a:ext cx="4892040" cy="320040"/>
          </a:xfrm>
          <a:prstGeom prst="roundRect">
            <a:avLst>
              <a:gd name="adj" fmla="val 14286"/>
            </a:avLst>
          </a:prstGeom>
          <a:solidFill>
            <a:srgbClr val="132A42"/>
          </a:solidFill>
          <a:ln/>
        </p:spPr>
      </p:sp>
      <p:sp>
        <p:nvSpPr>
          <p:cNvPr id="33" name="Text 31"/>
          <p:cNvSpPr/>
          <p:nvPr/>
        </p:nvSpPr>
        <p:spPr>
          <a:xfrm>
            <a:off x="6720840" y="3611880"/>
            <a:ext cx="4526280" cy="320040"/>
          </a:xfrm>
          <a:prstGeom prst="rect">
            <a:avLst/>
          </a:prstGeom>
          <a:noFill/>
          <a:ln/>
        </p:spPr>
        <p:txBody>
          <a:bodyPr wrap="square" rtlCol="0" anchor="ctr"/>
          <a:lstStyle/>
          <a:p>
            <a:pPr indent="0" marL="0">
              <a:buNone/>
            </a:pPr>
            <a:r>
              <a:rPr lang="en-US" sz="1030" dirty="0">
                <a:solidFill>
                  <a:srgbClr val="D5E1EA"/>
                </a:solidFill>
                <a:latin typeface="Calibri" pitchFamily="34" charset="0"/>
                <a:ea typeface="Calibri" pitchFamily="34" charset="-122"/>
                <a:cs typeface="Calibri" pitchFamily="34" charset="-120"/>
              </a:rPr>
              <a:t>MobileNetV2 base — frozen</a:t>
            </a:r>
            <a:endParaRPr lang="en-US" sz="1030" dirty="0"/>
          </a:p>
        </p:txBody>
      </p:sp>
      <p:sp>
        <p:nvSpPr>
          <p:cNvPr id="34" name="Shape 32"/>
          <p:cNvSpPr/>
          <p:nvPr/>
        </p:nvSpPr>
        <p:spPr>
          <a:xfrm>
            <a:off x="6537960" y="3977640"/>
            <a:ext cx="4892040" cy="320040"/>
          </a:xfrm>
          <a:prstGeom prst="roundRect">
            <a:avLst>
              <a:gd name="adj" fmla="val 14286"/>
            </a:avLst>
          </a:prstGeom>
          <a:solidFill>
            <a:srgbClr val="0F2038"/>
          </a:solidFill>
          <a:ln/>
        </p:spPr>
      </p:sp>
      <p:sp>
        <p:nvSpPr>
          <p:cNvPr id="35" name="Text 33"/>
          <p:cNvSpPr/>
          <p:nvPr/>
        </p:nvSpPr>
        <p:spPr>
          <a:xfrm>
            <a:off x="6720840" y="3977640"/>
            <a:ext cx="4526280" cy="320040"/>
          </a:xfrm>
          <a:prstGeom prst="rect">
            <a:avLst/>
          </a:prstGeom>
          <a:noFill/>
          <a:ln/>
        </p:spPr>
        <p:txBody>
          <a:bodyPr wrap="square" rtlCol="0" anchor="ctr"/>
          <a:lstStyle/>
          <a:p>
            <a:pPr indent="0" marL="0">
              <a:buNone/>
            </a:pPr>
            <a:r>
              <a:rPr lang="en-US" sz="1030" dirty="0">
                <a:solidFill>
                  <a:srgbClr val="D5E1EA"/>
                </a:solidFill>
                <a:latin typeface="Calibri" pitchFamily="34" charset="0"/>
                <a:ea typeface="Calibri" pitchFamily="34" charset="-122"/>
                <a:cs typeface="Calibri" pitchFamily="34" charset="-120"/>
              </a:rPr>
              <a:t>GlobalAveragePooling2D</a:t>
            </a:r>
            <a:endParaRPr lang="en-US" sz="1030" dirty="0"/>
          </a:p>
        </p:txBody>
      </p:sp>
      <p:sp>
        <p:nvSpPr>
          <p:cNvPr id="36" name="Shape 34"/>
          <p:cNvSpPr/>
          <p:nvPr/>
        </p:nvSpPr>
        <p:spPr>
          <a:xfrm>
            <a:off x="6537960" y="4343400"/>
            <a:ext cx="4892040" cy="320040"/>
          </a:xfrm>
          <a:prstGeom prst="roundRect">
            <a:avLst>
              <a:gd name="adj" fmla="val 14286"/>
            </a:avLst>
          </a:prstGeom>
          <a:solidFill>
            <a:srgbClr val="132A42"/>
          </a:solidFill>
          <a:ln/>
        </p:spPr>
      </p:sp>
      <p:sp>
        <p:nvSpPr>
          <p:cNvPr id="37" name="Text 35"/>
          <p:cNvSpPr/>
          <p:nvPr/>
        </p:nvSpPr>
        <p:spPr>
          <a:xfrm>
            <a:off x="6720840" y="4343400"/>
            <a:ext cx="4526280" cy="320040"/>
          </a:xfrm>
          <a:prstGeom prst="rect">
            <a:avLst/>
          </a:prstGeom>
          <a:noFill/>
          <a:ln/>
        </p:spPr>
        <p:txBody>
          <a:bodyPr wrap="square" rtlCol="0" anchor="ctr"/>
          <a:lstStyle/>
          <a:p>
            <a:pPr indent="0" marL="0">
              <a:buNone/>
            </a:pPr>
            <a:r>
              <a:rPr lang="en-US" sz="1030" dirty="0">
                <a:solidFill>
                  <a:srgbClr val="D5E1EA"/>
                </a:solidFill>
                <a:latin typeface="Calibri" pitchFamily="34" charset="0"/>
                <a:ea typeface="Calibri" pitchFamily="34" charset="-122"/>
                <a:cs typeface="Calibri" pitchFamily="34" charset="-120"/>
              </a:rPr>
              <a:t>Dense 128 (ReLU) + Dropout 0.5</a:t>
            </a:r>
            <a:endParaRPr lang="en-US" sz="1030" dirty="0"/>
          </a:p>
        </p:txBody>
      </p:sp>
      <p:sp>
        <p:nvSpPr>
          <p:cNvPr id="38" name="Shape 36"/>
          <p:cNvSpPr/>
          <p:nvPr/>
        </p:nvSpPr>
        <p:spPr>
          <a:xfrm>
            <a:off x="6537960" y="4709160"/>
            <a:ext cx="4892040" cy="320040"/>
          </a:xfrm>
          <a:prstGeom prst="roundRect">
            <a:avLst>
              <a:gd name="adj" fmla="val 14286"/>
            </a:avLst>
          </a:prstGeom>
          <a:solidFill>
            <a:srgbClr val="0F2038"/>
          </a:solidFill>
          <a:ln/>
        </p:spPr>
      </p:sp>
      <p:sp>
        <p:nvSpPr>
          <p:cNvPr id="39" name="Text 37"/>
          <p:cNvSpPr/>
          <p:nvPr/>
        </p:nvSpPr>
        <p:spPr>
          <a:xfrm>
            <a:off x="6720840" y="4709160"/>
            <a:ext cx="4526280" cy="320040"/>
          </a:xfrm>
          <a:prstGeom prst="rect">
            <a:avLst/>
          </a:prstGeom>
          <a:noFill/>
          <a:ln/>
        </p:spPr>
        <p:txBody>
          <a:bodyPr wrap="square" rtlCol="0" anchor="ctr"/>
          <a:lstStyle/>
          <a:p>
            <a:pPr indent="0" marL="0">
              <a:buNone/>
            </a:pPr>
            <a:r>
              <a:rPr lang="en-US" sz="1030" dirty="0">
                <a:solidFill>
                  <a:srgbClr val="D5E1EA"/>
                </a:solidFill>
                <a:latin typeface="Calibri" pitchFamily="34" charset="0"/>
                <a:ea typeface="Calibri" pitchFamily="34" charset="-122"/>
                <a:cs typeface="Calibri" pitchFamily="34" charset="-120"/>
              </a:rPr>
              <a:t>Dense 1 (Sigmoid)</a:t>
            </a:r>
            <a:endParaRPr lang="en-US" sz="1030" dirty="0"/>
          </a:p>
        </p:txBody>
      </p:sp>
      <p:sp>
        <p:nvSpPr>
          <p:cNvPr id="40" name="Text 38"/>
          <p:cNvSpPr/>
          <p:nvPr/>
        </p:nvSpPr>
        <p:spPr>
          <a:xfrm>
            <a:off x="6537960" y="5623560"/>
            <a:ext cx="4892040" cy="411480"/>
          </a:xfrm>
          <a:prstGeom prst="rect">
            <a:avLst/>
          </a:prstGeom>
          <a:noFill/>
          <a:ln/>
        </p:spPr>
        <p:txBody>
          <a:bodyPr wrap="square" rtlCol="0" anchor="ctr"/>
          <a:lstStyle/>
          <a:p>
            <a:pPr indent="0" marL="0">
              <a:buNone/>
            </a:pPr>
            <a:r>
              <a:rPr lang="en-US" sz="980" i="1" dirty="0">
                <a:solidFill>
                  <a:srgbClr val="8FADC4"/>
                </a:solidFill>
                <a:latin typeface="Calibri" pitchFamily="34" charset="0"/>
                <a:ea typeface="Calibri" pitchFamily="34" charset="-122"/>
                <a:cs typeface="Calibri" pitchFamily="34" charset="-120"/>
              </a:rPr>
              <a:t>Both are trained independently for Eye State (Closed/Open) and Mouth State (No Yawn/Yawn) → 4 binary models total.</a:t>
            </a:r>
            <a:endParaRPr lang="en-US" sz="980" dirty="0"/>
          </a:p>
        </p:txBody>
      </p:sp>
      <p:sp>
        <p:nvSpPr>
          <p:cNvPr id="41" name="Text 39"/>
          <p:cNvSpPr/>
          <p:nvPr/>
        </p:nvSpPr>
        <p:spPr>
          <a:xfrm>
            <a:off x="457200" y="6492240"/>
            <a:ext cx="6400800" cy="274320"/>
          </a:xfrm>
          <a:prstGeom prst="rect">
            <a:avLst/>
          </a:prstGeom>
          <a:noFill/>
          <a:ln/>
        </p:spPr>
        <p:txBody>
          <a:bodyPr wrap="square" rtlCol="0" anchor="ctr"/>
          <a:lstStyle/>
          <a:p>
            <a:pPr algn="l" indent="0" marL="0">
              <a:buNone/>
            </a:pPr>
            <a:r>
              <a:rPr lang="en-US" sz="900" dirty="0">
                <a:solidFill>
                  <a:srgbClr val="5C6773"/>
                </a:solidFill>
                <a:latin typeface="Calibri" pitchFamily="34" charset="0"/>
                <a:ea typeface="Calibri" pitchFamily="34" charset="-122"/>
                <a:cs typeface="Calibri" pitchFamily="34" charset="-120"/>
              </a:rPr>
              <a:t>Driver Drowsiness Detection</a:t>
            </a:r>
            <a:endParaRPr lang="en-US" sz="900" dirty="0"/>
          </a:p>
        </p:txBody>
      </p:sp>
      <p:sp>
        <p:nvSpPr>
          <p:cNvPr id="42" name="Text 40"/>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C6773"/>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indent="0" marL="0">
              <a:buNone/>
            </a:pPr>
            <a:r>
              <a:rPr lang="en-US" sz="2900" b="1" dirty="0">
                <a:solidFill>
                  <a:srgbClr val="1B2430"/>
                </a:solidFill>
                <a:latin typeface="Cambria" pitchFamily="34" charset="0"/>
                <a:ea typeface="Cambria" pitchFamily="34" charset="-122"/>
                <a:cs typeface="Cambria" pitchFamily="34" charset="-120"/>
              </a:rPr>
              <a:t>Training Setup</a:t>
            </a:r>
            <a:endParaRPr lang="en-US" sz="2900" dirty="0"/>
          </a:p>
        </p:txBody>
      </p:sp>
      <p:sp>
        <p:nvSpPr>
          <p:cNvPr id="3" name="Text 1"/>
          <p:cNvSpPr/>
          <p:nvPr/>
        </p:nvSpPr>
        <p:spPr>
          <a:xfrm>
            <a:off x="548640" y="960120"/>
            <a:ext cx="11064240" cy="365760"/>
          </a:xfrm>
          <a:prstGeom prst="rect">
            <a:avLst/>
          </a:prstGeom>
          <a:noFill/>
          <a:ln/>
        </p:spPr>
        <p:txBody>
          <a:bodyPr wrap="square" rtlCol="0" anchor="ctr"/>
          <a:lstStyle/>
          <a:p>
            <a:pPr indent="0" marL="0">
              <a:buNone/>
            </a:pPr>
            <a:r>
              <a:rPr lang="en-US" sz="1300" dirty="0">
                <a:solidFill>
                  <a:srgbClr val="5C6773"/>
                </a:solidFill>
                <a:latin typeface="Calibri" pitchFamily="34" charset="0"/>
                <a:ea typeface="Calibri" pitchFamily="34" charset="-122"/>
                <a:cs typeface="Calibri" pitchFamily="34" charset="-120"/>
              </a:rPr>
              <a:t>Four binary models, trained under identical conditions</a:t>
            </a:r>
            <a:endParaRPr lang="en-US" sz="1300" dirty="0"/>
          </a:p>
        </p:txBody>
      </p:sp>
      <p:sp>
        <p:nvSpPr>
          <p:cNvPr id="4" name="Shape 2"/>
          <p:cNvSpPr/>
          <p:nvPr/>
        </p:nvSpPr>
        <p:spPr>
          <a:xfrm>
            <a:off x="548640" y="1691640"/>
            <a:ext cx="2651760" cy="1371600"/>
          </a:xfrm>
          <a:prstGeom prst="roundRect">
            <a:avLst>
              <a:gd name="adj" fmla="val 5333"/>
            </a:avLst>
          </a:prstGeom>
          <a:solidFill>
            <a:srgbClr val="1B2A4A"/>
          </a:solidFill>
          <a:ln/>
        </p:spPr>
      </p:sp>
      <p:sp>
        <p:nvSpPr>
          <p:cNvPr id="5" name="Text 3"/>
          <p:cNvSpPr/>
          <p:nvPr/>
        </p:nvSpPr>
        <p:spPr>
          <a:xfrm>
            <a:off x="731520" y="1828800"/>
            <a:ext cx="548640" cy="457200"/>
          </a:xfrm>
          <a:prstGeom prst="rect">
            <a:avLst/>
          </a:prstGeom>
          <a:noFill/>
          <a:ln/>
        </p:spPr>
        <p:txBody>
          <a:bodyPr wrap="square" rtlCol="0" anchor="ctr"/>
          <a:lstStyle/>
          <a:p>
            <a:pPr indent="0" marL="0">
              <a:buNone/>
            </a:pPr>
            <a:r>
              <a:rPr lang="en-US" sz="2000" b="1" dirty="0">
                <a:solidFill>
                  <a:srgbClr val="F2A93B"/>
                </a:solidFill>
                <a:latin typeface="Cambria" pitchFamily="34" charset="0"/>
                <a:ea typeface="Cambria" pitchFamily="34" charset="-122"/>
                <a:cs typeface="Cambria" pitchFamily="34" charset="-120"/>
              </a:rPr>
              <a:t>1</a:t>
            </a:r>
            <a:endParaRPr lang="en-US" sz="2000" dirty="0"/>
          </a:p>
        </p:txBody>
      </p:sp>
      <p:sp>
        <p:nvSpPr>
          <p:cNvPr id="6" name="Text 4"/>
          <p:cNvSpPr/>
          <p:nvPr/>
        </p:nvSpPr>
        <p:spPr>
          <a:xfrm>
            <a:off x="731520" y="2286000"/>
            <a:ext cx="2286000" cy="457200"/>
          </a:xfrm>
          <a:prstGeom prst="rect">
            <a:avLst/>
          </a:prstGeom>
          <a:noFill/>
          <a:ln/>
        </p:spPr>
        <p:txBody>
          <a:bodyPr wrap="square" rtlCol="0" anchor="t"/>
          <a:lstStyle/>
          <a:p>
            <a:pPr indent="0" marL="0">
              <a:buNone/>
            </a:pPr>
            <a:r>
              <a:rPr lang="en-US" sz="1250" b="1" dirty="0">
                <a:solidFill>
                  <a:srgbClr val="FFFFFF"/>
                </a:solidFill>
                <a:latin typeface="Cambria" pitchFamily="34" charset="0"/>
                <a:ea typeface="Cambria" pitchFamily="34" charset="-122"/>
                <a:cs typeface="Cambria" pitchFamily="34" charset="-120"/>
              </a:rPr>
              <a:t>Eye — Custom CNN</a:t>
            </a:r>
            <a:endParaRPr lang="en-US" sz="1250" dirty="0"/>
          </a:p>
        </p:txBody>
      </p:sp>
      <p:sp>
        <p:nvSpPr>
          <p:cNvPr id="7" name="Text 5"/>
          <p:cNvSpPr/>
          <p:nvPr/>
        </p:nvSpPr>
        <p:spPr>
          <a:xfrm>
            <a:off x="731520" y="2715768"/>
            <a:ext cx="2286000" cy="274320"/>
          </a:xfrm>
          <a:prstGeom prst="rect">
            <a:avLst/>
          </a:prstGeom>
          <a:noFill/>
          <a:ln/>
        </p:spPr>
        <p:txBody>
          <a:bodyPr wrap="square" rtlCol="0" anchor="ctr"/>
          <a:lstStyle/>
          <a:p>
            <a:pPr indent="0" marL="0">
              <a:buNone/>
            </a:pPr>
            <a:r>
              <a:rPr lang="en-US" sz="950" dirty="0">
                <a:solidFill>
                  <a:srgbClr val="E4EBF0"/>
                </a:solidFill>
                <a:latin typeface="Calibri" pitchFamily="34" charset="0"/>
                <a:ea typeface="Calibri" pitchFamily="34" charset="-122"/>
                <a:cs typeface="Calibri" pitchFamily="34" charset="-120"/>
              </a:rPr>
              <a:t>1,016 train images</a:t>
            </a:r>
            <a:endParaRPr lang="en-US" sz="950" dirty="0"/>
          </a:p>
        </p:txBody>
      </p:sp>
      <p:sp>
        <p:nvSpPr>
          <p:cNvPr id="8" name="Shape 6"/>
          <p:cNvSpPr/>
          <p:nvPr/>
        </p:nvSpPr>
        <p:spPr>
          <a:xfrm>
            <a:off x="3374136" y="1691640"/>
            <a:ext cx="2651760" cy="1371600"/>
          </a:xfrm>
          <a:prstGeom prst="roundRect">
            <a:avLst>
              <a:gd name="adj" fmla="val 5333"/>
            </a:avLst>
          </a:prstGeom>
          <a:solidFill>
            <a:srgbClr val="1B2A4A"/>
          </a:solidFill>
          <a:ln/>
        </p:spPr>
      </p:sp>
      <p:sp>
        <p:nvSpPr>
          <p:cNvPr id="9" name="Text 7"/>
          <p:cNvSpPr/>
          <p:nvPr/>
        </p:nvSpPr>
        <p:spPr>
          <a:xfrm>
            <a:off x="3557016" y="1828800"/>
            <a:ext cx="548640" cy="457200"/>
          </a:xfrm>
          <a:prstGeom prst="rect">
            <a:avLst/>
          </a:prstGeom>
          <a:noFill/>
          <a:ln/>
        </p:spPr>
        <p:txBody>
          <a:bodyPr wrap="square" rtlCol="0" anchor="ctr"/>
          <a:lstStyle/>
          <a:p>
            <a:pPr indent="0" marL="0">
              <a:buNone/>
            </a:pPr>
            <a:r>
              <a:rPr lang="en-US" sz="2000" b="1" dirty="0">
                <a:solidFill>
                  <a:srgbClr val="F2A93B"/>
                </a:solidFill>
                <a:latin typeface="Cambria" pitchFamily="34" charset="0"/>
                <a:ea typeface="Cambria" pitchFamily="34" charset="-122"/>
                <a:cs typeface="Cambria" pitchFamily="34" charset="-120"/>
              </a:rPr>
              <a:t>2</a:t>
            </a:r>
            <a:endParaRPr lang="en-US" sz="2000" dirty="0"/>
          </a:p>
        </p:txBody>
      </p:sp>
      <p:sp>
        <p:nvSpPr>
          <p:cNvPr id="10" name="Text 8"/>
          <p:cNvSpPr/>
          <p:nvPr/>
        </p:nvSpPr>
        <p:spPr>
          <a:xfrm>
            <a:off x="3557016" y="2286000"/>
            <a:ext cx="2286000" cy="457200"/>
          </a:xfrm>
          <a:prstGeom prst="rect">
            <a:avLst/>
          </a:prstGeom>
          <a:noFill/>
          <a:ln/>
        </p:spPr>
        <p:txBody>
          <a:bodyPr wrap="square" rtlCol="0" anchor="t"/>
          <a:lstStyle/>
          <a:p>
            <a:pPr indent="0" marL="0">
              <a:buNone/>
            </a:pPr>
            <a:r>
              <a:rPr lang="en-US" sz="1250" b="1" dirty="0">
                <a:solidFill>
                  <a:srgbClr val="FFFFFF"/>
                </a:solidFill>
                <a:latin typeface="Cambria" pitchFamily="34" charset="0"/>
                <a:ea typeface="Cambria" pitchFamily="34" charset="-122"/>
                <a:cs typeface="Cambria" pitchFamily="34" charset="-120"/>
              </a:rPr>
              <a:t>Eye — MobileNetV2</a:t>
            </a:r>
            <a:endParaRPr lang="en-US" sz="1250" dirty="0"/>
          </a:p>
        </p:txBody>
      </p:sp>
      <p:sp>
        <p:nvSpPr>
          <p:cNvPr id="11" name="Text 9"/>
          <p:cNvSpPr/>
          <p:nvPr/>
        </p:nvSpPr>
        <p:spPr>
          <a:xfrm>
            <a:off x="3557016" y="2715768"/>
            <a:ext cx="2286000" cy="274320"/>
          </a:xfrm>
          <a:prstGeom prst="rect">
            <a:avLst/>
          </a:prstGeom>
          <a:noFill/>
          <a:ln/>
        </p:spPr>
        <p:txBody>
          <a:bodyPr wrap="square" rtlCol="0" anchor="ctr"/>
          <a:lstStyle/>
          <a:p>
            <a:pPr indent="0" marL="0">
              <a:buNone/>
            </a:pPr>
            <a:r>
              <a:rPr lang="en-US" sz="950" dirty="0">
                <a:solidFill>
                  <a:srgbClr val="E4EBF0"/>
                </a:solidFill>
                <a:latin typeface="Calibri" pitchFamily="34" charset="0"/>
                <a:ea typeface="Calibri" pitchFamily="34" charset="-122"/>
                <a:cs typeface="Calibri" pitchFamily="34" charset="-120"/>
              </a:rPr>
              <a:t>1,016 train images</a:t>
            </a:r>
            <a:endParaRPr lang="en-US" sz="950" dirty="0"/>
          </a:p>
        </p:txBody>
      </p:sp>
      <p:sp>
        <p:nvSpPr>
          <p:cNvPr id="12" name="Shape 10"/>
          <p:cNvSpPr/>
          <p:nvPr/>
        </p:nvSpPr>
        <p:spPr>
          <a:xfrm>
            <a:off x="6199632" y="1691640"/>
            <a:ext cx="2651760" cy="1371600"/>
          </a:xfrm>
          <a:prstGeom prst="roundRect">
            <a:avLst>
              <a:gd name="adj" fmla="val 5333"/>
            </a:avLst>
          </a:prstGeom>
          <a:solidFill>
            <a:srgbClr val="2E86AB"/>
          </a:solidFill>
          <a:ln/>
        </p:spPr>
      </p:sp>
      <p:sp>
        <p:nvSpPr>
          <p:cNvPr id="13" name="Text 11"/>
          <p:cNvSpPr/>
          <p:nvPr/>
        </p:nvSpPr>
        <p:spPr>
          <a:xfrm>
            <a:off x="6382512" y="1828800"/>
            <a:ext cx="548640" cy="457200"/>
          </a:xfrm>
          <a:prstGeom prst="rect">
            <a:avLst/>
          </a:prstGeom>
          <a:noFill/>
          <a:ln/>
        </p:spPr>
        <p:txBody>
          <a:bodyPr wrap="square" rtlCol="0" anchor="ctr"/>
          <a:lstStyle/>
          <a:p>
            <a:pPr indent="0" marL="0">
              <a:buNone/>
            </a:pPr>
            <a:r>
              <a:rPr lang="en-US" sz="2000" b="1" dirty="0">
                <a:solidFill>
                  <a:srgbClr val="F2A93B"/>
                </a:solidFill>
                <a:latin typeface="Cambria" pitchFamily="34" charset="0"/>
                <a:ea typeface="Cambria" pitchFamily="34" charset="-122"/>
                <a:cs typeface="Cambria" pitchFamily="34" charset="-120"/>
              </a:rPr>
              <a:t>3</a:t>
            </a:r>
            <a:endParaRPr lang="en-US" sz="2000" dirty="0"/>
          </a:p>
        </p:txBody>
      </p:sp>
      <p:sp>
        <p:nvSpPr>
          <p:cNvPr id="14" name="Text 12"/>
          <p:cNvSpPr/>
          <p:nvPr/>
        </p:nvSpPr>
        <p:spPr>
          <a:xfrm>
            <a:off x="6382512" y="2286000"/>
            <a:ext cx="2286000" cy="457200"/>
          </a:xfrm>
          <a:prstGeom prst="rect">
            <a:avLst/>
          </a:prstGeom>
          <a:noFill/>
          <a:ln/>
        </p:spPr>
        <p:txBody>
          <a:bodyPr wrap="square" rtlCol="0" anchor="t"/>
          <a:lstStyle/>
          <a:p>
            <a:pPr indent="0" marL="0">
              <a:buNone/>
            </a:pPr>
            <a:r>
              <a:rPr lang="en-US" sz="1250" b="1" dirty="0">
                <a:solidFill>
                  <a:srgbClr val="FFFFFF"/>
                </a:solidFill>
                <a:latin typeface="Cambria" pitchFamily="34" charset="0"/>
                <a:ea typeface="Cambria" pitchFamily="34" charset="-122"/>
                <a:cs typeface="Cambria" pitchFamily="34" charset="-120"/>
              </a:rPr>
              <a:t>Mouth — Custom CNN</a:t>
            </a:r>
            <a:endParaRPr lang="en-US" sz="1250" dirty="0"/>
          </a:p>
        </p:txBody>
      </p:sp>
      <p:sp>
        <p:nvSpPr>
          <p:cNvPr id="15" name="Text 13"/>
          <p:cNvSpPr/>
          <p:nvPr/>
        </p:nvSpPr>
        <p:spPr>
          <a:xfrm>
            <a:off x="6382512" y="2715768"/>
            <a:ext cx="2286000" cy="274320"/>
          </a:xfrm>
          <a:prstGeom prst="rect">
            <a:avLst/>
          </a:prstGeom>
          <a:noFill/>
          <a:ln/>
        </p:spPr>
        <p:txBody>
          <a:bodyPr wrap="square" rtlCol="0" anchor="ctr"/>
          <a:lstStyle/>
          <a:p>
            <a:pPr indent="0" marL="0">
              <a:buNone/>
            </a:pPr>
            <a:r>
              <a:rPr lang="en-US" sz="950" dirty="0">
                <a:solidFill>
                  <a:srgbClr val="E4EBF0"/>
                </a:solidFill>
                <a:latin typeface="Calibri" pitchFamily="34" charset="0"/>
                <a:ea typeface="Calibri" pitchFamily="34" charset="-122"/>
                <a:cs typeface="Calibri" pitchFamily="34" charset="-120"/>
              </a:rPr>
              <a:t>1,013 train images</a:t>
            </a:r>
            <a:endParaRPr lang="en-US" sz="950" dirty="0"/>
          </a:p>
        </p:txBody>
      </p:sp>
      <p:sp>
        <p:nvSpPr>
          <p:cNvPr id="16" name="Shape 14"/>
          <p:cNvSpPr/>
          <p:nvPr/>
        </p:nvSpPr>
        <p:spPr>
          <a:xfrm>
            <a:off x="9025128" y="1691640"/>
            <a:ext cx="2651760" cy="1371600"/>
          </a:xfrm>
          <a:prstGeom prst="roundRect">
            <a:avLst>
              <a:gd name="adj" fmla="val 5333"/>
            </a:avLst>
          </a:prstGeom>
          <a:solidFill>
            <a:srgbClr val="2E86AB"/>
          </a:solidFill>
          <a:ln/>
        </p:spPr>
      </p:sp>
      <p:sp>
        <p:nvSpPr>
          <p:cNvPr id="17" name="Text 15"/>
          <p:cNvSpPr/>
          <p:nvPr/>
        </p:nvSpPr>
        <p:spPr>
          <a:xfrm>
            <a:off x="9208008" y="1828800"/>
            <a:ext cx="548640" cy="457200"/>
          </a:xfrm>
          <a:prstGeom prst="rect">
            <a:avLst/>
          </a:prstGeom>
          <a:noFill/>
          <a:ln/>
        </p:spPr>
        <p:txBody>
          <a:bodyPr wrap="square" rtlCol="0" anchor="ctr"/>
          <a:lstStyle/>
          <a:p>
            <a:pPr indent="0" marL="0">
              <a:buNone/>
            </a:pPr>
            <a:r>
              <a:rPr lang="en-US" sz="2000" b="1" dirty="0">
                <a:solidFill>
                  <a:srgbClr val="F2A93B"/>
                </a:solidFill>
                <a:latin typeface="Cambria" pitchFamily="34" charset="0"/>
                <a:ea typeface="Cambria" pitchFamily="34" charset="-122"/>
                <a:cs typeface="Cambria" pitchFamily="34" charset="-120"/>
              </a:rPr>
              <a:t>4</a:t>
            </a:r>
            <a:endParaRPr lang="en-US" sz="2000" dirty="0"/>
          </a:p>
        </p:txBody>
      </p:sp>
      <p:sp>
        <p:nvSpPr>
          <p:cNvPr id="18" name="Text 16"/>
          <p:cNvSpPr/>
          <p:nvPr/>
        </p:nvSpPr>
        <p:spPr>
          <a:xfrm>
            <a:off x="9208008" y="2286000"/>
            <a:ext cx="2286000" cy="457200"/>
          </a:xfrm>
          <a:prstGeom prst="rect">
            <a:avLst/>
          </a:prstGeom>
          <a:noFill/>
          <a:ln/>
        </p:spPr>
        <p:txBody>
          <a:bodyPr wrap="square" rtlCol="0" anchor="t"/>
          <a:lstStyle/>
          <a:p>
            <a:pPr indent="0" marL="0">
              <a:buNone/>
            </a:pPr>
            <a:r>
              <a:rPr lang="en-US" sz="1250" b="1" dirty="0">
                <a:solidFill>
                  <a:srgbClr val="FFFFFF"/>
                </a:solidFill>
                <a:latin typeface="Cambria" pitchFamily="34" charset="0"/>
                <a:ea typeface="Cambria" pitchFamily="34" charset="-122"/>
                <a:cs typeface="Cambria" pitchFamily="34" charset="-120"/>
              </a:rPr>
              <a:t>Mouth — MobileNetV2</a:t>
            </a:r>
            <a:endParaRPr lang="en-US" sz="1250" dirty="0"/>
          </a:p>
        </p:txBody>
      </p:sp>
      <p:sp>
        <p:nvSpPr>
          <p:cNvPr id="19" name="Text 17"/>
          <p:cNvSpPr/>
          <p:nvPr/>
        </p:nvSpPr>
        <p:spPr>
          <a:xfrm>
            <a:off x="9208008" y="2715768"/>
            <a:ext cx="2286000" cy="274320"/>
          </a:xfrm>
          <a:prstGeom prst="rect">
            <a:avLst/>
          </a:prstGeom>
          <a:noFill/>
          <a:ln/>
        </p:spPr>
        <p:txBody>
          <a:bodyPr wrap="square" rtlCol="0" anchor="ctr"/>
          <a:lstStyle/>
          <a:p>
            <a:pPr indent="0" marL="0">
              <a:buNone/>
            </a:pPr>
            <a:r>
              <a:rPr lang="en-US" sz="950" dirty="0">
                <a:solidFill>
                  <a:srgbClr val="E4EBF0"/>
                </a:solidFill>
                <a:latin typeface="Calibri" pitchFamily="34" charset="0"/>
                <a:ea typeface="Calibri" pitchFamily="34" charset="-122"/>
                <a:cs typeface="Calibri" pitchFamily="34" charset="-120"/>
              </a:rPr>
              <a:t>1,013 train images</a:t>
            </a:r>
            <a:endParaRPr lang="en-US" sz="950" dirty="0"/>
          </a:p>
        </p:txBody>
      </p:sp>
      <p:sp>
        <p:nvSpPr>
          <p:cNvPr id="20" name="Text 18"/>
          <p:cNvSpPr/>
          <p:nvPr/>
        </p:nvSpPr>
        <p:spPr>
          <a:xfrm>
            <a:off x="548640" y="3383280"/>
            <a:ext cx="5394960" cy="320040"/>
          </a:xfrm>
          <a:prstGeom prst="rect">
            <a:avLst/>
          </a:prstGeom>
          <a:noFill/>
          <a:ln/>
        </p:spPr>
        <p:txBody>
          <a:bodyPr wrap="square" rtlCol="0" anchor="ctr"/>
          <a:lstStyle/>
          <a:p>
            <a:pPr indent="0" marL="0">
              <a:buNone/>
            </a:pPr>
            <a:r>
              <a:rPr lang="en-US" sz="1500" b="1" dirty="0">
                <a:solidFill>
                  <a:srgbClr val="1B2430"/>
                </a:solidFill>
                <a:latin typeface="Cambria" pitchFamily="34" charset="0"/>
                <a:ea typeface="Cambria" pitchFamily="34" charset="-122"/>
                <a:cs typeface="Cambria" pitchFamily="34" charset="-120"/>
              </a:rPr>
              <a:t>Hyperparameters</a:t>
            </a:r>
            <a:endParaRPr lang="en-US" sz="1500" dirty="0"/>
          </a:p>
        </p:txBody>
      </p:sp>
      <p:sp>
        <p:nvSpPr>
          <p:cNvPr id="21" name="Shape 19"/>
          <p:cNvSpPr/>
          <p:nvPr/>
        </p:nvSpPr>
        <p:spPr>
          <a:xfrm>
            <a:off x="548640" y="3858768"/>
            <a:ext cx="100584" cy="100584"/>
          </a:xfrm>
          <a:prstGeom prst="ellipse">
            <a:avLst/>
          </a:prstGeom>
          <a:solidFill>
            <a:srgbClr val="F2A93B"/>
          </a:solidFill>
          <a:ln/>
        </p:spPr>
      </p:sp>
      <p:sp>
        <p:nvSpPr>
          <p:cNvPr id="22" name="Text 20"/>
          <p:cNvSpPr/>
          <p:nvPr/>
        </p:nvSpPr>
        <p:spPr>
          <a:xfrm>
            <a:off x="804672" y="3739896"/>
            <a:ext cx="2377440" cy="365760"/>
          </a:xfrm>
          <a:prstGeom prst="rect">
            <a:avLst/>
          </a:prstGeom>
          <a:noFill/>
          <a:ln/>
        </p:spPr>
        <p:txBody>
          <a:bodyPr wrap="square" rtlCol="0" anchor="ctr"/>
          <a:lstStyle/>
          <a:p>
            <a:pPr indent="0" marL="0">
              <a:buNone/>
            </a:pPr>
            <a:r>
              <a:rPr lang="en-US" sz="1200" b="1" dirty="0">
                <a:solidFill>
                  <a:srgbClr val="1B2430"/>
                </a:solidFill>
                <a:latin typeface="Calibri" pitchFamily="34" charset="0"/>
                <a:ea typeface="Calibri" pitchFamily="34" charset="-122"/>
                <a:cs typeface="Calibri" pitchFamily="34" charset="-120"/>
              </a:rPr>
              <a:t>Optimizer</a:t>
            </a:r>
            <a:endParaRPr lang="en-US" sz="1200" dirty="0"/>
          </a:p>
        </p:txBody>
      </p:sp>
      <p:sp>
        <p:nvSpPr>
          <p:cNvPr id="23" name="Text 21"/>
          <p:cNvSpPr/>
          <p:nvPr/>
        </p:nvSpPr>
        <p:spPr>
          <a:xfrm>
            <a:off x="3200400" y="3739896"/>
            <a:ext cx="2743200" cy="365760"/>
          </a:xfrm>
          <a:prstGeom prst="rect">
            <a:avLst/>
          </a:prstGeom>
          <a:noFill/>
          <a:ln/>
        </p:spPr>
        <p:txBody>
          <a:bodyPr wrap="square" rtlCol="0" anchor="ctr"/>
          <a:lstStyle/>
          <a:p>
            <a:pPr indent="0" marL="0">
              <a:buNone/>
            </a:pPr>
            <a:r>
              <a:rPr lang="en-US" sz="1150" dirty="0">
                <a:solidFill>
                  <a:srgbClr val="5C6773"/>
                </a:solidFill>
                <a:latin typeface="Calibri" pitchFamily="34" charset="0"/>
                <a:ea typeface="Calibri" pitchFamily="34" charset="-122"/>
                <a:cs typeface="Calibri" pitchFamily="34" charset="-120"/>
              </a:rPr>
              <a:t>Adam</a:t>
            </a:r>
            <a:endParaRPr lang="en-US" sz="1150" dirty="0"/>
          </a:p>
        </p:txBody>
      </p:sp>
      <p:sp>
        <p:nvSpPr>
          <p:cNvPr id="24" name="Shape 22"/>
          <p:cNvSpPr/>
          <p:nvPr/>
        </p:nvSpPr>
        <p:spPr>
          <a:xfrm>
            <a:off x="548640" y="4288536"/>
            <a:ext cx="100584" cy="100584"/>
          </a:xfrm>
          <a:prstGeom prst="ellipse">
            <a:avLst/>
          </a:prstGeom>
          <a:solidFill>
            <a:srgbClr val="F2A93B"/>
          </a:solidFill>
          <a:ln/>
        </p:spPr>
      </p:sp>
      <p:sp>
        <p:nvSpPr>
          <p:cNvPr id="25" name="Text 23"/>
          <p:cNvSpPr/>
          <p:nvPr/>
        </p:nvSpPr>
        <p:spPr>
          <a:xfrm>
            <a:off x="804672" y="4169664"/>
            <a:ext cx="2377440" cy="365760"/>
          </a:xfrm>
          <a:prstGeom prst="rect">
            <a:avLst/>
          </a:prstGeom>
          <a:noFill/>
          <a:ln/>
        </p:spPr>
        <p:txBody>
          <a:bodyPr wrap="square" rtlCol="0" anchor="ctr"/>
          <a:lstStyle/>
          <a:p>
            <a:pPr indent="0" marL="0">
              <a:buNone/>
            </a:pPr>
            <a:r>
              <a:rPr lang="en-US" sz="1200" b="1" dirty="0">
                <a:solidFill>
                  <a:srgbClr val="1B2430"/>
                </a:solidFill>
                <a:latin typeface="Calibri" pitchFamily="34" charset="0"/>
                <a:ea typeface="Calibri" pitchFamily="34" charset="-122"/>
                <a:cs typeface="Calibri" pitchFamily="34" charset="-120"/>
              </a:rPr>
              <a:t>Learning rate</a:t>
            </a:r>
            <a:endParaRPr lang="en-US" sz="1200" dirty="0"/>
          </a:p>
        </p:txBody>
      </p:sp>
      <p:sp>
        <p:nvSpPr>
          <p:cNvPr id="26" name="Text 24"/>
          <p:cNvSpPr/>
          <p:nvPr/>
        </p:nvSpPr>
        <p:spPr>
          <a:xfrm>
            <a:off x="3200400" y="4169664"/>
            <a:ext cx="2743200" cy="365760"/>
          </a:xfrm>
          <a:prstGeom prst="rect">
            <a:avLst/>
          </a:prstGeom>
          <a:noFill/>
          <a:ln/>
        </p:spPr>
        <p:txBody>
          <a:bodyPr wrap="square" rtlCol="0" anchor="ctr"/>
          <a:lstStyle/>
          <a:p>
            <a:pPr indent="0" marL="0">
              <a:buNone/>
            </a:pPr>
            <a:r>
              <a:rPr lang="en-US" sz="1150" dirty="0">
                <a:solidFill>
                  <a:srgbClr val="5C6773"/>
                </a:solidFill>
                <a:latin typeface="Calibri" pitchFamily="34" charset="0"/>
                <a:ea typeface="Calibri" pitchFamily="34" charset="-122"/>
                <a:cs typeface="Calibri" pitchFamily="34" charset="-120"/>
              </a:rPr>
              <a:t>1e-3</a:t>
            </a:r>
            <a:endParaRPr lang="en-US" sz="1150" dirty="0"/>
          </a:p>
        </p:txBody>
      </p:sp>
      <p:sp>
        <p:nvSpPr>
          <p:cNvPr id="27" name="Shape 25"/>
          <p:cNvSpPr/>
          <p:nvPr/>
        </p:nvSpPr>
        <p:spPr>
          <a:xfrm>
            <a:off x="548640" y="4718304"/>
            <a:ext cx="100584" cy="100584"/>
          </a:xfrm>
          <a:prstGeom prst="ellipse">
            <a:avLst/>
          </a:prstGeom>
          <a:solidFill>
            <a:srgbClr val="F2A93B"/>
          </a:solidFill>
          <a:ln/>
        </p:spPr>
      </p:sp>
      <p:sp>
        <p:nvSpPr>
          <p:cNvPr id="28" name="Text 26"/>
          <p:cNvSpPr/>
          <p:nvPr/>
        </p:nvSpPr>
        <p:spPr>
          <a:xfrm>
            <a:off x="804672" y="4599432"/>
            <a:ext cx="2377440" cy="365760"/>
          </a:xfrm>
          <a:prstGeom prst="rect">
            <a:avLst/>
          </a:prstGeom>
          <a:noFill/>
          <a:ln/>
        </p:spPr>
        <p:txBody>
          <a:bodyPr wrap="square" rtlCol="0" anchor="ctr"/>
          <a:lstStyle/>
          <a:p>
            <a:pPr indent="0" marL="0">
              <a:buNone/>
            </a:pPr>
            <a:r>
              <a:rPr lang="en-US" sz="1200" b="1" dirty="0">
                <a:solidFill>
                  <a:srgbClr val="1B2430"/>
                </a:solidFill>
                <a:latin typeface="Calibri" pitchFamily="34" charset="0"/>
                <a:ea typeface="Calibri" pitchFamily="34" charset="-122"/>
                <a:cs typeface="Calibri" pitchFamily="34" charset="-120"/>
              </a:rPr>
              <a:t>Loss function</a:t>
            </a:r>
            <a:endParaRPr lang="en-US" sz="1200" dirty="0"/>
          </a:p>
        </p:txBody>
      </p:sp>
      <p:sp>
        <p:nvSpPr>
          <p:cNvPr id="29" name="Text 27"/>
          <p:cNvSpPr/>
          <p:nvPr/>
        </p:nvSpPr>
        <p:spPr>
          <a:xfrm>
            <a:off x="3200400" y="4599432"/>
            <a:ext cx="2743200" cy="365760"/>
          </a:xfrm>
          <a:prstGeom prst="rect">
            <a:avLst/>
          </a:prstGeom>
          <a:noFill/>
          <a:ln/>
        </p:spPr>
        <p:txBody>
          <a:bodyPr wrap="square" rtlCol="0" anchor="ctr"/>
          <a:lstStyle/>
          <a:p>
            <a:pPr indent="0" marL="0">
              <a:buNone/>
            </a:pPr>
            <a:r>
              <a:rPr lang="en-US" sz="1150" dirty="0">
                <a:solidFill>
                  <a:srgbClr val="5C6773"/>
                </a:solidFill>
                <a:latin typeface="Calibri" pitchFamily="34" charset="0"/>
                <a:ea typeface="Calibri" pitchFamily="34" charset="-122"/>
                <a:cs typeface="Calibri" pitchFamily="34" charset="-120"/>
              </a:rPr>
              <a:t>Binary cross-entropy</a:t>
            </a:r>
            <a:endParaRPr lang="en-US" sz="1150" dirty="0"/>
          </a:p>
        </p:txBody>
      </p:sp>
      <p:sp>
        <p:nvSpPr>
          <p:cNvPr id="30" name="Shape 28"/>
          <p:cNvSpPr/>
          <p:nvPr/>
        </p:nvSpPr>
        <p:spPr>
          <a:xfrm>
            <a:off x="548640" y="5148072"/>
            <a:ext cx="100584" cy="100584"/>
          </a:xfrm>
          <a:prstGeom prst="ellipse">
            <a:avLst/>
          </a:prstGeom>
          <a:solidFill>
            <a:srgbClr val="F2A93B"/>
          </a:solidFill>
          <a:ln/>
        </p:spPr>
      </p:sp>
      <p:sp>
        <p:nvSpPr>
          <p:cNvPr id="31" name="Text 29"/>
          <p:cNvSpPr/>
          <p:nvPr/>
        </p:nvSpPr>
        <p:spPr>
          <a:xfrm>
            <a:off x="804672" y="5029200"/>
            <a:ext cx="2377440" cy="365760"/>
          </a:xfrm>
          <a:prstGeom prst="rect">
            <a:avLst/>
          </a:prstGeom>
          <a:noFill/>
          <a:ln/>
        </p:spPr>
        <p:txBody>
          <a:bodyPr wrap="square" rtlCol="0" anchor="ctr"/>
          <a:lstStyle/>
          <a:p>
            <a:pPr indent="0" marL="0">
              <a:buNone/>
            </a:pPr>
            <a:r>
              <a:rPr lang="en-US" sz="1200" b="1" dirty="0">
                <a:solidFill>
                  <a:srgbClr val="1B2430"/>
                </a:solidFill>
                <a:latin typeface="Calibri" pitchFamily="34" charset="0"/>
                <a:ea typeface="Calibri" pitchFamily="34" charset="-122"/>
                <a:cs typeface="Calibri" pitchFamily="34" charset="-120"/>
              </a:rPr>
              <a:t>Max epochs</a:t>
            </a:r>
            <a:endParaRPr lang="en-US" sz="1200" dirty="0"/>
          </a:p>
        </p:txBody>
      </p:sp>
      <p:sp>
        <p:nvSpPr>
          <p:cNvPr id="32" name="Text 30"/>
          <p:cNvSpPr/>
          <p:nvPr/>
        </p:nvSpPr>
        <p:spPr>
          <a:xfrm>
            <a:off x="3200400" y="5029200"/>
            <a:ext cx="2743200" cy="365760"/>
          </a:xfrm>
          <a:prstGeom prst="rect">
            <a:avLst/>
          </a:prstGeom>
          <a:noFill/>
          <a:ln/>
        </p:spPr>
        <p:txBody>
          <a:bodyPr wrap="square" rtlCol="0" anchor="ctr"/>
          <a:lstStyle/>
          <a:p>
            <a:pPr indent="0" marL="0">
              <a:buNone/>
            </a:pPr>
            <a:r>
              <a:rPr lang="en-US" sz="1150" dirty="0">
                <a:solidFill>
                  <a:srgbClr val="5C6773"/>
                </a:solidFill>
                <a:latin typeface="Calibri" pitchFamily="34" charset="0"/>
                <a:ea typeface="Calibri" pitchFamily="34" charset="-122"/>
                <a:cs typeface="Calibri" pitchFamily="34" charset="-120"/>
              </a:rPr>
              <a:t>15</a:t>
            </a:r>
            <a:endParaRPr lang="en-US" sz="1150" dirty="0"/>
          </a:p>
        </p:txBody>
      </p:sp>
      <p:sp>
        <p:nvSpPr>
          <p:cNvPr id="33" name="Shape 31"/>
          <p:cNvSpPr/>
          <p:nvPr/>
        </p:nvSpPr>
        <p:spPr>
          <a:xfrm>
            <a:off x="548640" y="5577840"/>
            <a:ext cx="100584" cy="100584"/>
          </a:xfrm>
          <a:prstGeom prst="ellipse">
            <a:avLst/>
          </a:prstGeom>
          <a:solidFill>
            <a:srgbClr val="F2A93B"/>
          </a:solidFill>
          <a:ln/>
        </p:spPr>
      </p:sp>
      <p:sp>
        <p:nvSpPr>
          <p:cNvPr id="34" name="Text 32"/>
          <p:cNvSpPr/>
          <p:nvPr/>
        </p:nvSpPr>
        <p:spPr>
          <a:xfrm>
            <a:off x="804672" y="5458968"/>
            <a:ext cx="2377440" cy="365760"/>
          </a:xfrm>
          <a:prstGeom prst="rect">
            <a:avLst/>
          </a:prstGeom>
          <a:noFill/>
          <a:ln/>
        </p:spPr>
        <p:txBody>
          <a:bodyPr wrap="square" rtlCol="0" anchor="ctr"/>
          <a:lstStyle/>
          <a:p>
            <a:pPr indent="0" marL="0">
              <a:buNone/>
            </a:pPr>
            <a:r>
              <a:rPr lang="en-US" sz="1200" b="1" dirty="0">
                <a:solidFill>
                  <a:srgbClr val="1B2430"/>
                </a:solidFill>
                <a:latin typeface="Calibri" pitchFamily="34" charset="0"/>
                <a:ea typeface="Calibri" pitchFamily="34" charset="-122"/>
                <a:cs typeface="Calibri" pitchFamily="34" charset="-120"/>
              </a:rPr>
              <a:t>Early stopping</a:t>
            </a:r>
            <a:endParaRPr lang="en-US" sz="1200" dirty="0"/>
          </a:p>
        </p:txBody>
      </p:sp>
      <p:sp>
        <p:nvSpPr>
          <p:cNvPr id="35" name="Text 33"/>
          <p:cNvSpPr/>
          <p:nvPr/>
        </p:nvSpPr>
        <p:spPr>
          <a:xfrm>
            <a:off x="3200400" y="5458968"/>
            <a:ext cx="2743200" cy="365760"/>
          </a:xfrm>
          <a:prstGeom prst="rect">
            <a:avLst/>
          </a:prstGeom>
          <a:noFill/>
          <a:ln/>
        </p:spPr>
        <p:txBody>
          <a:bodyPr wrap="square" rtlCol="0" anchor="ctr"/>
          <a:lstStyle/>
          <a:p>
            <a:pPr indent="0" marL="0">
              <a:buNone/>
            </a:pPr>
            <a:r>
              <a:rPr lang="en-US" sz="1150" dirty="0">
                <a:solidFill>
                  <a:srgbClr val="5C6773"/>
                </a:solidFill>
                <a:latin typeface="Calibri" pitchFamily="34" charset="0"/>
                <a:ea typeface="Calibri" pitchFamily="34" charset="-122"/>
                <a:cs typeface="Calibri" pitchFamily="34" charset="-120"/>
              </a:rPr>
              <a:t>monitor = val_loss, patience = 4</a:t>
            </a:r>
            <a:endParaRPr lang="en-US" sz="1150" dirty="0"/>
          </a:p>
        </p:txBody>
      </p:sp>
      <p:sp>
        <p:nvSpPr>
          <p:cNvPr id="36" name="Shape 34"/>
          <p:cNvSpPr/>
          <p:nvPr/>
        </p:nvSpPr>
        <p:spPr>
          <a:xfrm>
            <a:off x="548640" y="6007608"/>
            <a:ext cx="100584" cy="100584"/>
          </a:xfrm>
          <a:prstGeom prst="ellipse">
            <a:avLst/>
          </a:prstGeom>
          <a:solidFill>
            <a:srgbClr val="F2A93B"/>
          </a:solidFill>
          <a:ln/>
        </p:spPr>
      </p:sp>
      <p:sp>
        <p:nvSpPr>
          <p:cNvPr id="37" name="Text 35"/>
          <p:cNvSpPr/>
          <p:nvPr/>
        </p:nvSpPr>
        <p:spPr>
          <a:xfrm>
            <a:off x="804672" y="5888736"/>
            <a:ext cx="2377440" cy="365760"/>
          </a:xfrm>
          <a:prstGeom prst="rect">
            <a:avLst/>
          </a:prstGeom>
          <a:noFill/>
          <a:ln/>
        </p:spPr>
        <p:txBody>
          <a:bodyPr wrap="square" rtlCol="0" anchor="ctr"/>
          <a:lstStyle/>
          <a:p>
            <a:pPr indent="0" marL="0">
              <a:buNone/>
            </a:pPr>
            <a:r>
              <a:rPr lang="en-US" sz="1200" b="1" dirty="0">
                <a:solidFill>
                  <a:srgbClr val="1B2430"/>
                </a:solidFill>
                <a:latin typeface="Calibri" pitchFamily="34" charset="0"/>
                <a:ea typeface="Calibri" pitchFamily="34" charset="-122"/>
                <a:cs typeface="Calibri" pitchFamily="34" charset="-120"/>
              </a:rPr>
              <a:t>Batch size</a:t>
            </a:r>
            <a:endParaRPr lang="en-US" sz="1200" dirty="0"/>
          </a:p>
        </p:txBody>
      </p:sp>
      <p:sp>
        <p:nvSpPr>
          <p:cNvPr id="38" name="Text 36"/>
          <p:cNvSpPr/>
          <p:nvPr/>
        </p:nvSpPr>
        <p:spPr>
          <a:xfrm>
            <a:off x="3200400" y="5888736"/>
            <a:ext cx="2743200" cy="365760"/>
          </a:xfrm>
          <a:prstGeom prst="rect">
            <a:avLst/>
          </a:prstGeom>
          <a:noFill/>
          <a:ln/>
        </p:spPr>
        <p:txBody>
          <a:bodyPr wrap="square" rtlCol="0" anchor="ctr"/>
          <a:lstStyle/>
          <a:p>
            <a:pPr indent="0" marL="0">
              <a:buNone/>
            </a:pPr>
            <a:r>
              <a:rPr lang="en-US" sz="1150" dirty="0">
                <a:solidFill>
                  <a:srgbClr val="5C6773"/>
                </a:solidFill>
                <a:latin typeface="Calibri" pitchFamily="34" charset="0"/>
                <a:ea typeface="Calibri" pitchFamily="34" charset="-122"/>
                <a:cs typeface="Calibri" pitchFamily="34" charset="-120"/>
              </a:rPr>
              <a:t>32</a:t>
            </a:r>
            <a:endParaRPr lang="en-US" sz="1150" dirty="0"/>
          </a:p>
        </p:txBody>
      </p:sp>
      <p:sp>
        <p:nvSpPr>
          <p:cNvPr id="39" name="Shape 37"/>
          <p:cNvSpPr/>
          <p:nvPr/>
        </p:nvSpPr>
        <p:spPr>
          <a:xfrm>
            <a:off x="6263640" y="3383280"/>
            <a:ext cx="5394960" cy="2788920"/>
          </a:xfrm>
          <a:prstGeom prst="roundRect">
            <a:avLst>
              <a:gd name="adj" fmla="val 2623"/>
            </a:avLst>
          </a:prstGeom>
          <a:solidFill>
            <a:srgbClr val="F3F6F8"/>
          </a:solidFill>
          <a:ln/>
        </p:spPr>
      </p:sp>
      <p:sp>
        <p:nvSpPr>
          <p:cNvPr id="40" name="Text 38"/>
          <p:cNvSpPr/>
          <p:nvPr/>
        </p:nvSpPr>
        <p:spPr>
          <a:xfrm>
            <a:off x="6492240" y="3547872"/>
            <a:ext cx="4937760" cy="320040"/>
          </a:xfrm>
          <a:prstGeom prst="rect">
            <a:avLst/>
          </a:prstGeom>
          <a:noFill/>
          <a:ln/>
        </p:spPr>
        <p:txBody>
          <a:bodyPr wrap="square" rtlCol="0" anchor="ctr"/>
          <a:lstStyle/>
          <a:p>
            <a:pPr indent="0" marL="0">
              <a:buNone/>
            </a:pPr>
            <a:r>
              <a:rPr lang="en-US" sz="1350" b="1" dirty="0">
                <a:solidFill>
                  <a:srgbClr val="1B2430"/>
                </a:solidFill>
                <a:latin typeface="Cambria" pitchFamily="34" charset="0"/>
                <a:ea typeface="Cambria" pitchFamily="34" charset="-122"/>
                <a:cs typeface="Cambria" pitchFamily="34" charset="-120"/>
              </a:rPr>
              <a:t>Key Training Notes</a:t>
            </a:r>
            <a:endParaRPr lang="en-US" sz="1350" dirty="0"/>
          </a:p>
        </p:txBody>
      </p:sp>
      <p:sp>
        <p:nvSpPr>
          <p:cNvPr id="41" name="Text 39"/>
          <p:cNvSpPr/>
          <p:nvPr/>
        </p:nvSpPr>
        <p:spPr>
          <a:xfrm>
            <a:off x="6492240" y="3931920"/>
            <a:ext cx="4937760" cy="2103120"/>
          </a:xfrm>
          <a:prstGeom prst="rect">
            <a:avLst/>
          </a:prstGeom>
          <a:noFill/>
          <a:ln/>
        </p:spPr>
        <p:txBody>
          <a:bodyPr wrap="square" rtlCol="0" anchor="ctr"/>
          <a:lstStyle/>
          <a:p>
            <a:pPr marL="342900" indent="-342900">
              <a:lnSpc>
                <a:spcPct val="120000"/>
              </a:lnSpc>
              <a:spcAft>
                <a:spcPts val="800"/>
              </a:spcAft>
              <a:buSzPct val="100000"/>
              <a:buChar char="•"/>
            </a:pPr>
            <a:r>
              <a:rPr lang="en-US" sz="1100" dirty="0">
                <a:solidFill>
                  <a:srgbClr val="5C6773"/>
                </a:solidFill>
                <a:latin typeface="Calibri" pitchFamily="34" charset="0"/>
                <a:ea typeface="Calibri" pitchFamily="34" charset="-122"/>
                <a:cs typeface="Calibri" pitchFamily="34" charset="-120"/>
              </a:rPr>
              <a:t>Base MobileNetV2 layers are frozen initially — only the classification head is trained.</a:t>
            </a:r>
            <a:endParaRPr lang="en-US" sz="1100" dirty="0"/>
          </a:p>
          <a:p>
            <a:pPr marL="342900" indent="-342900">
              <a:lnSpc>
                <a:spcPct val="120000"/>
              </a:lnSpc>
              <a:spcAft>
                <a:spcPts val="800"/>
              </a:spcAft>
              <a:buSzPct val="100000"/>
              <a:buChar char="•"/>
            </a:pPr>
            <a:r>
              <a:rPr lang="en-US" sz="1100" dirty="0">
                <a:solidFill>
                  <a:srgbClr val="5C6773"/>
                </a:solidFill>
                <a:latin typeface="Calibri" pitchFamily="34" charset="0"/>
                <a:ea typeface="Calibri" pitchFamily="34" charset="-122"/>
                <a:cs typeface="Calibri" pitchFamily="34" charset="-120"/>
              </a:rPr>
              <a:t>A fresh EarlyStopping callback is created per model run to avoid callback-state reuse across the four training jobs.</a:t>
            </a:r>
            <a:endParaRPr lang="en-US" sz="1100" dirty="0"/>
          </a:p>
          <a:p>
            <a:pPr marL="342900" indent="-342900">
              <a:lnSpc>
                <a:spcPct val="120000"/>
              </a:lnSpc>
              <a:spcAft>
                <a:spcPts val="800"/>
              </a:spcAft>
              <a:buSzPct val="100000"/>
              <a:buChar char="•"/>
            </a:pPr>
            <a:r>
              <a:rPr lang="en-US" sz="1100" dirty="0">
                <a:solidFill>
                  <a:srgbClr val="5C6773"/>
                </a:solidFill>
                <a:latin typeface="Calibri" pitchFamily="34" charset="0"/>
                <a:ea typeface="Calibri" pitchFamily="34" charset="-122"/>
                <a:cs typeface="Calibri" pitchFamily="34" charset="-120"/>
              </a:rPr>
              <a:t>restore_best_weights=True ensures the reported model uses its best validation checkpoint, not the final epoch.</a:t>
            </a:r>
            <a:endParaRPr lang="en-US" sz="1100" dirty="0"/>
          </a:p>
          <a:p>
            <a:pPr marL="342900" indent="-342900">
              <a:lnSpc>
                <a:spcPct val="120000"/>
              </a:lnSpc>
              <a:spcAft>
                <a:spcPts val="800"/>
              </a:spcAft>
              <a:buSzPct val="100000"/>
              <a:buChar char="•"/>
            </a:pPr>
            <a:r>
              <a:rPr lang="en-US" sz="1100" dirty="0">
                <a:solidFill>
                  <a:srgbClr val="5C6773"/>
                </a:solidFill>
                <a:latin typeface="Calibri" pitchFamily="34" charset="0"/>
                <a:ea typeface="Calibri" pitchFamily="34" charset="-122"/>
                <a:cs typeface="Calibri" pitchFamily="34" charset="-120"/>
              </a:rPr>
              <a:t>Augmentation layers are active only during training, not at inference/evaluation time.</a:t>
            </a:r>
            <a:endParaRPr lang="en-US" sz="1100" dirty="0"/>
          </a:p>
        </p:txBody>
      </p:sp>
      <p:sp>
        <p:nvSpPr>
          <p:cNvPr id="42" name="Text 40"/>
          <p:cNvSpPr/>
          <p:nvPr/>
        </p:nvSpPr>
        <p:spPr>
          <a:xfrm>
            <a:off x="457200" y="6492240"/>
            <a:ext cx="6400800" cy="274320"/>
          </a:xfrm>
          <a:prstGeom prst="rect">
            <a:avLst/>
          </a:prstGeom>
          <a:noFill/>
          <a:ln/>
        </p:spPr>
        <p:txBody>
          <a:bodyPr wrap="square" rtlCol="0" anchor="ctr"/>
          <a:lstStyle/>
          <a:p>
            <a:pPr algn="l" indent="0" marL="0">
              <a:buNone/>
            </a:pPr>
            <a:r>
              <a:rPr lang="en-US" sz="900" dirty="0">
                <a:solidFill>
                  <a:srgbClr val="5C6773"/>
                </a:solidFill>
                <a:latin typeface="Calibri" pitchFamily="34" charset="0"/>
                <a:ea typeface="Calibri" pitchFamily="34" charset="-122"/>
                <a:cs typeface="Calibri" pitchFamily="34" charset="-120"/>
              </a:rPr>
              <a:t>Driver Drowsiness Detection</a:t>
            </a:r>
            <a:endParaRPr lang="en-US" sz="900" dirty="0"/>
          </a:p>
        </p:txBody>
      </p:sp>
      <p:sp>
        <p:nvSpPr>
          <p:cNvPr id="43" name="Text 41"/>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C6773"/>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indent="0" marL="0">
              <a:buNone/>
            </a:pPr>
            <a:r>
              <a:rPr lang="en-US" sz="2900" b="1" dirty="0">
                <a:solidFill>
                  <a:srgbClr val="1B2430"/>
                </a:solidFill>
                <a:latin typeface="Cambria" pitchFamily="34" charset="0"/>
                <a:ea typeface="Cambria" pitchFamily="34" charset="-122"/>
                <a:cs typeface="Cambria" pitchFamily="34" charset="-120"/>
              </a:rPr>
              <a:t>Training Time Comparison</a:t>
            </a:r>
            <a:endParaRPr lang="en-US" sz="2900" dirty="0"/>
          </a:p>
        </p:txBody>
      </p:sp>
      <p:sp>
        <p:nvSpPr>
          <p:cNvPr id="3" name="Text 1"/>
          <p:cNvSpPr/>
          <p:nvPr/>
        </p:nvSpPr>
        <p:spPr>
          <a:xfrm>
            <a:off x="548640" y="960120"/>
            <a:ext cx="11064240" cy="365760"/>
          </a:xfrm>
          <a:prstGeom prst="rect">
            <a:avLst/>
          </a:prstGeom>
          <a:noFill/>
          <a:ln/>
        </p:spPr>
        <p:txBody>
          <a:bodyPr wrap="square" rtlCol="0" anchor="ctr"/>
          <a:lstStyle/>
          <a:p>
            <a:pPr indent="0" marL="0">
              <a:buNone/>
            </a:pPr>
            <a:r>
              <a:rPr lang="en-US" sz="1300" dirty="0">
                <a:solidFill>
                  <a:srgbClr val="5C6773"/>
                </a:solidFill>
                <a:latin typeface="Calibri" pitchFamily="34" charset="0"/>
                <a:ea typeface="Calibri" pitchFamily="34" charset="-122"/>
                <a:cs typeface="Calibri" pitchFamily="34" charset="-120"/>
              </a:rPr>
              <a:t>Wall-clock training time per model, with early stopping applied</a:t>
            </a:r>
            <a:endParaRPr lang="en-US" sz="1300" dirty="0"/>
          </a:p>
        </p:txBody>
      </p:sp>
      <p:graphicFrame>
        <p:nvGraphicFramePr>
          <p:cNvPr id="4" name="Chart 0" descr=""/>
          <p:cNvGraphicFramePr/>
          <p:nvPr/>
        </p:nvGraphicFramePr>
        <p:xfrm>
          <a:off x="640080" y="1691640"/>
          <a:ext cx="6949440" cy="429768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7818120" y="1737360"/>
            <a:ext cx="3749040" cy="320040"/>
          </a:xfrm>
          <a:prstGeom prst="rect">
            <a:avLst/>
          </a:prstGeom>
          <a:noFill/>
          <a:ln/>
        </p:spPr>
        <p:txBody>
          <a:bodyPr wrap="square" rtlCol="0" anchor="ctr"/>
          <a:lstStyle/>
          <a:p>
            <a:pPr indent="0" marL="0">
              <a:buNone/>
            </a:pPr>
            <a:r>
              <a:rPr lang="en-US" sz="1400" b="1" dirty="0">
                <a:solidFill>
                  <a:srgbClr val="1B2430"/>
                </a:solidFill>
                <a:latin typeface="Cambria" pitchFamily="34" charset="0"/>
                <a:ea typeface="Cambria" pitchFamily="34" charset="-122"/>
                <a:cs typeface="Cambria" pitchFamily="34" charset="-120"/>
              </a:rPr>
              <a:t>Observations</a:t>
            </a:r>
            <a:endParaRPr lang="en-US" sz="1400" dirty="0"/>
          </a:p>
        </p:txBody>
      </p:sp>
      <p:sp>
        <p:nvSpPr>
          <p:cNvPr id="6" name="Text 3"/>
          <p:cNvSpPr/>
          <p:nvPr/>
        </p:nvSpPr>
        <p:spPr>
          <a:xfrm>
            <a:off x="7818120" y="2148840"/>
            <a:ext cx="3749040" cy="3200400"/>
          </a:xfrm>
          <a:prstGeom prst="rect">
            <a:avLst/>
          </a:prstGeom>
          <a:noFill/>
          <a:ln/>
        </p:spPr>
        <p:txBody>
          <a:bodyPr wrap="square" rtlCol="0" anchor="ctr"/>
          <a:lstStyle/>
          <a:p>
            <a:pPr marL="342900" indent="-342900">
              <a:lnSpc>
                <a:spcPct val="125000"/>
              </a:lnSpc>
              <a:spcAft>
                <a:spcPts val="1000"/>
              </a:spcAft>
              <a:buSzPct val="100000"/>
              <a:buChar char="•"/>
            </a:pPr>
            <a:r>
              <a:rPr lang="en-US" sz="1150" dirty="0">
                <a:solidFill>
                  <a:srgbClr val="5C6773"/>
                </a:solidFill>
                <a:latin typeface="Calibri" pitchFamily="34" charset="0"/>
                <a:ea typeface="Calibri" pitchFamily="34" charset="-122"/>
                <a:cs typeface="Calibri" pitchFamily="34" charset="-120"/>
              </a:rPr>
              <a:t>Mouth MobileNetV2 took the longest (114.9s) despite a frozen base — likely more epochs before early stopping triggered.</a:t>
            </a:r>
            <a:endParaRPr lang="en-US" sz="1150" dirty="0"/>
          </a:p>
          <a:p>
            <a:pPr marL="342900" indent="-342900">
              <a:lnSpc>
                <a:spcPct val="125000"/>
              </a:lnSpc>
              <a:spcAft>
                <a:spcPts val="1000"/>
              </a:spcAft>
              <a:buSzPct val="100000"/>
              <a:buChar char="•"/>
            </a:pPr>
            <a:r>
              <a:rPr lang="en-US" sz="1150" dirty="0">
                <a:solidFill>
                  <a:srgbClr val="5C6773"/>
                </a:solidFill>
                <a:latin typeface="Calibri" pitchFamily="34" charset="0"/>
                <a:ea typeface="Calibri" pitchFamily="34" charset="-122"/>
                <a:cs typeface="Calibri" pitchFamily="34" charset="-120"/>
              </a:rPr>
              <a:t>Eye MobileNetV2 was fastest overall (79.6s), converging efficiently thanks to pretrained features.</a:t>
            </a:r>
            <a:endParaRPr lang="en-US" sz="1150" dirty="0"/>
          </a:p>
          <a:p>
            <a:pPr marL="342900" indent="-342900">
              <a:lnSpc>
                <a:spcPct val="125000"/>
              </a:lnSpc>
              <a:spcAft>
                <a:spcPts val="1000"/>
              </a:spcAft>
              <a:buSzPct val="100000"/>
              <a:buChar char="•"/>
            </a:pPr>
            <a:r>
              <a:rPr lang="en-US" sz="1150" dirty="0">
                <a:solidFill>
                  <a:srgbClr val="5C6773"/>
                </a:solidFill>
                <a:latin typeface="Calibri" pitchFamily="34" charset="0"/>
                <a:ea typeface="Calibri" pitchFamily="34" charset="-122"/>
                <a:cs typeface="Calibri" pitchFamily="34" charset="-120"/>
              </a:rPr>
              <a:t>All four models trained in well under 2 minutes each on a single T4 GPU.</a:t>
            </a:r>
            <a:endParaRPr lang="en-US" sz="1150" dirty="0"/>
          </a:p>
        </p:txBody>
      </p:sp>
      <p:sp>
        <p:nvSpPr>
          <p:cNvPr id="7" name="Text 4"/>
          <p:cNvSpPr/>
          <p:nvPr/>
        </p:nvSpPr>
        <p:spPr>
          <a:xfrm>
            <a:off x="457200" y="6492240"/>
            <a:ext cx="6400800" cy="274320"/>
          </a:xfrm>
          <a:prstGeom prst="rect">
            <a:avLst/>
          </a:prstGeom>
          <a:noFill/>
          <a:ln/>
        </p:spPr>
        <p:txBody>
          <a:bodyPr wrap="square" rtlCol="0" anchor="ctr"/>
          <a:lstStyle/>
          <a:p>
            <a:pPr algn="l" indent="0" marL="0">
              <a:buNone/>
            </a:pPr>
            <a:r>
              <a:rPr lang="en-US" sz="900" dirty="0">
                <a:solidFill>
                  <a:srgbClr val="5C6773"/>
                </a:solidFill>
                <a:latin typeface="Calibri" pitchFamily="34" charset="0"/>
                <a:ea typeface="Calibri" pitchFamily="34" charset="-122"/>
                <a:cs typeface="Calibri" pitchFamily="34" charset="-120"/>
              </a:rPr>
              <a:t>Driver Drowsiness Detection</a:t>
            </a:r>
            <a:endParaRPr lang="en-US" sz="900" dirty="0"/>
          </a:p>
        </p:txBody>
      </p:sp>
      <p:sp>
        <p:nvSpPr>
          <p:cNvPr id="8" name="Text 5"/>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C6773"/>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indent="0" marL="0">
              <a:buNone/>
            </a:pPr>
            <a:r>
              <a:rPr lang="en-US" sz="2900" b="1" dirty="0">
                <a:solidFill>
                  <a:srgbClr val="1B2430"/>
                </a:solidFill>
                <a:latin typeface="Cambria" pitchFamily="34" charset="0"/>
                <a:ea typeface="Cambria" pitchFamily="34" charset="-122"/>
                <a:cs typeface="Cambria" pitchFamily="34" charset="-120"/>
              </a:rPr>
              <a:t>Eye State Detection — Results</a:t>
            </a:r>
            <a:endParaRPr lang="en-US" sz="2900" dirty="0"/>
          </a:p>
        </p:txBody>
      </p:sp>
      <p:sp>
        <p:nvSpPr>
          <p:cNvPr id="3" name="Text 1"/>
          <p:cNvSpPr/>
          <p:nvPr/>
        </p:nvSpPr>
        <p:spPr>
          <a:xfrm>
            <a:off x="548640" y="960120"/>
            <a:ext cx="11064240" cy="365760"/>
          </a:xfrm>
          <a:prstGeom prst="rect">
            <a:avLst/>
          </a:prstGeom>
          <a:noFill/>
          <a:ln/>
        </p:spPr>
        <p:txBody>
          <a:bodyPr wrap="square" rtlCol="0" anchor="ctr"/>
          <a:lstStyle/>
          <a:p>
            <a:pPr indent="0" marL="0">
              <a:buNone/>
            </a:pPr>
            <a:r>
              <a:rPr lang="en-US" sz="1300" dirty="0">
                <a:solidFill>
                  <a:srgbClr val="5C6773"/>
                </a:solidFill>
                <a:latin typeface="Calibri" pitchFamily="34" charset="0"/>
                <a:ea typeface="Calibri" pitchFamily="34" charset="-122"/>
                <a:cs typeface="Calibri" pitchFamily="34" charset="-120"/>
              </a:rPr>
              <a:t>Closed vs Open, evaluated on 218 held-out test images</a:t>
            </a:r>
            <a:endParaRPr lang="en-US" sz="1300" dirty="0"/>
          </a:p>
        </p:txBody>
      </p:sp>
      <p:graphicFrame>
        <p:nvGraphicFramePr>
          <p:cNvPr id="4" name="Chart 0" descr=""/>
          <p:cNvGraphicFramePr/>
          <p:nvPr/>
        </p:nvGraphicFramePr>
        <p:xfrm>
          <a:off x="548640" y="1691640"/>
          <a:ext cx="6858000" cy="42062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635240" y="1691640"/>
            <a:ext cx="4023360" cy="4206240"/>
          </a:xfrm>
          <a:prstGeom prst="roundRect">
            <a:avLst>
              <a:gd name="adj" fmla="val 1818"/>
            </a:avLst>
          </a:prstGeom>
          <a:solidFill>
            <a:srgbClr val="2FA47A"/>
          </a:solidFill>
          <a:ln/>
        </p:spPr>
      </p:sp>
      <p:sp>
        <p:nvSpPr>
          <p:cNvPr id="6" name="Text 3"/>
          <p:cNvSpPr/>
          <p:nvPr/>
        </p:nvSpPr>
        <p:spPr>
          <a:xfrm>
            <a:off x="7863840" y="1874520"/>
            <a:ext cx="3566160" cy="320040"/>
          </a:xfrm>
          <a:prstGeom prst="rect">
            <a:avLst/>
          </a:prstGeom>
          <a:noFill/>
          <a:ln/>
        </p:spPr>
        <p:txBody>
          <a:bodyPr wrap="square" rtlCol="0" anchor="ctr"/>
          <a:lstStyle/>
          <a:p>
            <a:pPr indent="0" marL="0">
              <a:buNone/>
            </a:pPr>
            <a:r>
              <a:rPr lang="en-US" sz="1200" b="1" dirty="0">
                <a:solidFill>
                  <a:srgbClr val="0D2A1E"/>
                </a:solidFill>
                <a:latin typeface="Calibri" pitchFamily="34" charset="0"/>
                <a:ea typeface="Calibri" pitchFamily="34" charset="-122"/>
                <a:cs typeface="Calibri" pitchFamily="34" charset="-120"/>
              </a:rPr>
              <a:t>Winner: MobileNetV2</a:t>
            </a:r>
            <a:endParaRPr lang="en-US" sz="1200" dirty="0"/>
          </a:p>
        </p:txBody>
      </p:sp>
      <p:sp>
        <p:nvSpPr>
          <p:cNvPr id="7" name="Text 4"/>
          <p:cNvSpPr/>
          <p:nvPr/>
        </p:nvSpPr>
        <p:spPr>
          <a:xfrm>
            <a:off x="7863840" y="2194560"/>
            <a:ext cx="3566160" cy="685800"/>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99.08%</a:t>
            </a:r>
            <a:endParaRPr lang="en-US" sz="3400" dirty="0"/>
          </a:p>
        </p:txBody>
      </p:sp>
      <p:sp>
        <p:nvSpPr>
          <p:cNvPr id="8" name="Text 5"/>
          <p:cNvSpPr/>
          <p:nvPr/>
        </p:nvSpPr>
        <p:spPr>
          <a:xfrm>
            <a:off x="7863840" y="2880360"/>
            <a:ext cx="3566160" cy="365760"/>
          </a:xfrm>
          <a:prstGeom prst="rect">
            <a:avLst/>
          </a:prstGeom>
          <a:noFill/>
          <a:ln/>
        </p:spPr>
        <p:txBody>
          <a:bodyPr wrap="square" rtlCol="0" anchor="ctr"/>
          <a:lstStyle/>
          <a:p>
            <a:pPr indent="0" marL="0">
              <a:buNone/>
            </a:pPr>
            <a:r>
              <a:rPr lang="en-US" sz="1050" dirty="0">
                <a:solidFill>
                  <a:srgbClr val="E4F5EC"/>
                </a:solidFill>
                <a:latin typeface="Calibri" pitchFamily="34" charset="0"/>
                <a:ea typeface="Calibri" pitchFamily="34" charset="-122"/>
                <a:cs typeface="Calibri" pitchFamily="34" charset="-120"/>
              </a:rPr>
              <a:t>test accuracy — near-perfect on both classes</a:t>
            </a:r>
            <a:endParaRPr lang="en-US" sz="1050" dirty="0"/>
          </a:p>
        </p:txBody>
      </p:sp>
      <p:sp>
        <p:nvSpPr>
          <p:cNvPr id="9" name="Shape 6"/>
          <p:cNvSpPr/>
          <p:nvPr/>
        </p:nvSpPr>
        <p:spPr>
          <a:xfrm>
            <a:off x="7863840" y="3383280"/>
            <a:ext cx="3566160" cy="0"/>
          </a:xfrm>
          <a:prstGeom prst="line">
            <a:avLst/>
          </a:prstGeom>
          <a:noFill/>
          <a:ln w="12700">
            <a:solidFill>
              <a:srgbClr val="BEE6D4"/>
            </a:solidFill>
            <a:prstDash val="solid"/>
          </a:ln>
        </p:spPr>
      </p:sp>
      <p:sp>
        <p:nvSpPr>
          <p:cNvPr id="10" name="Text 7"/>
          <p:cNvSpPr/>
          <p:nvPr/>
        </p:nvSpPr>
        <p:spPr>
          <a:xfrm>
            <a:off x="7863840" y="3520440"/>
            <a:ext cx="3566160" cy="274320"/>
          </a:xfrm>
          <a:prstGeom prst="rect">
            <a:avLst/>
          </a:prstGeom>
          <a:noFill/>
          <a:ln/>
        </p:spPr>
        <p:txBody>
          <a:bodyPr wrap="square" rtlCol="0" anchor="ctr"/>
          <a:lstStyle/>
          <a:p>
            <a:pPr indent="0" marL="0">
              <a:buNone/>
            </a:pPr>
            <a:r>
              <a:rPr lang="en-US" sz="1050" b="1" dirty="0">
                <a:solidFill>
                  <a:srgbClr val="0D2A1E"/>
                </a:solidFill>
                <a:latin typeface="Calibri" pitchFamily="34" charset="0"/>
                <a:ea typeface="Calibri" pitchFamily="34" charset="-122"/>
                <a:cs typeface="Calibri" pitchFamily="34" charset="-120"/>
              </a:rPr>
              <a:t>Per-class (Custom CNN)</a:t>
            </a:r>
            <a:endParaRPr lang="en-US" sz="1050" dirty="0"/>
          </a:p>
        </p:txBody>
      </p:sp>
      <p:sp>
        <p:nvSpPr>
          <p:cNvPr id="11" name="Text 8"/>
          <p:cNvSpPr/>
          <p:nvPr/>
        </p:nvSpPr>
        <p:spPr>
          <a:xfrm>
            <a:off x="7863840" y="3794760"/>
            <a:ext cx="3566160" cy="548640"/>
          </a:xfrm>
          <a:prstGeom prst="rect">
            <a:avLst/>
          </a:prstGeom>
          <a:noFill/>
          <a:ln/>
        </p:spPr>
        <p:txBody>
          <a:bodyPr wrap="square" rtlCol="0" anchor="ctr"/>
          <a:lstStyle/>
          <a:p>
            <a:pPr indent="0" marL="0">
              <a:lnSpc>
                <a:spcPct val="130000"/>
              </a:lnSpc>
              <a:buNone/>
            </a:pPr>
            <a:r>
              <a:rPr lang="en-US" sz="1000" dirty="0">
                <a:solidFill>
                  <a:srgbClr val="E4F5EC"/>
                </a:solidFill>
                <a:latin typeface="Calibri" pitchFamily="34" charset="0"/>
                <a:ea typeface="Calibri" pitchFamily="34" charset="-122"/>
                <a:cs typeface="Calibri" pitchFamily="34" charset="-120"/>
              </a:rPr>
              <a:t>Closed: P 0.90 · R 0.84 · F1 0.87</a:t>
            </a:r>
            <a:endParaRPr lang="en-US" sz="1000" dirty="0"/>
          </a:p>
          <a:p>
            <a:pPr indent="0" marL="0">
              <a:lnSpc>
                <a:spcPct val="130000"/>
              </a:lnSpc>
              <a:buNone/>
            </a:pPr>
            <a:r>
              <a:rPr lang="en-US" sz="1000" dirty="0">
                <a:solidFill>
                  <a:srgbClr val="E4F5EC"/>
                </a:solidFill>
                <a:latin typeface="Calibri" pitchFamily="34" charset="0"/>
                <a:ea typeface="Calibri" pitchFamily="34" charset="-122"/>
                <a:cs typeface="Calibri" pitchFamily="34" charset="-120"/>
              </a:rPr>
              <a:t>Open: P 0.85 · R 0.91 · F1 0.88</a:t>
            </a:r>
            <a:endParaRPr lang="en-US" sz="1000" dirty="0"/>
          </a:p>
        </p:txBody>
      </p:sp>
      <p:sp>
        <p:nvSpPr>
          <p:cNvPr id="12" name="Text 9"/>
          <p:cNvSpPr/>
          <p:nvPr/>
        </p:nvSpPr>
        <p:spPr>
          <a:xfrm>
            <a:off x="7863840" y="4434840"/>
            <a:ext cx="3566160" cy="274320"/>
          </a:xfrm>
          <a:prstGeom prst="rect">
            <a:avLst/>
          </a:prstGeom>
          <a:noFill/>
          <a:ln/>
        </p:spPr>
        <p:txBody>
          <a:bodyPr wrap="square" rtlCol="0" anchor="ctr"/>
          <a:lstStyle/>
          <a:p>
            <a:pPr indent="0" marL="0">
              <a:buNone/>
            </a:pPr>
            <a:r>
              <a:rPr lang="en-US" sz="1050" b="1" dirty="0">
                <a:solidFill>
                  <a:srgbClr val="0D2A1E"/>
                </a:solidFill>
                <a:latin typeface="Calibri" pitchFamily="34" charset="0"/>
                <a:ea typeface="Calibri" pitchFamily="34" charset="-122"/>
                <a:cs typeface="Calibri" pitchFamily="34" charset="-120"/>
              </a:rPr>
              <a:t>Per-class (MobileNetV2)</a:t>
            </a:r>
            <a:endParaRPr lang="en-US" sz="1050" dirty="0"/>
          </a:p>
        </p:txBody>
      </p:sp>
      <p:sp>
        <p:nvSpPr>
          <p:cNvPr id="13" name="Text 10"/>
          <p:cNvSpPr/>
          <p:nvPr/>
        </p:nvSpPr>
        <p:spPr>
          <a:xfrm>
            <a:off x="7863840" y="4709160"/>
            <a:ext cx="3566160" cy="548640"/>
          </a:xfrm>
          <a:prstGeom prst="rect">
            <a:avLst/>
          </a:prstGeom>
          <a:noFill/>
          <a:ln/>
        </p:spPr>
        <p:txBody>
          <a:bodyPr wrap="square" rtlCol="0" anchor="ctr"/>
          <a:lstStyle/>
          <a:p>
            <a:pPr indent="0" marL="0">
              <a:lnSpc>
                <a:spcPct val="130000"/>
              </a:lnSpc>
              <a:buNone/>
            </a:pPr>
            <a:r>
              <a:rPr lang="en-US" sz="1000" dirty="0">
                <a:solidFill>
                  <a:srgbClr val="E4F5EC"/>
                </a:solidFill>
                <a:latin typeface="Calibri" pitchFamily="34" charset="0"/>
                <a:ea typeface="Calibri" pitchFamily="34" charset="-122"/>
                <a:cs typeface="Calibri" pitchFamily="34" charset="-120"/>
              </a:rPr>
              <a:t>Closed: P 0.99 · R 0.99 · F1 0.99</a:t>
            </a:r>
            <a:endParaRPr lang="en-US" sz="1000" dirty="0"/>
          </a:p>
          <a:p>
            <a:pPr indent="0" marL="0">
              <a:lnSpc>
                <a:spcPct val="130000"/>
              </a:lnSpc>
              <a:buNone/>
            </a:pPr>
            <a:r>
              <a:rPr lang="en-US" sz="1000" dirty="0">
                <a:solidFill>
                  <a:srgbClr val="E4F5EC"/>
                </a:solidFill>
                <a:latin typeface="Calibri" pitchFamily="34" charset="0"/>
                <a:ea typeface="Calibri" pitchFamily="34" charset="-122"/>
                <a:cs typeface="Calibri" pitchFamily="34" charset="-120"/>
              </a:rPr>
              <a:t>Open: P 0.99 · R 0.99 · F1 0.99</a:t>
            </a:r>
            <a:endParaRPr lang="en-US" sz="1000" dirty="0"/>
          </a:p>
        </p:txBody>
      </p:sp>
      <p:sp>
        <p:nvSpPr>
          <p:cNvPr id="14" name="Text 11"/>
          <p:cNvSpPr/>
          <p:nvPr/>
        </p:nvSpPr>
        <p:spPr>
          <a:xfrm>
            <a:off x="457200" y="6492240"/>
            <a:ext cx="6400800" cy="274320"/>
          </a:xfrm>
          <a:prstGeom prst="rect">
            <a:avLst/>
          </a:prstGeom>
          <a:noFill/>
          <a:ln/>
        </p:spPr>
        <p:txBody>
          <a:bodyPr wrap="square" rtlCol="0" anchor="ctr"/>
          <a:lstStyle/>
          <a:p>
            <a:pPr algn="l" indent="0" marL="0">
              <a:buNone/>
            </a:pPr>
            <a:r>
              <a:rPr lang="en-US" sz="900" dirty="0">
                <a:solidFill>
                  <a:srgbClr val="5C6773"/>
                </a:solidFill>
                <a:latin typeface="Calibri" pitchFamily="34" charset="0"/>
                <a:ea typeface="Calibri" pitchFamily="34" charset="-122"/>
                <a:cs typeface="Calibri" pitchFamily="34" charset="-120"/>
              </a:rPr>
              <a:t>Driver Drowsiness Detection</a:t>
            </a:r>
            <a:endParaRPr lang="en-US" sz="900" dirty="0"/>
          </a:p>
        </p:txBody>
      </p:sp>
      <p:sp>
        <p:nvSpPr>
          <p:cNvPr id="15" name="Text 12"/>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C6773"/>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indent="0" marL="0">
              <a:buNone/>
            </a:pPr>
            <a:r>
              <a:rPr lang="en-US" sz="2900" b="1" dirty="0">
                <a:solidFill>
                  <a:srgbClr val="1B2430"/>
                </a:solidFill>
                <a:latin typeface="Cambria" pitchFamily="34" charset="0"/>
                <a:ea typeface="Cambria" pitchFamily="34" charset="-122"/>
                <a:cs typeface="Cambria" pitchFamily="34" charset="-120"/>
              </a:rPr>
              <a:t>Mouth State (Yawn) Detection — Results</a:t>
            </a:r>
            <a:endParaRPr lang="en-US" sz="2900" dirty="0"/>
          </a:p>
        </p:txBody>
      </p:sp>
      <p:sp>
        <p:nvSpPr>
          <p:cNvPr id="3" name="Text 1"/>
          <p:cNvSpPr/>
          <p:nvPr/>
        </p:nvSpPr>
        <p:spPr>
          <a:xfrm>
            <a:off x="548640" y="960120"/>
            <a:ext cx="11064240" cy="365760"/>
          </a:xfrm>
          <a:prstGeom prst="rect">
            <a:avLst/>
          </a:prstGeom>
          <a:noFill/>
          <a:ln/>
        </p:spPr>
        <p:txBody>
          <a:bodyPr wrap="square" rtlCol="0" anchor="ctr"/>
          <a:lstStyle/>
          <a:p>
            <a:pPr indent="0" marL="0">
              <a:buNone/>
            </a:pPr>
            <a:r>
              <a:rPr lang="en-US" sz="1300" dirty="0">
                <a:solidFill>
                  <a:srgbClr val="5C6773"/>
                </a:solidFill>
                <a:latin typeface="Calibri" pitchFamily="34" charset="0"/>
                <a:ea typeface="Calibri" pitchFamily="34" charset="-122"/>
                <a:cs typeface="Calibri" pitchFamily="34" charset="-120"/>
              </a:rPr>
              <a:t>No Yawn vs Yawn, evaluated on 218 held-out test images</a:t>
            </a:r>
            <a:endParaRPr lang="en-US" sz="1300" dirty="0"/>
          </a:p>
        </p:txBody>
      </p:sp>
      <p:graphicFrame>
        <p:nvGraphicFramePr>
          <p:cNvPr id="4" name="Chart 0" descr=""/>
          <p:cNvGraphicFramePr/>
          <p:nvPr/>
        </p:nvGraphicFramePr>
        <p:xfrm>
          <a:off x="548640" y="1691640"/>
          <a:ext cx="6858000" cy="42062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635240" y="1691640"/>
            <a:ext cx="4023360" cy="4206240"/>
          </a:xfrm>
          <a:prstGeom prst="roundRect">
            <a:avLst>
              <a:gd name="adj" fmla="val 1818"/>
            </a:avLst>
          </a:prstGeom>
          <a:solidFill>
            <a:srgbClr val="0D1B2A"/>
          </a:solidFill>
          <a:ln/>
        </p:spPr>
      </p:sp>
      <p:sp>
        <p:nvSpPr>
          <p:cNvPr id="6" name="Text 3"/>
          <p:cNvSpPr/>
          <p:nvPr/>
        </p:nvSpPr>
        <p:spPr>
          <a:xfrm>
            <a:off x="7863840" y="1874520"/>
            <a:ext cx="3566160" cy="320040"/>
          </a:xfrm>
          <a:prstGeom prst="rect">
            <a:avLst/>
          </a:prstGeom>
          <a:noFill/>
          <a:ln/>
        </p:spPr>
        <p:txBody>
          <a:bodyPr wrap="square" rtlCol="0" anchor="ctr"/>
          <a:lstStyle/>
          <a:p>
            <a:pPr indent="0" marL="0">
              <a:buNone/>
            </a:pPr>
            <a:r>
              <a:rPr lang="en-US" sz="1200" b="1" dirty="0">
                <a:solidFill>
                  <a:srgbClr val="F2A93B"/>
                </a:solidFill>
                <a:latin typeface="Calibri" pitchFamily="34" charset="0"/>
                <a:ea typeface="Calibri" pitchFamily="34" charset="-122"/>
                <a:cs typeface="Calibri" pitchFamily="34" charset="-120"/>
              </a:rPr>
              <a:t>Weaker Task Overall</a:t>
            </a:r>
            <a:endParaRPr lang="en-US" sz="1200" dirty="0"/>
          </a:p>
        </p:txBody>
      </p:sp>
      <p:sp>
        <p:nvSpPr>
          <p:cNvPr id="7" name="Text 4"/>
          <p:cNvSpPr/>
          <p:nvPr/>
        </p:nvSpPr>
        <p:spPr>
          <a:xfrm>
            <a:off x="7863840" y="2194560"/>
            <a:ext cx="3566160" cy="685800"/>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72.94%</a:t>
            </a:r>
            <a:endParaRPr lang="en-US" sz="3400" dirty="0"/>
          </a:p>
        </p:txBody>
      </p:sp>
      <p:sp>
        <p:nvSpPr>
          <p:cNvPr id="8" name="Text 5"/>
          <p:cNvSpPr/>
          <p:nvPr/>
        </p:nvSpPr>
        <p:spPr>
          <a:xfrm>
            <a:off x="7863840" y="2880360"/>
            <a:ext cx="3566160" cy="502920"/>
          </a:xfrm>
          <a:prstGeom prst="rect">
            <a:avLst/>
          </a:prstGeom>
          <a:noFill/>
          <a:ln/>
        </p:spPr>
        <p:txBody>
          <a:bodyPr wrap="square" rtlCol="0" anchor="ctr"/>
          <a:lstStyle/>
          <a:p>
            <a:pPr indent="0" marL="0">
              <a:buNone/>
            </a:pPr>
            <a:r>
              <a:rPr lang="en-US" sz="1050" dirty="0">
                <a:solidFill>
                  <a:srgbClr val="C7D6E2"/>
                </a:solidFill>
                <a:latin typeface="Calibri" pitchFamily="34" charset="0"/>
                <a:ea typeface="Calibri" pitchFamily="34" charset="-122"/>
                <a:cs typeface="Calibri" pitchFamily="34" charset="-120"/>
              </a:rPr>
              <a:t>best test accuracy (MobileNetV2) — well below the eye task's 99%</a:t>
            </a:r>
            <a:endParaRPr lang="en-US" sz="1050" dirty="0"/>
          </a:p>
        </p:txBody>
      </p:sp>
      <p:sp>
        <p:nvSpPr>
          <p:cNvPr id="9" name="Shape 6"/>
          <p:cNvSpPr/>
          <p:nvPr/>
        </p:nvSpPr>
        <p:spPr>
          <a:xfrm>
            <a:off x="7863840" y="3520440"/>
            <a:ext cx="3566160" cy="0"/>
          </a:xfrm>
          <a:prstGeom prst="line">
            <a:avLst/>
          </a:prstGeom>
          <a:noFill/>
          <a:ln w="12700">
            <a:solidFill>
              <a:srgbClr val="2C4058"/>
            </a:solidFill>
            <a:prstDash val="solid"/>
          </a:ln>
        </p:spPr>
      </p:sp>
      <p:sp>
        <p:nvSpPr>
          <p:cNvPr id="10" name="Text 7"/>
          <p:cNvSpPr/>
          <p:nvPr/>
        </p:nvSpPr>
        <p:spPr>
          <a:xfrm>
            <a:off x="7863840" y="3657600"/>
            <a:ext cx="3566160" cy="777240"/>
          </a:xfrm>
          <a:prstGeom prst="rect">
            <a:avLst/>
          </a:prstGeom>
          <a:noFill/>
          <a:ln/>
        </p:spPr>
        <p:txBody>
          <a:bodyPr wrap="square" rtlCol="0" anchor="ctr"/>
          <a:lstStyle/>
          <a:p>
            <a:pPr indent="0" marL="0">
              <a:lnSpc>
                <a:spcPct val="120000"/>
              </a:lnSpc>
              <a:buNone/>
            </a:pPr>
            <a:r>
              <a:rPr lang="en-US" sz="1030" dirty="0">
                <a:solidFill>
                  <a:srgbClr val="D5E1EA"/>
                </a:solidFill>
                <a:latin typeface="Calibri" pitchFamily="34" charset="0"/>
                <a:ea typeface="Calibri" pitchFamily="34" charset="-122"/>
                <a:cs typeface="Calibri" pitchFamily="34" charset="-120"/>
              </a:rPr>
              <a:t>Custom CNN over-predicts Yawn (recall 0.86, precision 0.56) — many No-Yawn images misclassified as Yawn.</a:t>
            </a:r>
            <a:endParaRPr lang="en-US" sz="1030" dirty="0"/>
          </a:p>
        </p:txBody>
      </p:sp>
      <p:sp>
        <p:nvSpPr>
          <p:cNvPr id="11" name="Text 8"/>
          <p:cNvSpPr/>
          <p:nvPr/>
        </p:nvSpPr>
        <p:spPr>
          <a:xfrm>
            <a:off x="7863840" y="4526280"/>
            <a:ext cx="3566160" cy="822960"/>
          </a:xfrm>
          <a:prstGeom prst="rect">
            <a:avLst/>
          </a:prstGeom>
          <a:noFill/>
          <a:ln/>
        </p:spPr>
        <p:txBody>
          <a:bodyPr wrap="square" rtlCol="0" anchor="ctr"/>
          <a:lstStyle/>
          <a:p>
            <a:pPr indent="0" marL="0">
              <a:lnSpc>
                <a:spcPct val="120000"/>
              </a:lnSpc>
              <a:buNone/>
            </a:pPr>
            <a:r>
              <a:rPr lang="en-US" sz="1030" dirty="0">
                <a:solidFill>
                  <a:srgbClr val="D5E1EA"/>
                </a:solidFill>
                <a:latin typeface="Calibri" pitchFamily="34" charset="0"/>
                <a:ea typeface="Calibri" pitchFamily="34" charset="-122"/>
                <a:cs typeface="Calibri" pitchFamily="34" charset="-120"/>
              </a:rPr>
              <a:t>MobileNetV2 is more conservative (precision 0.85, recall 0.56) — it misses real yawns more often than it false-alarms.</a:t>
            </a:r>
            <a:endParaRPr lang="en-US" sz="1030" dirty="0"/>
          </a:p>
        </p:txBody>
      </p:sp>
      <p:sp>
        <p:nvSpPr>
          <p:cNvPr id="12" name="Text 9"/>
          <p:cNvSpPr/>
          <p:nvPr/>
        </p:nvSpPr>
        <p:spPr>
          <a:xfrm>
            <a:off x="457200" y="6492240"/>
            <a:ext cx="6400800" cy="274320"/>
          </a:xfrm>
          <a:prstGeom prst="rect">
            <a:avLst/>
          </a:prstGeom>
          <a:noFill/>
          <a:ln/>
        </p:spPr>
        <p:txBody>
          <a:bodyPr wrap="square" rtlCol="0" anchor="ctr"/>
          <a:lstStyle/>
          <a:p>
            <a:pPr algn="l" indent="0" marL="0">
              <a:buNone/>
            </a:pPr>
            <a:r>
              <a:rPr lang="en-US" sz="900" dirty="0">
                <a:solidFill>
                  <a:srgbClr val="5C6773"/>
                </a:solidFill>
                <a:latin typeface="Calibri" pitchFamily="34" charset="0"/>
                <a:ea typeface="Calibri" pitchFamily="34" charset="-122"/>
                <a:cs typeface="Calibri" pitchFamily="34" charset="-120"/>
              </a:rPr>
              <a:t>Driver Drowsiness Detection</a:t>
            </a:r>
            <a:endParaRPr lang="en-US" sz="900" dirty="0"/>
          </a:p>
        </p:txBody>
      </p:sp>
      <p:sp>
        <p:nvSpPr>
          <p:cNvPr id="13" name="Text 10"/>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C6773"/>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indent="0" marL="0">
              <a:buNone/>
            </a:pPr>
            <a:r>
              <a:rPr lang="en-US" sz="2900" b="1" dirty="0">
                <a:solidFill>
                  <a:srgbClr val="1B2430"/>
                </a:solidFill>
                <a:latin typeface="Cambria" pitchFamily="34" charset="0"/>
                <a:ea typeface="Cambria" pitchFamily="34" charset="-122"/>
                <a:cs typeface="Cambria" pitchFamily="34" charset="-120"/>
              </a:rPr>
              <a:t>Custom CNN vs MobileNetV2 — Overall</a:t>
            </a:r>
            <a:endParaRPr lang="en-US" sz="2900" dirty="0"/>
          </a:p>
        </p:txBody>
      </p:sp>
      <p:sp>
        <p:nvSpPr>
          <p:cNvPr id="3" name="Text 1"/>
          <p:cNvSpPr/>
          <p:nvPr/>
        </p:nvSpPr>
        <p:spPr>
          <a:xfrm>
            <a:off x="548640" y="960120"/>
            <a:ext cx="11064240" cy="365760"/>
          </a:xfrm>
          <a:prstGeom prst="rect">
            <a:avLst/>
          </a:prstGeom>
          <a:noFill/>
          <a:ln/>
        </p:spPr>
        <p:txBody>
          <a:bodyPr wrap="square" rtlCol="0" anchor="ctr"/>
          <a:lstStyle/>
          <a:p>
            <a:pPr indent="0" marL="0">
              <a:buNone/>
            </a:pPr>
            <a:r>
              <a:rPr lang="en-US" sz="1300" dirty="0">
                <a:solidFill>
                  <a:srgbClr val="5C6773"/>
                </a:solidFill>
                <a:latin typeface="Calibri" pitchFamily="34" charset="0"/>
                <a:ea typeface="Calibri" pitchFamily="34" charset="-122"/>
                <a:cs typeface="Calibri" pitchFamily="34" charset="-120"/>
              </a:rPr>
              <a:t>Transfer learning improves both tasks, but by very different margins</a:t>
            </a:r>
            <a:endParaRPr lang="en-US" sz="1300" dirty="0"/>
          </a:p>
        </p:txBody>
      </p:sp>
      <p:graphicFrame>
        <p:nvGraphicFramePr>
          <p:cNvPr id="4" name="Chart 0" descr=""/>
          <p:cNvGraphicFramePr/>
          <p:nvPr/>
        </p:nvGraphicFramePr>
        <p:xfrm>
          <a:off x="548640" y="1691640"/>
          <a:ext cx="6035040" cy="41148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1371600" y="1417320"/>
            <a:ext cx="1645920" cy="320040"/>
          </a:xfrm>
          <a:prstGeom prst="rect">
            <a:avLst/>
          </a:prstGeom>
          <a:noFill/>
          <a:ln/>
        </p:spPr>
        <p:txBody>
          <a:bodyPr wrap="square" rtlCol="0" anchor="ctr"/>
          <a:lstStyle/>
          <a:p>
            <a:pPr algn="ctr" indent="0" marL="0">
              <a:buNone/>
            </a:pPr>
            <a:r>
              <a:rPr lang="en-US" sz="1300" b="1" dirty="0">
                <a:solidFill>
                  <a:srgbClr val="2FA47A"/>
                </a:solidFill>
                <a:latin typeface="Cambria" pitchFamily="34" charset="0"/>
                <a:ea typeface="Cambria" pitchFamily="34" charset="-122"/>
                <a:cs typeface="Cambria" pitchFamily="34" charset="-120"/>
              </a:rPr>
              <a:t>+11.5 pp</a:t>
            </a:r>
            <a:endParaRPr lang="en-US" sz="1300" dirty="0"/>
          </a:p>
        </p:txBody>
      </p:sp>
      <p:sp>
        <p:nvSpPr>
          <p:cNvPr id="6" name="Text 3"/>
          <p:cNvSpPr/>
          <p:nvPr/>
        </p:nvSpPr>
        <p:spPr>
          <a:xfrm>
            <a:off x="4206240" y="1417320"/>
            <a:ext cx="1645920" cy="320040"/>
          </a:xfrm>
          <a:prstGeom prst="rect">
            <a:avLst/>
          </a:prstGeom>
          <a:noFill/>
          <a:ln/>
        </p:spPr>
        <p:txBody>
          <a:bodyPr wrap="square" rtlCol="0" anchor="ctr"/>
          <a:lstStyle/>
          <a:p>
            <a:pPr algn="ctr" indent="0" marL="0">
              <a:buNone/>
            </a:pPr>
            <a:r>
              <a:rPr lang="en-US" sz="1300" b="1" dirty="0">
                <a:solidFill>
                  <a:srgbClr val="F2A93B"/>
                </a:solidFill>
                <a:latin typeface="Cambria" pitchFamily="34" charset="0"/>
                <a:ea typeface="Cambria" pitchFamily="34" charset="-122"/>
                <a:cs typeface="Cambria" pitchFamily="34" charset="-120"/>
              </a:rPr>
              <a:t>+13.8 pp</a:t>
            </a:r>
            <a:endParaRPr lang="en-US" sz="1300" dirty="0"/>
          </a:p>
        </p:txBody>
      </p:sp>
      <p:sp>
        <p:nvSpPr>
          <p:cNvPr id="7" name="Text 4"/>
          <p:cNvSpPr/>
          <p:nvPr/>
        </p:nvSpPr>
        <p:spPr>
          <a:xfrm>
            <a:off x="6858000" y="1691640"/>
            <a:ext cx="4800600" cy="320040"/>
          </a:xfrm>
          <a:prstGeom prst="rect">
            <a:avLst/>
          </a:prstGeom>
          <a:noFill/>
          <a:ln/>
        </p:spPr>
        <p:txBody>
          <a:bodyPr wrap="square" rtlCol="0" anchor="ctr"/>
          <a:lstStyle/>
          <a:p>
            <a:pPr indent="0" marL="0">
              <a:buNone/>
            </a:pPr>
            <a:r>
              <a:rPr lang="en-US" sz="1400" b="1" dirty="0">
                <a:solidFill>
                  <a:srgbClr val="1B2430"/>
                </a:solidFill>
                <a:latin typeface="Cambria" pitchFamily="34" charset="0"/>
                <a:ea typeface="Cambria" pitchFamily="34" charset="-122"/>
                <a:cs typeface="Cambria" pitchFamily="34" charset="-120"/>
              </a:rPr>
              <a:t>Best Model per Task</a:t>
            </a:r>
            <a:endParaRPr lang="en-US" sz="1400" dirty="0"/>
          </a:p>
        </p:txBody>
      </p:sp>
      <p:sp>
        <p:nvSpPr>
          <p:cNvPr id="8" name="Shape 5"/>
          <p:cNvSpPr/>
          <p:nvPr/>
        </p:nvSpPr>
        <p:spPr>
          <a:xfrm>
            <a:off x="6858000" y="2103120"/>
            <a:ext cx="1234440" cy="457200"/>
          </a:xfrm>
          <a:prstGeom prst="rect">
            <a:avLst/>
          </a:prstGeom>
          <a:solidFill>
            <a:srgbClr val="1B2A4A"/>
          </a:solidFill>
          <a:ln w="9525">
            <a:solidFill>
              <a:srgbClr val="E1E7EA"/>
            </a:solidFill>
            <a:prstDash val="solid"/>
          </a:ln>
        </p:spPr>
      </p:sp>
      <p:sp>
        <p:nvSpPr>
          <p:cNvPr id="9" name="Text 6"/>
          <p:cNvSpPr/>
          <p:nvPr/>
        </p:nvSpPr>
        <p:spPr>
          <a:xfrm>
            <a:off x="6949440" y="2103120"/>
            <a:ext cx="1143000" cy="457200"/>
          </a:xfrm>
          <a:prstGeom prst="rect">
            <a:avLst/>
          </a:prstGeom>
          <a:noFill/>
          <a:ln/>
        </p:spPr>
        <p:txBody>
          <a:bodyPr wrap="square" rtlCol="0" anchor="ctr"/>
          <a:lstStyle/>
          <a:p>
            <a:pPr algn="l" indent="0" marL="0">
              <a:buNone/>
            </a:pPr>
            <a:r>
              <a:rPr lang="en-US" sz="930" b="1" dirty="0">
                <a:solidFill>
                  <a:srgbClr val="FFFFFF"/>
                </a:solidFill>
                <a:latin typeface="Calibri" pitchFamily="34" charset="0"/>
                <a:ea typeface="Calibri" pitchFamily="34" charset="-122"/>
                <a:cs typeface="Calibri" pitchFamily="34" charset="-120"/>
              </a:rPr>
              <a:t>Task</a:t>
            </a:r>
            <a:endParaRPr lang="en-US" sz="930" dirty="0"/>
          </a:p>
        </p:txBody>
      </p:sp>
      <p:sp>
        <p:nvSpPr>
          <p:cNvPr id="10" name="Shape 7"/>
          <p:cNvSpPr/>
          <p:nvPr/>
        </p:nvSpPr>
        <p:spPr>
          <a:xfrm>
            <a:off x="8092440" y="2103120"/>
            <a:ext cx="1554480" cy="457200"/>
          </a:xfrm>
          <a:prstGeom prst="rect">
            <a:avLst/>
          </a:prstGeom>
          <a:solidFill>
            <a:srgbClr val="1B2A4A"/>
          </a:solidFill>
          <a:ln w="9525">
            <a:solidFill>
              <a:srgbClr val="E1E7EA"/>
            </a:solidFill>
            <a:prstDash val="solid"/>
          </a:ln>
        </p:spPr>
      </p:sp>
      <p:sp>
        <p:nvSpPr>
          <p:cNvPr id="11" name="Text 8"/>
          <p:cNvSpPr/>
          <p:nvPr/>
        </p:nvSpPr>
        <p:spPr>
          <a:xfrm>
            <a:off x="8183880" y="2103120"/>
            <a:ext cx="1463040" cy="457200"/>
          </a:xfrm>
          <a:prstGeom prst="rect">
            <a:avLst/>
          </a:prstGeom>
          <a:noFill/>
          <a:ln/>
        </p:spPr>
        <p:txBody>
          <a:bodyPr wrap="square" rtlCol="0" anchor="ctr"/>
          <a:lstStyle/>
          <a:p>
            <a:pPr algn="l" indent="0" marL="0">
              <a:buNone/>
            </a:pPr>
            <a:r>
              <a:rPr lang="en-US" sz="930" b="1" dirty="0">
                <a:solidFill>
                  <a:srgbClr val="FFFFFF"/>
                </a:solidFill>
                <a:latin typeface="Calibri" pitchFamily="34" charset="0"/>
                <a:ea typeface="Calibri" pitchFamily="34" charset="-122"/>
                <a:cs typeface="Calibri" pitchFamily="34" charset="-120"/>
              </a:rPr>
              <a:t>Best Model</a:t>
            </a:r>
            <a:endParaRPr lang="en-US" sz="930" dirty="0"/>
          </a:p>
        </p:txBody>
      </p:sp>
      <p:sp>
        <p:nvSpPr>
          <p:cNvPr id="12" name="Shape 9"/>
          <p:cNvSpPr/>
          <p:nvPr/>
        </p:nvSpPr>
        <p:spPr>
          <a:xfrm>
            <a:off x="9646920" y="2103120"/>
            <a:ext cx="502920" cy="457200"/>
          </a:xfrm>
          <a:prstGeom prst="rect">
            <a:avLst/>
          </a:prstGeom>
          <a:solidFill>
            <a:srgbClr val="1B2A4A"/>
          </a:solidFill>
          <a:ln w="9525">
            <a:solidFill>
              <a:srgbClr val="E1E7EA"/>
            </a:solidFill>
            <a:prstDash val="solid"/>
          </a:ln>
        </p:spPr>
      </p:sp>
      <p:sp>
        <p:nvSpPr>
          <p:cNvPr id="13" name="Text 10"/>
          <p:cNvSpPr/>
          <p:nvPr/>
        </p:nvSpPr>
        <p:spPr>
          <a:xfrm>
            <a:off x="9646920" y="2103120"/>
            <a:ext cx="502920" cy="457200"/>
          </a:xfrm>
          <a:prstGeom prst="rect">
            <a:avLst/>
          </a:prstGeom>
          <a:noFill/>
          <a:ln/>
        </p:spPr>
        <p:txBody>
          <a:bodyPr wrap="square" rtlCol="0" anchor="ctr"/>
          <a:lstStyle/>
          <a:p>
            <a:pPr algn="ctr" indent="0" marL="0">
              <a:buNone/>
            </a:pPr>
            <a:r>
              <a:rPr lang="en-US" sz="930" b="1" dirty="0">
                <a:solidFill>
                  <a:srgbClr val="FFFFFF"/>
                </a:solidFill>
                <a:latin typeface="Calibri" pitchFamily="34" charset="0"/>
                <a:ea typeface="Calibri" pitchFamily="34" charset="-122"/>
                <a:cs typeface="Calibri" pitchFamily="34" charset="-120"/>
              </a:rPr>
              <a:t>Acc %</a:t>
            </a:r>
            <a:endParaRPr lang="en-US" sz="930" dirty="0"/>
          </a:p>
        </p:txBody>
      </p:sp>
      <p:sp>
        <p:nvSpPr>
          <p:cNvPr id="14" name="Shape 11"/>
          <p:cNvSpPr/>
          <p:nvPr/>
        </p:nvSpPr>
        <p:spPr>
          <a:xfrm>
            <a:off x="10149840" y="2103120"/>
            <a:ext cx="548640" cy="457200"/>
          </a:xfrm>
          <a:prstGeom prst="rect">
            <a:avLst/>
          </a:prstGeom>
          <a:solidFill>
            <a:srgbClr val="1B2A4A"/>
          </a:solidFill>
          <a:ln w="9525">
            <a:solidFill>
              <a:srgbClr val="E1E7EA"/>
            </a:solidFill>
            <a:prstDash val="solid"/>
          </a:ln>
        </p:spPr>
      </p:sp>
      <p:sp>
        <p:nvSpPr>
          <p:cNvPr id="15" name="Text 12"/>
          <p:cNvSpPr/>
          <p:nvPr/>
        </p:nvSpPr>
        <p:spPr>
          <a:xfrm>
            <a:off x="10149840" y="2103120"/>
            <a:ext cx="548640" cy="457200"/>
          </a:xfrm>
          <a:prstGeom prst="rect">
            <a:avLst/>
          </a:prstGeom>
          <a:noFill/>
          <a:ln/>
        </p:spPr>
        <p:txBody>
          <a:bodyPr wrap="square" rtlCol="0" anchor="ctr"/>
          <a:lstStyle/>
          <a:p>
            <a:pPr algn="ctr" indent="0" marL="0">
              <a:buNone/>
            </a:pPr>
            <a:r>
              <a:rPr lang="en-US" sz="930" b="1" dirty="0">
                <a:solidFill>
                  <a:srgbClr val="FFFFFF"/>
                </a:solidFill>
                <a:latin typeface="Calibri" pitchFamily="34" charset="0"/>
                <a:ea typeface="Calibri" pitchFamily="34" charset="-122"/>
                <a:cs typeface="Calibri" pitchFamily="34" charset="-120"/>
              </a:rPr>
              <a:t>Prec %</a:t>
            </a:r>
            <a:endParaRPr lang="en-US" sz="930" dirty="0"/>
          </a:p>
        </p:txBody>
      </p:sp>
      <p:sp>
        <p:nvSpPr>
          <p:cNvPr id="16" name="Shape 13"/>
          <p:cNvSpPr/>
          <p:nvPr/>
        </p:nvSpPr>
        <p:spPr>
          <a:xfrm>
            <a:off x="10698480" y="2103120"/>
            <a:ext cx="502920" cy="457200"/>
          </a:xfrm>
          <a:prstGeom prst="rect">
            <a:avLst/>
          </a:prstGeom>
          <a:solidFill>
            <a:srgbClr val="1B2A4A"/>
          </a:solidFill>
          <a:ln w="9525">
            <a:solidFill>
              <a:srgbClr val="E1E7EA"/>
            </a:solidFill>
            <a:prstDash val="solid"/>
          </a:ln>
        </p:spPr>
      </p:sp>
      <p:sp>
        <p:nvSpPr>
          <p:cNvPr id="17" name="Text 14"/>
          <p:cNvSpPr/>
          <p:nvPr/>
        </p:nvSpPr>
        <p:spPr>
          <a:xfrm>
            <a:off x="10698480" y="2103120"/>
            <a:ext cx="502920" cy="457200"/>
          </a:xfrm>
          <a:prstGeom prst="rect">
            <a:avLst/>
          </a:prstGeom>
          <a:noFill/>
          <a:ln/>
        </p:spPr>
        <p:txBody>
          <a:bodyPr wrap="square" rtlCol="0" anchor="ctr"/>
          <a:lstStyle/>
          <a:p>
            <a:pPr algn="ctr" indent="0" marL="0">
              <a:buNone/>
            </a:pPr>
            <a:r>
              <a:rPr lang="en-US" sz="930" b="1" dirty="0">
                <a:solidFill>
                  <a:srgbClr val="FFFFFF"/>
                </a:solidFill>
                <a:latin typeface="Calibri" pitchFamily="34" charset="0"/>
                <a:ea typeface="Calibri" pitchFamily="34" charset="-122"/>
                <a:cs typeface="Calibri" pitchFamily="34" charset="-120"/>
              </a:rPr>
              <a:t>Rec %</a:t>
            </a:r>
            <a:endParaRPr lang="en-US" sz="930" dirty="0"/>
          </a:p>
        </p:txBody>
      </p:sp>
      <p:sp>
        <p:nvSpPr>
          <p:cNvPr id="18" name="Shape 15"/>
          <p:cNvSpPr/>
          <p:nvPr/>
        </p:nvSpPr>
        <p:spPr>
          <a:xfrm>
            <a:off x="11201400" y="2103120"/>
            <a:ext cx="457200" cy="457200"/>
          </a:xfrm>
          <a:prstGeom prst="rect">
            <a:avLst/>
          </a:prstGeom>
          <a:solidFill>
            <a:srgbClr val="1B2A4A"/>
          </a:solidFill>
          <a:ln w="9525">
            <a:solidFill>
              <a:srgbClr val="E1E7EA"/>
            </a:solidFill>
            <a:prstDash val="solid"/>
          </a:ln>
        </p:spPr>
      </p:sp>
      <p:sp>
        <p:nvSpPr>
          <p:cNvPr id="19" name="Text 16"/>
          <p:cNvSpPr/>
          <p:nvPr/>
        </p:nvSpPr>
        <p:spPr>
          <a:xfrm>
            <a:off x="11201400" y="2103120"/>
            <a:ext cx="457200" cy="457200"/>
          </a:xfrm>
          <a:prstGeom prst="rect">
            <a:avLst/>
          </a:prstGeom>
          <a:noFill/>
          <a:ln/>
        </p:spPr>
        <p:txBody>
          <a:bodyPr wrap="square" rtlCol="0" anchor="ctr"/>
          <a:lstStyle/>
          <a:p>
            <a:pPr algn="ctr" indent="0" marL="0">
              <a:buNone/>
            </a:pPr>
            <a:r>
              <a:rPr lang="en-US" sz="930" b="1" dirty="0">
                <a:solidFill>
                  <a:srgbClr val="FFFFFF"/>
                </a:solidFill>
                <a:latin typeface="Calibri" pitchFamily="34" charset="0"/>
                <a:ea typeface="Calibri" pitchFamily="34" charset="-122"/>
                <a:cs typeface="Calibri" pitchFamily="34" charset="-120"/>
              </a:rPr>
              <a:t>F1 %</a:t>
            </a:r>
            <a:endParaRPr lang="en-US" sz="930" dirty="0"/>
          </a:p>
        </p:txBody>
      </p:sp>
      <p:sp>
        <p:nvSpPr>
          <p:cNvPr id="20" name="Shape 17"/>
          <p:cNvSpPr/>
          <p:nvPr/>
        </p:nvSpPr>
        <p:spPr>
          <a:xfrm>
            <a:off x="6858000" y="2560320"/>
            <a:ext cx="1234440" cy="457200"/>
          </a:xfrm>
          <a:prstGeom prst="rect">
            <a:avLst/>
          </a:prstGeom>
          <a:solidFill>
            <a:srgbClr val="FFFFFF"/>
          </a:solidFill>
          <a:ln w="9525">
            <a:solidFill>
              <a:srgbClr val="E1E7EA"/>
            </a:solidFill>
            <a:prstDash val="solid"/>
          </a:ln>
        </p:spPr>
      </p:sp>
      <p:sp>
        <p:nvSpPr>
          <p:cNvPr id="21" name="Text 18"/>
          <p:cNvSpPr/>
          <p:nvPr/>
        </p:nvSpPr>
        <p:spPr>
          <a:xfrm>
            <a:off x="6949440" y="2560320"/>
            <a:ext cx="1143000" cy="457200"/>
          </a:xfrm>
          <a:prstGeom prst="rect">
            <a:avLst/>
          </a:prstGeom>
          <a:noFill/>
          <a:ln/>
        </p:spPr>
        <p:txBody>
          <a:bodyPr wrap="square" rtlCol="0" anchor="ctr"/>
          <a:lstStyle/>
          <a:p>
            <a:pPr algn="l" indent="0" marL="0">
              <a:buNone/>
            </a:pPr>
            <a:r>
              <a:rPr lang="en-US" sz="930" dirty="0">
                <a:solidFill>
                  <a:srgbClr val="1B2430"/>
                </a:solidFill>
                <a:latin typeface="Calibri" pitchFamily="34" charset="0"/>
                <a:ea typeface="Calibri" pitchFamily="34" charset="-122"/>
                <a:cs typeface="Calibri" pitchFamily="34" charset="-120"/>
              </a:rPr>
              <a:t>Eye State</a:t>
            </a:r>
            <a:endParaRPr lang="en-US" sz="930" dirty="0"/>
          </a:p>
        </p:txBody>
      </p:sp>
      <p:sp>
        <p:nvSpPr>
          <p:cNvPr id="22" name="Shape 19"/>
          <p:cNvSpPr/>
          <p:nvPr/>
        </p:nvSpPr>
        <p:spPr>
          <a:xfrm>
            <a:off x="8092440" y="2560320"/>
            <a:ext cx="1554480" cy="457200"/>
          </a:xfrm>
          <a:prstGeom prst="rect">
            <a:avLst/>
          </a:prstGeom>
          <a:solidFill>
            <a:srgbClr val="FFFFFF"/>
          </a:solidFill>
          <a:ln w="9525">
            <a:solidFill>
              <a:srgbClr val="E1E7EA"/>
            </a:solidFill>
            <a:prstDash val="solid"/>
          </a:ln>
        </p:spPr>
      </p:sp>
      <p:sp>
        <p:nvSpPr>
          <p:cNvPr id="23" name="Text 20"/>
          <p:cNvSpPr/>
          <p:nvPr/>
        </p:nvSpPr>
        <p:spPr>
          <a:xfrm>
            <a:off x="8183880" y="2560320"/>
            <a:ext cx="1463040" cy="457200"/>
          </a:xfrm>
          <a:prstGeom prst="rect">
            <a:avLst/>
          </a:prstGeom>
          <a:noFill/>
          <a:ln/>
        </p:spPr>
        <p:txBody>
          <a:bodyPr wrap="square" rtlCol="0" anchor="ctr"/>
          <a:lstStyle/>
          <a:p>
            <a:pPr algn="l" indent="0" marL="0">
              <a:buNone/>
            </a:pPr>
            <a:r>
              <a:rPr lang="en-US" sz="930" dirty="0">
                <a:solidFill>
                  <a:srgbClr val="1B2430"/>
                </a:solidFill>
                <a:latin typeface="Calibri" pitchFamily="34" charset="0"/>
                <a:ea typeface="Calibri" pitchFamily="34" charset="-122"/>
                <a:cs typeface="Calibri" pitchFamily="34" charset="-120"/>
              </a:rPr>
              <a:t>MobileNetV2</a:t>
            </a:r>
            <a:endParaRPr lang="en-US" sz="930" dirty="0"/>
          </a:p>
        </p:txBody>
      </p:sp>
      <p:sp>
        <p:nvSpPr>
          <p:cNvPr id="24" name="Shape 21"/>
          <p:cNvSpPr/>
          <p:nvPr/>
        </p:nvSpPr>
        <p:spPr>
          <a:xfrm>
            <a:off x="9646920" y="2560320"/>
            <a:ext cx="502920" cy="457200"/>
          </a:xfrm>
          <a:prstGeom prst="rect">
            <a:avLst/>
          </a:prstGeom>
          <a:solidFill>
            <a:srgbClr val="FFFFFF"/>
          </a:solidFill>
          <a:ln w="9525">
            <a:solidFill>
              <a:srgbClr val="E1E7EA"/>
            </a:solidFill>
            <a:prstDash val="solid"/>
          </a:ln>
        </p:spPr>
      </p:sp>
      <p:sp>
        <p:nvSpPr>
          <p:cNvPr id="25" name="Text 22"/>
          <p:cNvSpPr/>
          <p:nvPr/>
        </p:nvSpPr>
        <p:spPr>
          <a:xfrm>
            <a:off x="9646920" y="2560320"/>
            <a:ext cx="502920" cy="457200"/>
          </a:xfrm>
          <a:prstGeom prst="rect">
            <a:avLst/>
          </a:prstGeom>
          <a:noFill/>
          <a:ln/>
        </p:spPr>
        <p:txBody>
          <a:bodyPr wrap="square" rtlCol="0" anchor="ctr"/>
          <a:lstStyle/>
          <a:p>
            <a:pPr algn="ctr" indent="0" marL="0">
              <a:buNone/>
            </a:pPr>
            <a:r>
              <a:rPr lang="en-US" sz="930" dirty="0">
                <a:solidFill>
                  <a:srgbClr val="1B2430"/>
                </a:solidFill>
                <a:latin typeface="Calibri" pitchFamily="34" charset="0"/>
                <a:ea typeface="Calibri" pitchFamily="34" charset="-122"/>
                <a:cs typeface="Calibri" pitchFamily="34" charset="-120"/>
              </a:rPr>
              <a:t>99.08</a:t>
            </a:r>
            <a:endParaRPr lang="en-US" sz="930" dirty="0"/>
          </a:p>
        </p:txBody>
      </p:sp>
      <p:sp>
        <p:nvSpPr>
          <p:cNvPr id="26" name="Shape 23"/>
          <p:cNvSpPr/>
          <p:nvPr/>
        </p:nvSpPr>
        <p:spPr>
          <a:xfrm>
            <a:off x="10149840" y="2560320"/>
            <a:ext cx="548640" cy="457200"/>
          </a:xfrm>
          <a:prstGeom prst="rect">
            <a:avLst/>
          </a:prstGeom>
          <a:solidFill>
            <a:srgbClr val="FFFFFF"/>
          </a:solidFill>
          <a:ln w="9525">
            <a:solidFill>
              <a:srgbClr val="E1E7EA"/>
            </a:solidFill>
            <a:prstDash val="solid"/>
          </a:ln>
        </p:spPr>
      </p:sp>
      <p:sp>
        <p:nvSpPr>
          <p:cNvPr id="27" name="Text 24"/>
          <p:cNvSpPr/>
          <p:nvPr/>
        </p:nvSpPr>
        <p:spPr>
          <a:xfrm>
            <a:off x="10149840" y="2560320"/>
            <a:ext cx="548640" cy="457200"/>
          </a:xfrm>
          <a:prstGeom prst="rect">
            <a:avLst/>
          </a:prstGeom>
          <a:noFill/>
          <a:ln/>
        </p:spPr>
        <p:txBody>
          <a:bodyPr wrap="square" rtlCol="0" anchor="ctr"/>
          <a:lstStyle/>
          <a:p>
            <a:pPr algn="ctr" indent="0" marL="0">
              <a:buNone/>
            </a:pPr>
            <a:r>
              <a:rPr lang="en-US" sz="930" dirty="0">
                <a:solidFill>
                  <a:srgbClr val="1B2430"/>
                </a:solidFill>
                <a:latin typeface="Calibri" pitchFamily="34" charset="0"/>
                <a:ea typeface="Calibri" pitchFamily="34" charset="-122"/>
                <a:cs typeface="Calibri" pitchFamily="34" charset="-120"/>
              </a:rPr>
              <a:t>99.08</a:t>
            </a:r>
            <a:endParaRPr lang="en-US" sz="930" dirty="0"/>
          </a:p>
        </p:txBody>
      </p:sp>
      <p:sp>
        <p:nvSpPr>
          <p:cNvPr id="28" name="Shape 25"/>
          <p:cNvSpPr/>
          <p:nvPr/>
        </p:nvSpPr>
        <p:spPr>
          <a:xfrm>
            <a:off x="10698480" y="2560320"/>
            <a:ext cx="502920" cy="457200"/>
          </a:xfrm>
          <a:prstGeom prst="rect">
            <a:avLst/>
          </a:prstGeom>
          <a:solidFill>
            <a:srgbClr val="FFFFFF"/>
          </a:solidFill>
          <a:ln w="9525">
            <a:solidFill>
              <a:srgbClr val="E1E7EA"/>
            </a:solidFill>
            <a:prstDash val="solid"/>
          </a:ln>
        </p:spPr>
      </p:sp>
      <p:sp>
        <p:nvSpPr>
          <p:cNvPr id="29" name="Text 26"/>
          <p:cNvSpPr/>
          <p:nvPr/>
        </p:nvSpPr>
        <p:spPr>
          <a:xfrm>
            <a:off x="10698480" y="2560320"/>
            <a:ext cx="502920" cy="457200"/>
          </a:xfrm>
          <a:prstGeom prst="rect">
            <a:avLst/>
          </a:prstGeom>
          <a:noFill/>
          <a:ln/>
        </p:spPr>
        <p:txBody>
          <a:bodyPr wrap="square" rtlCol="0" anchor="ctr"/>
          <a:lstStyle/>
          <a:p>
            <a:pPr algn="ctr" indent="0" marL="0">
              <a:buNone/>
            </a:pPr>
            <a:r>
              <a:rPr lang="en-US" sz="930" dirty="0">
                <a:solidFill>
                  <a:srgbClr val="1B2430"/>
                </a:solidFill>
                <a:latin typeface="Calibri" pitchFamily="34" charset="0"/>
                <a:ea typeface="Calibri" pitchFamily="34" charset="-122"/>
                <a:cs typeface="Calibri" pitchFamily="34" charset="-120"/>
              </a:rPr>
              <a:t>99.08</a:t>
            </a:r>
            <a:endParaRPr lang="en-US" sz="930" dirty="0"/>
          </a:p>
        </p:txBody>
      </p:sp>
      <p:sp>
        <p:nvSpPr>
          <p:cNvPr id="30" name="Shape 27"/>
          <p:cNvSpPr/>
          <p:nvPr/>
        </p:nvSpPr>
        <p:spPr>
          <a:xfrm>
            <a:off x="11201400" y="2560320"/>
            <a:ext cx="457200" cy="457200"/>
          </a:xfrm>
          <a:prstGeom prst="rect">
            <a:avLst/>
          </a:prstGeom>
          <a:solidFill>
            <a:srgbClr val="FFFFFF"/>
          </a:solidFill>
          <a:ln w="9525">
            <a:solidFill>
              <a:srgbClr val="E1E7EA"/>
            </a:solidFill>
            <a:prstDash val="solid"/>
          </a:ln>
        </p:spPr>
      </p:sp>
      <p:sp>
        <p:nvSpPr>
          <p:cNvPr id="31" name="Text 28"/>
          <p:cNvSpPr/>
          <p:nvPr/>
        </p:nvSpPr>
        <p:spPr>
          <a:xfrm>
            <a:off x="11201400" y="2560320"/>
            <a:ext cx="457200" cy="457200"/>
          </a:xfrm>
          <a:prstGeom prst="rect">
            <a:avLst/>
          </a:prstGeom>
          <a:noFill/>
          <a:ln/>
        </p:spPr>
        <p:txBody>
          <a:bodyPr wrap="square" rtlCol="0" anchor="ctr"/>
          <a:lstStyle/>
          <a:p>
            <a:pPr algn="ctr" indent="0" marL="0">
              <a:buNone/>
            </a:pPr>
            <a:r>
              <a:rPr lang="en-US" sz="930" dirty="0">
                <a:solidFill>
                  <a:srgbClr val="1B2430"/>
                </a:solidFill>
                <a:latin typeface="Calibri" pitchFamily="34" charset="0"/>
                <a:ea typeface="Calibri" pitchFamily="34" charset="-122"/>
                <a:cs typeface="Calibri" pitchFamily="34" charset="-120"/>
              </a:rPr>
              <a:t>99.08</a:t>
            </a:r>
            <a:endParaRPr lang="en-US" sz="930" dirty="0"/>
          </a:p>
        </p:txBody>
      </p:sp>
      <p:sp>
        <p:nvSpPr>
          <p:cNvPr id="32" name="Shape 29"/>
          <p:cNvSpPr/>
          <p:nvPr/>
        </p:nvSpPr>
        <p:spPr>
          <a:xfrm>
            <a:off x="6858000" y="3017520"/>
            <a:ext cx="1234440" cy="457200"/>
          </a:xfrm>
          <a:prstGeom prst="rect">
            <a:avLst/>
          </a:prstGeom>
          <a:solidFill>
            <a:srgbClr val="F3F6F8"/>
          </a:solidFill>
          <a:ln w="9525">
            <a:solidFill>
              <a:srgbClr val="E1E7EA"/>
            </a:solidFill>
            <a:prstDash val="solid"/>
          </a:ln>
        </p:spPr>
      </p:sp>
      <p:sp>
        <p:nvSpPr>
          <p:cNvPr id="33" name="Text 30"/>
          <p:cNvSpPr/>
          <p:nvPr/>
        </p:nvSpPr>
        <p:spPr>
          <a:xfrm>
            <a:off x="6949440" y="3017520"/>
            <a:ext cx="1143000" cy="457200"/>
          </a:xfrm>
          <a:prstGeom prst="rect">
            <a:avLst/>
          </a:prstGeom>
          <a:noFill/>
          <a:ln/>
        </p:spPr>
        <p:txBody>
          <a:bodyPr wrap="square" rtlCol="0" anchor="ctr"/>
          <a:lstStyle/>
          <a:p>
            <a:pPr algn="l" indent="0" marL="0">
              <a:buNone/>
            </a:pPr>
            <a:r>
              <a:rPr lang="en-US" sz="930" dirty="0">
                <a:solidFill>
                  <a:srgbClr val="1B2430"/>
                </a:solidFill>
                <a:latin typeface="Calibri" pitchFamily="34" charset="0"/>
                <a:ea typeface="Calibri" pitchFamily="34" charset="-122"/>
                <a:cs typeface="Calibri" pitchFamily="34" charset="-120"/>
              </a:rPr>
              <a:t>Mouth State</a:t>
            </a:r>
            <a:endParaRPr lang="en-US" sz="930" dirty="0"/>
          </a:p>
        </p:txBody>
      </p:sp>
      <p:sp>
        <p:nvSpPr>
          <p:cNvPr id="34" name="Shape 31"/>
          <p:cNvSpPr/>
          <p:nvPr/>
        </p:nvSpPr>
        <p:spPr>
          <a:xfrm>
            <a:off x="8092440" y="3017520"/>
            <a:ext cx="1554480" cy="457200"/>
          </a:xfrm>
          <a:prstGeom prst="rect">
            <a:avLst/>
          </a:prstGeom>
          <a:solidFill>
            <a:srgbClr val="F3F6F8"/>
          </a:solidFill>
          <a:ln w="9525">
            <a:solidFill>
              <a:srgbClr val="E1E7EA"/>
            </a:solidFill>
            <a:prstDash val="solid"/>
          </a:ln>
        </p:spPr>
      </p:sp>
      <p:sp>
        <p:nvSpPr>
          <p:cNvPr id="35" name="Text 32"/>
          <p:cNvSpPr/>
          <p:nvPr/>
        </p:nvSpPr>
        <p:spPr>
          <a:xfrm>
            <a:off x="8183880" y="3017520"/>
            <a:ext cx="1463040" cy="457200"/>
          </a:xfrm>
          <a:prstGeom prst="rect">
            <a:avLst/>
          </a:prstGeom>
          <a:noFill/>
          <a:ln/>
        </p:spPr>
        <p:txBody>
          <a:bodyPr wrap="square" rtlCol="0" anchor="ctr"/>
          <a:lstStyle/>
          <a:p>
            <a:pPr algn="l" indent="0" marL="0">
              <a:buNone/>
            </a:pPr>
            <a:r>
              <a:rPr lang="en-US" sz="930" dirty="0">
                <a:solidFill>
                  <a:srgbClr val="1B2430"/>
                </a:solidFill>
                <a:latin typeface="Calibri" pitchFamily="34" charset="0"/>
                <a:ea typeface="Calibri" pitchFamily="34" charset="-122"/>
                <a:cs typeface="Calibri" pitchFamily="34" charset="-120"/>
              </a:rPr>
              <a:t>MobileNetV2</a:t>
            </a:r>
            <a:endParaRPr lang="en-US" sz="930" dirty="0"/>
          </a:p>
        </p:txBody>
      </p:sp>
      <p:sp>
        <p:nvSpPr>
          <p:cNvPr id="36" name="Shape 33"/>
          <p:cNvSpPr/>
          <p:nvPr/>
        </p:nvSpPr>
        <p:spPr>
          <a:xfrm>
            <a:off x="9646920" y="3017520"/>
            <a:ext cx="502920" cy="457200"/>
          </a:xfrm>
          <a:prstGeom prst="rect">
            <a:avLst/>
          </a:prstGeom>
          <a:solidFill>
            <a:srgbClr val="F3F6F8"/>
          </a:solidFill>
          <a:ln w="9525">
            <a:solidFill>
              <a:srgbClr val="E1E7EA"/>
            </a:solidFill>
            <a:prstDash val="solid"/>
          </a:ln>
        </p:spPr>
      </p:sp>
      <p:sp>
        <p:nvSpPr>
          <p:cNvPr id="37" name="Text 34"/>
          <p:cNvSpPr/>
          <p:nvPr/>
        </p:nvSpPr>
        <p:spPr>
          <a:xfrm>
            <a:off x="9646920" y="3017520"/>
            <a:ext cx="502920" cy="457200"/>
          </a:xfrm>
          <a:prstGeom prst="rect">
            <a:avLst/>
          </a:prstGeom>
          <a:noFill/>
          <a:ln/>
        </p:spPr>
        <p:txBody>
          <a:bodyPr wrap="square" rtlCol="0" anchor="ctr"/>
          <a:lstStyle/>
          <a:p>
            <a:pPr algn="ctr" indent="0" marL="0">
              <a:buNone/>
            </a:pPr>
            <a:r>
              <a:rPr lang="en-US" sz="930" dirty="0">
                <a:solidFill>
                  <a:srgbClr val="1B2430"/>
                </a:solidFill>
                <a:latin typeface="Calibri" pitchFamily="34" charset="0"/>
                <a:ea typeface="Calibri" pitchFamily="34" charset="-122"/>
                <a:cs typeface="Calibri" pitchFamily="34" charset="-120"/>
              </a:rPr>
              <a:t>72.94</a:t>
            </a:r>
            <a:endParaRPr lang="en-US" sz="930" dirty="0"/>
          </a:p>
        </p:txBody>
      </p:sp>
      <p:sp>
        <p:nvSpPr>
          <p:cNvPr id="38" name="Shape 35"/>
          <p:cNvSpPr/>
          <p:nvPr/>
        </p:nvSpPr>
        <p:spPr>
          <a:xfrm>
            <a:off x="10149840" y="3017520"/>
            <a:ext cx="548640" cy="457200"/>
          </a:xfrm>
          <a:prstGeom prst="rect">
            <a:avLst/>
          </a:prstGeom>
          <a:solidFill>
            <a:srgbClr val="F3F6F8"/>
          </a:solidFill>
          <a:ln w="9525">
            <a:solidFill>
              <a:srgbClr val="E1E7EA"/>
            </a:solidFill>
            <a:prstDash val="solid"/>
          </a:ln>
        </p:spPr>
      </p:sp>
      <p:sp>
        <p:nvSpPr>
          <p:cNvPr id="39" name="Text 36"/>
          <p:cNvSpPr/>
          <p:nvPr/>
        </p:nvSpPr>
        <p:spPr>
          <a:xfrm>
            <a:off x="10149840" y="3017520"/>
            <a:ext cx="548640" cy="457200"/>
          </a:xfrm>
          <a:prstGeom prst="rect">
            <a:avLst/>
          </a:prstGeom>
          <a:noFill/>
          <a:ln/>
        </p:spPr>
        <p:txBody>
          <a:bodyPr wrap="square" rtlCol="0" anchor="ctr"/>
          <a:lstStyle/>
          <a:p>
            <a:pPr algn="ctr" indent="0" marL="0">
              <a:buNone/>
            </a:pPr>
            <a:r>
              <a:rPr lang="en-US" sz="930" dirty="0">
                <a:solidFill>
                  <a:srgbClr val="1B2430"/>
                </a:solidFill>
                <a:latin typeface="Calibri" pitchFamily="34" charset="0"/>
                <a:ea typeface="Calibri" pitchFamily="34" charset="-122"/>
                <a:cs typeface="Calibri" pitchFamily="34" charset="-120"/>
              </a:rPr>
              <a:t>84.72</a:t>
            </a:r>
            <a:endParaRPr lang="en-US" sz="930" dirty="0"/>
          </a:p>
        </p:txBody>
      </p:sp>
      <p:sp>
        <p:nvSpPr>
          <p:cNvPr id="40" name="Shape 37"/>
          <p:cNvSpPr/>
          <p:nvPr/>
        </p:nvSpPr>
        <p:spPr>
          <a:xfrm>
            <a:off x="10698480" y="3017520"/>
            <a:ext cx="502920" cy="457200"/>
          </a:xfrm>
          <a:prstGeom prst="rect">
            <a:avLst/>
          </a:prstGeom>
          <a:solidFill>
            <a:srgbClr val="F3F6F8"/>
          </a:solidFill>
          <a:ln w="9525">
            <a:solidFill>
              <a:srgbClr val="E1E7EA"/>
            </a:solidFill>
            <a:prstDash val="solid"/>
          </a:ln>
        </p:spPr>
      </p:sp>
      <p:sp>
        <p:nvSpPr>
          <p:cNvPr id="41" name="Text 38"/>
          <p:cNvSpPr/>
          <p:nvPr/>
        </p:nvSpPr>
        <p:spPr>
          <a:xfrm>
            <a:off x="10698480" y="3017520"/>
            <a:ext cx="502920" cy="457200"/>
          </a:xfrm>
          <a:prstGeom prst="rect">
            <a:avLst/>
          </a:prstGeom>
          <a:noFill/>
          <a:ln/>
        </p:spPr>
        <p:txBody>
          <a:bodyPr wrap="square" rtlCol="0" anchor="ctr"/>
          <a:lstStyle/>
          <a:p>
            <a:pPr algn="ctr" indent="0" marL="0">
              <a:buNone/>
            </a:pPr>
            <a:r>
              <a:rPr lang="en-US" sz="930" dirty="0">
                <a:solidFill>
                  <a:srgbClr val="1B2430"/>
                </a:solidFill>
                <a:latin typeface="Calibri" pitchFamily="34" charset="0"/>
                <a:ea typeface="Calibri" pitchFamily="34" charset="-122"/>
                <a:cs typeface="Calibri" pitchFamily="34" charset="-120"/>
              </a:rPr>
              <a:t>55.96</a:t>
            </a:r>
            <a:endParaRPr lang="en-US" sz="930" dirty="0"/>
          </a:p>
        </p:txBody>
      </p:sp>
      <p:sp>
        <p:nvSpPr>
          <p:cNvPr id="42" name="Shape 39"/>
          <p:cNvSpPr/>
          <p:nvPr/>
        </p:nvSpPr>
        <p:spPr>
          <a:xfrm>
            <a:off x="11201400" y="3017520"/>
            <a:ext cx="457200" cy="457200"/>
          </a:xfrm>
          <a:prstGeom prst="rect">
            <a:avLst/>
          </a:prstGeom>
          <a:solidFill>
            <a:srgbClr val="F3F6F8"/>
          </a:solidFill>
          <a:ln w="9525">
            <a:solidFill>
              <a:srgbClr val="E1E7EA"/>
            </a:solidFill>
            <a:prstDash val="solid"/>
          </a:ln>
        </p:spPr>
      </p:sp>
      <p:sp>
        <p:nvSpPr>
          <p:cNvPr id="43" name="Text 40"/>
          <p:cNvSpPr/>
          <p:nvPr/>
        </p:nvSpPr>
        <p:spPr>
          <a:xfrm>
            <a:off x="11201400" y="3017520"/>
            <a:ext cx="457200" cy="457200"/>
          </a:xfrm>
          <a:prstGeom prst="rect">
            <a:avLst/>
          </a:prstGeom>
          <a:noFill/>
          <a:ln/>
        </p:spPr>
        <p:txBody>
          <a:bodyPr wrap="square" rtlCol="0" anchor="ctr"/>
          <a:lstStyle/>
          <a:p>
            <a:pPr algn="ctr" indent="0" marL="0">
              <a:buNone/>
            </a:pPr>
            <a:r>
              <a:rPr lang="en-US" sz="930" dirty="0">
                <a:solidFill>
                  <a:srgbClr val="1B2430"/>
                </a:solidFill>
                <a:latin typeface="Calibri" pitchFamily="34" charset="0"/>
                <a:ea typeface="Calibri" pitchFamily="34" charset="-122"/>
                <a:cs typeface="Calibri" pitchFamily="34" charset="-120"/>
              </a:rPr>
              <a:t>67.40</a:t>
            </a:r>
            <a:endParaRPr lang="en-US" sz="930" dirty="0"/>
          </a:p>
        </p:txBody>
      </p:sp>
      <p:sp>
        <p:nvSpPr>
          <p:cNvPr id="44" name="Shape 41"/>
          <p:cNvSpPr/>
          <p:nvPr/>
        </p:nvSpPr>
        <p:spPr>
          <a:xfrm>
            <a:off x="6858000" y="3794760"/>
            <a:ext cx="4800600" cy="2103120"/>
          </a:xfrm>
          <a:prstGeom prst="roundRect">
            <a:avLst>
              <a:gd name="adj" fmla="val 3478"/>
            </a:avLst>
          </a:prstGeom>
          <a:solidFill>
            <a:srgbClr val="F3F6F8"/>
          </a:solidFill>
          <a:ln/>
        </p:spPr>
      </p:sp>
      <p:sp>
        <p:nvSpPr>
          <p:cNvPr id="45" name="Text 42"/>
          <p:cNvSpPr/>
          <p:nvPr/>
        </p:nvSpPr>
        <p:spPr>
          <a:xfrm>
            <a:off x="7086600" y="3950208"/>
            <a:ext cx="4389120" cy="320040"/>
          </a:xfrm>
          <a:prstGeom prst="rect">
            <a:avLst/>
          </a:prstGeom>
          <a:noFill/>
          <a:ln/>
        </p:spPr>
        <p:txBody>
          <a:bodyPr wrap="square" rtlCol="0" anchor="ctr"/>
          <a:lstStyle/>
          <a:p>
            <a:pPr indent="0" marL="0">
              <a:buNone/>
            </a:pPr>
            <a:r>
              <a:rPr lang="en-US" sz="1300" b="1" dirty="0">
                <a:solidFill>
                  <a:srgbClr val="1B2430"/>
                </a:solidFill>
                <a:latin typeface="Cambria" pitchFamily="34" charset="0"/>
                <a:ea typeface="Cambria" pitchFamily="34" charset="-122"/>
                <a:cs typeface="Cambria" pitchFamily="34" charset="-120"/>
              </a:rPr>
              <a:t>Takeaway</a:t>
            </a:r>
            <a:endParaRPr lang="en-US" sz="1300" dirty="0"/>
          </a:p>
        </p:txBody>
      </p:sp>
      <p:sp>
        <p:nvSpPr>
          <p:cNvPr id="46" name="Text 43"/>
          <p:cNvSpPr/>
          <p:nvPr/>
        </p:nvSpPr>
        <p:spPr>
          <a:xfrm>
            <a:off x="7086600" y="4297680"/>
            <a:ext cx="4389120" cy="1508760"/>
          </a:xfrm>
          <a:prstGeom prst="rect">
            <a:avLst/>
          </a:prstGeom>
          <a:noFill/>
          <a:ln/>
        </p:spPr>
        <p:txBody>
          <a:bodyPr wrap="square" rtlCol="0" anchor="ctr"/>
          <a:lstStyle/>
          <a:p>
            <a:pPr marL="342900" indent="-342900">
              <a:lnSpc>
                <a:spcPct val="120000"/>
              </a:lnSpc>
              <a:spcAft>
                <a:spcPts val="600"/>
              </a:spcAft>
              <a:buSzPct val="100000"/>
              <a:buChar char="•"/>
            </a:pPr>
            <a:r>
              <a:rPr lang="en-US" sz="1030" dirty="0">
                <a:solidFill>
                  <a:srgbClr val="5C6773"/>
                </a:solidFill>
                <a:latin typeface="Calibri" pitchFamily="34" charset="0"/>
                <a:ea typeface="Calibri" pitchFamily="34" charset="-122"/>
                <a:cs typeface="Calibri" pitchFamily="34" charset="-120"/>
              </a:rPr>
              <a:t>MobileNetV2 wins on both tasks and is the recommended backbone for deployment.</a:t>
            </a:r>
            <a:endParaRPr lang="en-US" sz="1030" dirty="0"/>
          </a:p>
          <a:p>
            <a:pPr marL="342900" indent="-342900">
              <a:lnSpc>
                <a:spcPct val="120000"/>
              </a:lnSpc>
              <a:spcAft>
                <a:spcPts val="600"/>
              </a:spcAft>
              <a:buSzPct val="100000"/>
              <a:buChar char="•"/>
            </a:pPr>
            <a:r>
              <a:rPr lang="en-US" sz="1030" dirty="0">
                <a:solidFill>
                  <a:srgbClr val="5C6773"/>
                </a:solidFill>
                <a:latin typeface="Calibri" pitchFamily="34" charset="0"/>
                <a:ea typeface="Calibri" pitchFamily="34" charset="-122"/>
                <a:cs typeface="Calibri" pitchFamily="34" charset="-120"/>
              </a:rPr>
              <a:t>The eye-state task is far easier for both architectures — eye closure is a strong, visually distinct signal.</a:t>
            </a:r>
            <a:endParaRPr lang="en-US" sz="1030" dirty="0"/>
          </a:p>
          <a:p>
            <a:pPr marL="342900" indent="-342900">
              <a:lnSpc>
                <a:spcPct val="120000"/>
              </a:lnSpc>
              <a:spcAft>
                <a:spcPts val="600"/>
              </a:spcAft>
              <a:buSzPct val="100000"/>
              <a:buChar char="•"/>
            </a:pPr>
            <a:r>
              <a:rPr lang="en-US" sz="1030" dirty="0">
                <a:solidFill>
                  <a:srgbClr val="5C6773"/>
                </a:solidFill>
                <a:latin typeface="Calibri" pitchFamily="34" charset="0"/>
                <a:ea typeface="Calibri" pitchFamily="34" charset="-122"/>
                <a:cs typeface="Calibri" pitchFamily="34" charset="-120"/>
              </a:rPr>
              <a:t>The mouth/yawn task remains the weaker link in the system and is the best candidate for further improvement.</a:t>
            </a:r>
            <a:endParaRPr lang="en-US" sz="1030" dirty="0"/>
          </a:p>
        </p:txBody>
      </p:sp>
      <p:sp>
        <p:nvSpPr>
          <p:cNvPr id="47" name="Text 44"/>
          <p:cNvSpPr/>
          <p:nvPr/>
        </p:nvSpPr>
        <p:spPr>
          <a:xfrm>
            <a:off x="457200" y="6492240"/>
            <a:ext cx="6400800" cy="274320"/>
          </a:xfrm>
          <a:prstGeom prst="rect">
            <a:avLst/>
          </a:prstGeom>
          <a:noFill/>
          <a:ln/>
        </p:spPr>
        <p:txBody>
          <a:bodyPr wrap="square" rtlCol="0" anchor="ctr"/>
          <a:lstStyle/>
          <a:p>
            <a:pPr algn="l" indent="0" marL="0">
              <a:buNone/>
            </a:pPr>
            <a:r>
              <a:rPr lang="en-US" sz="900" dirty="0">
                <a:solidFill>
                  <a:srgbClr val="5C6773"/>
                </a:solidFill>
                <a:latin typeface="Calibri" pitchFamily="34" charset="0"/>
                <a:ea typeface="Calibri" pitchFamily="34" charset="-122"/>
                <a:cs typeface="Calibri" pitchFamily="34" charset="-120"/>
              </a:rPr>
              <a:t>Driver Drowsiness Detection</a:t>
            </a:r>
            <a:endParaRPr lang="en-US" sz="900" dirty="0"/>
          </a:p>
        </p:txBody>
      </p:sp>
      <p:sp>
        <p:nvSpPr>
          <p:cNvPr id="48" name="Text 45"/>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C6773"/>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indent="0" marL="0">
              <a:buNone/>
            </a:pPr>
            <a:r>
              <a:rPr lang="en-US" sz="2900" b="1" dirty="0">
                <a:solidFill>
                  <a:srgbClr val="1B2430"/>
                </a:solidFill>
                <a:latin typeface="Cambria" pitchFamily="34" charset="0"/>
                <a:ea typeface="Cambria" pitchFamily="34" charset="-122"/>
                <a:cs typeface="Cambria" pitchFamily="34" charset="-120"/>
              </a:rPr>
              <a:t>Decision Fusion Logic</a:t>
            </a:r>
            <a:endParaRPr lang="en-US" sz="2900" dirty="0"/>
          </a:p>
        </p:txBody>
      </p:sp>
      <p:sp>
        <p:nvSpPr>
          <p:cNvPr id="3" name="Text 1"/>
          <p:cNvSpPr/>
          <p:nvPr/>
        </p:nvSpPr>
        <p:spPr>
          <a:xfrm>
            <a:off x="548640" y="960120"/>
            <a:ext cx="11064240" cy="365760"/>
          </a:xfrm>
          <a:prstGeom prst="rect">
            <a:avLst/>
          </a:prstGeom>
          <a:noFill/>
          <a:ln/>
        </p:spPr>
        <p:txBody>
          <a:bodyPr wrap="square" rtlCol="0" anchor="ctr"/>
          <a:lstStyle/>
          <a:p>
            <a:pPr indent="0" marL="0">
              <a:buNone/>
            </a:pPr>
            <a:r>
              <a:rPr lang="en-US" sz="1300" dirty="0">
                <a:solidFill>
                  <a:srgbClr val="5C6773"/>
                </a:solidFill>
                <a:latin typeface="Calibri" pitchFamily="34" charset="0"/>
                <a:ea typeface="Calibri" pitchFamily="34" charset="-122"/>
                <a:cs typeface="Calibri" pitchFamily="34" charset="-120"/>
              </a:rPr>
              <a:t>Combining eye and mouth predictions into three fatigue levels</a:t>
            </a:r>
            <a:endParaRPr lang="en-US" sz="1300" dirty="0"/>
          </a:p>
        </p:txBody>
      </p:sp>
      <p:sp>
        <p:nvSpPr>
          <p:cNvPr id="4" name="Shape 2"/>
          <p:cNvSpPr/>
          <p:nvPr/>
        </p:nvSpPr>
        <p:spPr>
          <a:xfrm>
            <a:off x="548640" y="1691640"/>
            <a:ext cx="3611880" cy="1828800"/>
          </a:xfrm>
          <a:prstGeom prst="roundRect">
            <a:avLst>
              <a:gd name="adj" fmla="val 4000"/>
            </a:avLst>
          </a:prstGeom>
          <a:solidFill>
            <a:srgbClr val="2FA47A"/>
          </a:solidFill>
          <a:ln/>
        </p:spPr>
      </p:sp>
      <p:sp>
        <p:nvSpPr>
          <p:cNvPr id="5" name="Text 3"/>
          <p:cNvSpPr/>
          <p:nvPr/>
        </p:nvSpPr>
        <p:spPr>
          <a:xfrm>
            <a:off x="777240" y="1874520"/>
            <a:ext cx="640080" cy="54864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0</a:t>
            </a:r>
            <a:endParaRPr lang="en-US" sz="2600" dirty="0"/>
          </a:p>
        </p:txBody>
      </p:sp>
      <p:sp>
        <p:nvSpPr>
          <p:cNvPr id="6" name="Text 4"/>
          <p:cNvSpPr/>
          <p:nvPr/>
        </p:nvSpPr>
        <p:spPr>
          <a:xfrm>
            <a:off x="777240" y="2468880"/>
            <a:ext cx="3154680" cy="457200"/>
          </a:xfrm>
          <a:prstGeom prst="rect">
            <a:avLst/>
          </a:prstGeom>
          <a:noFill/>
          <a:ln/>
        </p:spPr>
        <p:txBody>
          <a:bodyPr wrap="square"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Alert</a:t>
            </a:r>
            <a:endParaRPr lang="en-US" sz="1700" dirty="0"/>
          </a:p>
        </p:txBody>
      </p:sp>
      <p:sp>
        <p:nvSpPr>
          <p:cNvPr id="7" name="Text 5"/>
          <p:cNvSpPr/>
          <p:nvPr/>
        </p:nvSpPr>
        <p:spPr>
          <a:xfrm>
            <a:off x="777240" y="2971800"/>
            <a:ext cx="3154680" cy="45720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Derived from: Open + No Yawn</a:t>
            </a:r>
            <a:endParaRPr lang="en-US" sz="1100" dirty="0"/>
          </a:p>
        </p:txBody>
      </p:sp>
      <p:sp>
        <p:nvSpPr>
          <p:cNvPr id="8" name="Shape 6"/>
          <p:cNvSpPr/>
          <p:nvPr/>
        </p:nvSpPr>
        <p:spPr>
          <a:xfrm>
            <a:off x="4379976" y="1691640"/>
            <a:ext cx="3611880" cy="1828800"/>
          </a:xfrm>
          <a:prstGeom prst="roundRect">
            <a:avLst>
              <a:gd name="adj" fmla="val 4000"/>
            </a:avLst>
          </a:prstGeom>
          <a:solidFill>
            <a:srgbClr val="F2A93B"/>
          </a:solidFill>
          <a:ln/>
        </p:spPr>
      </p:sp>
      <p:sp>
        <p:nvSpPr>
          <p:cNvPr id="9" name="Text 7"/>
          <p:cNvSpPr/>
          <p:nvPr/>
        </p:nvSpPr>
        <p:spPr>
          <a:xfrm>
            <a:off x="4608576" y="1874520"/>
            <a:ext cx="640080" cy="54864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1</a:t>
            </a:r>
            <a:endParaRPr lang="en-US" sz="2600" dirty="0"/>
          </a:p>
        </p:txBody>
      </p:sp>
      <p:sp>
        <p:nvSpPr>
          <p:cNvPr id="10" name="Text 8"/>
          <p:cNvSpPr/>
          <p:nvPr/>
        </p:nvSpPr>
        <p:spPr>
          <a:xfrm>
            <a:off x="4608576" y="2468880"/>
            <a:ext cx="3154680" cy="457200"/>
          </a:xfrm>
          <a:prstGeom prst="rect">
            <a:avLst/>
          </a:prstGeom>
          <a:noFill/>
          <a:ln/>
        </p:spPr>
        <p:txBody>
          <a:bodyPr wrap="square"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Mild Fatigue</a:t>
            </a:r>
            <a:endParaRPr lang="en-US" sz="1700" dirty="0"/>
          </a:p>
        </p:txBody>
      </p:sp>
      <p:sp>
        <p:nvSpPr>
          <p:cNvPr id="11" name="Text 9"/>
          <p:cNvSpPr/>
          <p:nvPr/>
        </p:nvSpPr>
        <p:spPr>
          <a:xfrm>
            <a:off x="4608576" y="2971800"/>
            <a:ext cx="3154680" cy="45720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Derived from: Yawn (eyes open)</a:t>
            </a:r>
            <a:endParaRPr lang="en-US" sz="1100" dirty="0"/>
          </a:p>
        </p:txBody>
      </p:sp>
      <p:sp>
        <p:nvSpPr>
          <p:cNvPr id="12" name="Shape 10"/>
          <p:cNvSpPr/>
          <p:nvPr/>
        </p:nvSpPr>
        <p:spPr>
          <a:xfrm>
            <a:off x="8211312" y="1691640"/>
            <a:ext cx="3611880" cy="1828800"/>
          </a:xfrm>
          <a:prstGeom prst="roundRect">
            <a:avLst>
              <a:gd name="adj" fmla="val 4000"/>
            </a:avLst>
          </a:prstGeom>
          <a:solidFill>
            <a:srgbClr val="D64550"/>
          </a:solidFill>
          <a:ln/>
        </p:spPr>
      </p:sp>
      <p:sp>
        <p:nvSpPr>
          <p:cNvPr id="13" name="Text 11"/>
          <p:cNvSpPr/>
          <p:nvPr/>
        </p:nvSpPr>
        <p:spPr>
          <a:xfrm>
            <a:off x="8439912" y="1874520"/>
            <a:ext cx="640080" cy="54864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2</a:t>
            </a:r>
            <a:endParaRPr lang="en-US" sz="2600" dirty="0"/>
          </a:p>
        </p:txBody>
      </p:sp>
      <p:sp>
        <p:nvSpPr>
          <p:cNvPr id="14" name="Text 12"/>
          <p:cNvSpPr/>
          <p:nvPr/>
        </p:nvSpPr>
        <p:spPr>
          <a:xfrm>
            <a:off x="8439912" y="2468880"/>
            <a:ext cx="3154680" cy="457200"/>
          </a:xfrm>
          <a:prstGeom prst="rect">
            <a:avLst/>
          </a:prstGeom>
          <a:noFill/>
          <a:ln/>
        </p:spPr>
        <p:txBody>
          <a:bodyPr wrap="square"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Severe Fatigue</a:t>
            </a:r>
            <a:endParaRPr lang="en-US" sz="1700" dirty="0"/>
          </a:p>
        </p:txBody>
      </p:sp>
      <p:sp>
        <p:nvSpPr>
          <p:cNvPr id="15" name="Text 13"/>
          <p:cNvSpPr/>
          <p:nvPr/>
        </p:nvSpPr>
        <p:spPr>
          <a:xfrm>
            <a:off x="8439912" y="2971800"/>
            <a:ext cx="3154680" cy="45720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Derived from: Closed (any mouth state)</a:t>
            </a:r>
            <a:endParaRPr lang="en-US" sz="1100" dirty="0"/>
          </a:p>
        </p:txBody>
      </p:sp>
      <p:sp>
        <p:nvSpPr>
          <p:cNvPr id="16" name="Shape 14"/>
          <p:cNvSpPr/>
          <p:nvPr/>
        </p:nvSpPr>
        <p:spPr>
          <a:xfrm>
            <a:off x="548640" y="3794760"/>
            <a:ext cx="11064240" cy="960120"/>
          </a:xfrm>
          <a:prstGeom prst="roundRect">
            <a:avLst>
              <a:gd name="adj" fmla="val 6667"/>
            </a:avLst>
          </a:prstGeom>
          <a:solidFill>
            <a:srgbClr val="0D1B2A"/>
          </a:solidFill>
          <a:ln/>
        </p:spPr>
      </p:sp>
      <p:sp>
        <p:nvSpPr>
          <p:cNvPr id="17" name="Text 15"/>
          <p:cNvSpPr/>
          <p:nvPr/>
        </p:nvSpPr>
        <p:spPr>
          <a:xfrm>
            <a:off x="822960" y="3794760"/>
            <a:ext cx="10515600" cy="960120"/>
          </a:xfrm>
          <a:prstGeom prst="rect">
            <a:avLst/>
          </a:prstGeom>
          <a:noFill/>
          <a:ln/>
        </p:spPr>
        <p:txBody>
          <a:bodyPr wrap="square" rtlCol="0" anchor="ctr"/>
          <a:lstStyle/>
          <a:p>
            <a:pPr indent="0" marL="0">
              <a:lnSpc>
                <a:spcPct val="120000"/>
              </a:lnSpc>
              <a:buNone/>
            </a:pPr>
            <a:r>
              <a:rPr lang="en-US" sz="1250" dirty="0">
                <a:solidFill>
                  <a:srgbClr val="E4EBF0"/>
                </a:solidFill>
                <a:latin typeface="Calibri" pitchFamily="34" charset="0"/>
                <a:ea typeface="Calibri" pitchFamily="34" charset="-122"/>
                <a:cs typeface="Calibri" pitchFamily="34" charset="-120"/>
              </a:rPr>
              <a:t>Priority Rule:  Closed → Severe Fatigue,  otherwise Yawn → Mild Fatigue,  otherwise → Alert.  A Closed + Yawn combination is treated as Severe Fatigue, since eye closure carries the higher safety priority.</a:t>
            </a:r>
            <a:endParaRPr lang="en-US" sz="1250" dirty="0"/>
          </a:p>
        </p:txBody>
      </p:sp>
      <p:sp>
        <p:nvSpPr>
          <p:cNvPr id="18" name="Shape 16"/>
          <p:cNvSpPr/>
          <p:nvPr/>
        </p:nvSpPr>
        <p:spPr>
          <a:xfrm>
            <a:off x="548640" y="4937760"/>
            <a:ext cx="11064240" cy="1143000"/>
          </a:xfrm>
          <a:prstGeom prst="roundRect">
            <a:avLst>
              <a:gd name="adj" fmla="val 6400"/>
            </a:avLst>
          </a:prstGeom>
          <a:solidFill>
            <a:srgbClr val="FBEFE0"/>
          </a:solidFill>
          <a:ln w="12700">
            <a:solidFill>
              <a:srgbClr val="F2A93B"/>
            </a:solidFill>
            <a:prstDash val="solid"/>
          </a:ln>
        </p:spPr>
      </p:sp>
      <p:sp>
        <p:nvSpPr>
          <p:cNvPr id="19" name="Text 17"/>
          <p:cNvSpPr/>
          <p:nvPr/>
        </p:nvSpPr>
        <p:spPr>
          <a:xfrm>
            <a:off x="822960" y="5074920"/>
            <a:ext cx="10515600" cy="320040"/>
          </a:xfrm>
          <a:prstGeom prst="rect">
            <a:avLst/>
          </a:prstGeom>
          <a:noFill/>
          <a:ln/>
        </p:spPr>
        <p:txBody>
          <a:bodyPr wrap="square" rtlCol="0" anchor="ctr"/>
          <a:lstStyle/>
          <a:p>
            <a:pPr indent="0" marL="0">
              <a:buNone/>
            </a:pPr>
            <a:r>
              <a:rPr lang="en-US" sz="1200" b="1" dirty="0">
                <a:solidFill>
                  <a:srgbClr val="8A5A0F"/>
                </a:solidFill>
                <a:latin typeface="Calibri" pitchFamily="34" charset="0"/>
                <a:ea typeface="Calibri" pitchFamily="34" charset="-122"/>
                <a:cs typeface="Calibri" pitchFamily="34" charset="-120"/>
              </a:rPr>
              <a:t>⚠ Important Fusion Limitation</a:t>
            </a:r>
            <a:endParaRPr lang="en-US" sz="1200" dirty="0"/>
          </a:p>
        </p:txBody>
      </p:sp>
      <p:sp>
        <p:nvSpPr>
          <p:cNvPr id="20" name="Text 18"/>
          <p:cNvSpPr/>
          <p:nvPr/>
        </p:nvSpPr>
        <p:spPr>
          <a:xfrm>
            <a:off x="822960" y="5394960"/>
            <a:ext cx="10515600" cy="640080"/>
          </a:xfrm>
          <a:prstGeom prst="rect">
            <a:avLst/>
          </a:prstGeom>
          <a:noFill/>
          <a:ln/>
        </p:spPr>
        <p:txBody>
          <a:bodyPr wrap="square" rtlCol="0" anchor="ctr"/>
          <a:lstStyle/>
          <a:p>
            <a:pPr indent="0" marL="0">
              <a:lnSpc>
                <a:spcPct val="120000"/>
              </a:lnSpc>
              <a:buNone/>
            </a:pPr>
            <a:r>
              <a:rPr lang="en-US" sz="1100" dirty="0">
                <a:solidFill>
                  <a:srgbClr val="6B4A14"/>
                </a:solidFill>
                <a:latin typeface="Calibri" pitchFamily="34" charset="0"/>
                <a:ea typeface="Calibri" pitchFamily="34" charset="-122"/>
                <a:cs typeface="Calibri" pitchFamily="34" charset="-120"/>
              </a:rPr>
              <a:t>The eye and mouth test sets are stored independently. Unless each eye image and mouth image is paired by an identifier to the same original facial frame, simply combining two test arrays does not create a scientifically valid frame-level fusion.</a:t>
            </a:r>
            <a:endParaRPr lang="en-US" sz="1100" dirty="0"/>
          </a:p>
        </p:txBody>
      </p:sp>
      <p:sp>
        <p:nvSpPr>
          <p:cNvPr id="21" name="Text 19"/>
          <p:cNvSpPr/>
          <p:nvPr/>
        </p:nvSpPr>
        <p:spPr>
          <a:xfrm>
            <a:off x="457200" y="6492240"/>
            <a:ext cx="6400800" cy="274320"/>
          </a:xfrm>
          <a:prstGeom prst="rect">
            <a:avLst/>
          </a:prstGeom>
          <a:noFill/>
          <a:ln/>
        </p:spPr>
        <p:txBody>
          <a:bodyPr wrap="square" rtlCol="0" anchor="ctr"/>
          <a:lstStyle/>
          <a:p>
            <a:pPr algn="l" indent="0" marL="0">
              <a:buNone/>
            </a:pPr>
            <a:r>
              <a:rPr lang="en-US" sz="900" dirty="0">
                <a:solidFill>
                  <a:srgbClr val="5C6773"/>
                </a:solidFill>
                <a:latin typeface="Calibri" pitchFamily="34" charset="0"/>
                <a:ea typeface="Calibri" pitchFamily="34" charset="-122"/>
                <a:cs typeface="Calibri" pitchFamily="34" charset="-120"/>
              </a:rPr>
              <a:t>Driver Drowsiness Detection</a:t>
            </a:r>
            <a:endParaRPr lang="en-US" sz="900" dirty="0"/>
          </a:p>
        </p:txBody>
      </p:sp>
      <p:sp>
        <p:nvSpPr>
          <p:cNvPr id="22" name="Text 20"/>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C6773"/>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indent="0" marL="0">
              <a:buNone/>
            </a:pPr>
            <a:r>
              <a:rPr lang="en-US" sz="2900" b="1" dirty="0">
                <a:solidFill>
                  <a:srgbClr val="1B2430"/>
                </a:solidFill>
                <a:latin typeface="Cambria" pitchFamily="34" charset="0"/>
                <a:ea typeface="Cambria" pitchFamily="34" charset="-122"/>
                <a:cs typeface="Cambria" pitchFamily="34" charset="-120"/>
              </a:rPr>
              <a:t>Simulated Fatigue Distribution</a:t>
            </a:r>
            <a:endParaRPr lang="en-US" sz="2900" dirty="0"/>
          </a:p>
        </p:txBody>
      </p:sp>
      <p:sp>
        <p:nvSpPr>
          <p:cNvPr id="3" name="Text 1"/>
          <p:cNvSpPr/>
          <p:nvPr/>
        </p:nvSpPr>
        <p:spPr>
          <a:xfrm>
            <a:off x="548640" y="960120"/>
            <a:ext cx="11064240" cy="365760"/>
          </a:xfrm>
          <a:prstGeom prst="rect">
            <a:avLst/>
          </a:prstGeom>
          <a:noFill/>
          <a:ln/>
        </p:spPr>
        <p:txBody>
          <a:bodyPr wrap="square" rtlCol="0" anchor="ctr"/>
          <a:lstStyle/>
          <a:p>
            <a:pPr indent="0" marL="0">
              <a:buNone/>
            </a:pPr>
            <a:r>
              <a:rPr lang="en-US" sz="1300" dirty="0">
                <a:solidFill>
                  <a:srgbClr val="5C6773"/>
                </a:solidFill>
                <a:latin typeface="Calibri" pitchFamily="34" charset="0"/>
                <a:ea typeface="Calibri" pitchFamily="34" charset="-122"/>
                <a:cs typeface="Calibri" pitchFamily="34" charset="-120"/>
              </a:rPr>
              <a:t>Fusion logic applied to 218 paired eye/mouth test predictions</a:t>
            </a:r>
            <a:endParaRPr lang="en-US" sz="1300" dirty="0"/>
          </a:p>
        </p:txBody>
      </p:sp>
      <p:graphicFrame>
        <p:nvGraphicFramePr>
          <p:cNvPr id="4" name="Chart 0" descr=""/>
          <p:cNvGraphicFramePr/>
          <p:nvPr/>
        </p:nvGraphicFramePr>
        <p:xfrm>
          <a:off x="731520" y="1737360"/>
          <a:ext cx="4937760" cy="42062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263640" y="1737360"/>
            <a:ext cx="5257800" cy="1051560"/>
          </a:xfrm>
          <a:prstGeom prst="roundRect">
            <a:avLst>
              <a:gd name="adj" fmla="val 6957"/>
            </a:avLst>
          </a:prstGeom>
          <a:solidFill>
            <a:srgbClr val="F3F6F8"/>
          </a:solidFill>
          <a:ln/>
        </p:spPr>
      </p:sp>
      <p:sp>
        <p:nvSpPr>
          <p:cNvPr id="6" name="Shape 3"/>
          <p:cNvSpPr/>
          <p:nvPr/>
        </p:nvSpPr>
        <p:spPr>
          <a:xfrm>
            <a:off x="6263640" y="1737360"/>
            <a:ext cx="109728" cy="1051560"/>
          </a:xfrm>
          <a:prstGeom prst="rect">
            <a:avLst/>
          </a:prstGeom>
          <a:solidFill>
            <a:srgbClr val="2FA47A"/>
          </a:solidFill>
          <a:ln/>
        </p:spPr>
      </p:sp>
      <p:sp>
        <p:nvSpPr>
          <p:cNvPr id="7" name="Text 4"/>
          <p:cNvSpPr/>
          <p:nvPr/>
        </p:nvSpPr>
        <p:spPr>
          <a:xfrm>
            <a:off x="6583680" y="1874520"/>
            <a:ext cx="2743200" cy="365760"/>
          </a:xfrm>
          <a:prstGeom prst="rect">
            <a:avLst/>
          </a:prstGeom>
          <a:noFill/>
          <a:ln/>
        </p:spPr>
        <p:txBody>
          <a:bodyPr wrap="square" rtlCol="0" anchor="ctr"/>
          <a:lstStyle/>
          <a:p>
            <a:pPr indent="0" marL="0">
              <a:buNone/>
            </a:pPr>
            <a:r>
              <a:rPr lang="en-US" sz="1400" b="1" dirty="0">
                <a:solidFill>
                  <a:srgbClr val="1B2430"/>
                </a:solidFill>
                <a:latin typeface="Cambria" pitchFamily="34" charset="0"/>
                <a:ea typeface="Cambria" pitchFamily="34" charset="-122"/>
                <a:cs typeface="Cambria" pitchFamily="34" charset="-120"/>
              </a:rPr>
              <a:t>Alert</a:t>
            </a:r>
            <a:endParaRPr lang="en-US" sz="1400" dirty="0"/>
          </a:p>
        </p:txBody>
      </p:sp>
      <p:sp>
        <p:nvSpPr>
          <p:cNvPr id="8" name="Text 5"/>
          <p:cNvSpPr/>
          <p:nvPr/>
        </p:nvSpPr>
        <p:spPr>
          <a:xfrm>
            <a:off x="6583680" y="2286000"/>
            <a:ext cx="2743200" cy="365760"/>
          </a:xfrm>
          <a:prstGeom prst="rect">
            <a:avLst/>
          </a:prstGeom>
          <a:noFill/>
          <a:ln/>
        </p:spPr>
        <p:txBody>
          <a:bodyPr wrap="square" rtlCol="0" anchor="ctr"/>
          <a:lstStyle/>
          <a:p>
            <a:pPr indent="0" marL="0">
              <a:buNone/>
            </a:pPr>
            <a:r>
              <a:rPr lang="en-US" sz="1100" dirty="0">
                <a:solidFill>
                  <a:srgbClr val="5C6773"/>
                </a:solidFill>
                <a:latin typeface="Calibri" pitchFamily="34" charset="0"/>
                <a:ea typeface="Calibri" pitchFamily="34" charset="-122"/>
                <a:cs typeface="Calibri" pitchFamily="34" charset="-120"/>
              </a:rPr>
              <a:t>48 frames</a:t>
            </a:r>
            <a:endParaRPr lang="en-US" sz="1100" dirty="0"/>
          </a:p>
        </p:txBody>
      </p:sp>
      <p:sp>
        <p:nvSpPr>
          <p:cNvPr id="9" name="Text 6"/>
          <p:cNvSpPr/>
          <p:nvPr/>
        </p:nvSpPr>
        <p:spPr>
          <a:xfrm>
            <a:off x="9509760" y="1737360"/>
            <a:ext cx="1828800" cy="1051560"/>
          </a:xfrm>
          <a:prstGeom prst="rect">
            <a:avLst/>
          </a:prstGeom>
          <a:noFill/>
          <a:ln/>
        </p:spPr>
        <p:txBody>
          <a:bodyPr wrap="square" rtlCol="0" anchor="ctr"/>
          <a:lstStyle/>
          <a:p>
            <a:pPr algn="r" indent="0" marL="0">
              <a:buNone/>
            </a:pPr>
            <a:r>
              <a:rPr lang="en-US" sz="2400" b="1" dirty="0">
                <a:solidFill>
                  <a:srgbClr val="2FA47A"/>
                </a:solidFill>
                <a:latin typeface="Cambria" pitchFamily="34" charset="0"/>
                <a:ea typeface="Cambria" pitchFamily="34" charset="-122"/>
                <a:cs typeface="Cambria" pitchFamily="34" charset="-120"/>
              </a:rPr>
              <a:t>22.0%</a:t>
            </a:r>
            <a:endParaRPr lang="en-US" sz="2400" dirty="0"/>
          </a:p>
        </p:txBody>
      </p:sp>
      <p:sp>
        <p:nvSpPr>
          <p:cNvPr id="10" name="Shape 7"/>
          <p:cNvSpPr/>
          <p:nvPr/>
        </p:nvSpPr>
        <p:spPr>
          <a:xfrm>
            <a:off x="6263640" y="2971800"/>
            <a:ext cx="5257800" cy="1051560"/>
          </a:xfrm>
          <a:prstGeom prst="roundRect">
            <a:avLst>
              <a:gd name="adj" fmla="val 6957"/>
            </a:avLst>
          </a:prstGeom>
          <a:solidFill>
            <a:srgbClr val="F3F6F8"/>
          </a:solidFill>
          <a:ln/>
        </p:spPr>
      </p:sp>
      <p:sp>
        <p:nvSpPr>
          <p:cNvPr id="11" name="Shape 8"/>
          <p:cNvSpPr/>
          <p:nvPr/>
        </p:nvSpPr>
        <p:spPr>
          <a:xfrm>
            <a:off x="6263640" y="2971800"/>
            <a:ext cx="109728" cy="1051560"/>
          </a:xfrm>
          <a:prstGeom prst="rect">
            <a:avLst/>
          </a:prstGeom>
          <a:solidFill>
            <a:srgbClr val="F2A93B"/>
          </a:solidFill>
          <a:ln/>
        </p:spPr>
      </p:sp>
      <p:sp>
        <p:nvSpPr>
          <p:cNvPr id="12" name="Text 9"/>
          <p:cNvSpPr/>
          <p:nvPr/>
        </p:nvSpPr>
        <p:spPr>
          <a:xfrm>
            <a:off x="6583680" y="3108960"/>
            <a:ext cx="2743200" cy="365760"/>
          </a:xfrm>
          <a:prstGeom prst="rect">
            <a:avLst/>
          </a:prstGeom>
          <a:noFill/>
          <a:ln/>
        </p:spPr>
        <p:txBody>
          <a:bodyPr wrap="square" rtlCol="0" anchor="ctr"/>
          <a:lstStyle/>
          <a:p>
            <a:pPr indent="0" marL="0">
              <a:buNone/>
            </a:pPr>
            <a:r>
              <a:rPr lang="en-US" sz="1400" b="1" dirty="0">
                <a:solidFill>
                  <a:srgbClr val="1B2430"/>
                </a:solidFill>
                <a:latin typeface="Cambria" pitchFamily="34" charset="0"/>
                <a:ea typeface="Cambria" pitchFamily="34" charset="-122"/>
                <a:cs typeface="Cambria" pitchFamily="34" charset="-120"/>
              </a:rPr>
              <a:t>Mild Fatigue</a:t>
            </a:r>
            <a:endParaRPr lang="en-US" sz="1400" dirty="0"/>
          </a:p>
        </p:txBody>
      </p:sp>
      <p:sp>
        <p:nvSpPr>
          <p:cNvPr id="13" name="Text 10"/>
          <p:cNvSpPr/>
          <p:nvPr/>
        </p:nvSpPr>
        <p:spPr>
          <a:xfrm>
            <a:off x="6583680" y="3520440"/>
            <a:ext cx="2743200" cy="365760"/>
          </a:xfrm>
          <a:prstGeom prst="rect">
            <a:avLst/>
          </a:prstGeom>
          <a:noFill/>
          <a:ln/>
        </p:spPr>
        <p:txBody>
          <a:bodyPr wrap="square" rtlCol="0" anchor="ctr"/>
          <a:lstStyle/>
          <a:p>
            <a:pPr indent="0" marL="0">
              <a:buNone/>
            </a:pPr>
            <a:r>
              <a:rPr lang="en-US" sz="1100" dirty="0">
                <a:solidFill>
                  <a:srgbClr val="5C6773"/>
                </a:solidFill>
                <a:latin typeface="Calibri" pitchFamily="34" charset="0"/>
                <a:ea typeface="Calibri" pitchFamily="34" charset="-122"/>
                <a:cs typeface="Calibri" pitchFamily="34" charset="-120"/>
              </a:rPr>
              <a:t>61 frames</a:t>
            </a:r>
            <a:endParaRPr lang="en-US" sz="1100" dirty="0"/>
          </a:p>
        </p:txBody>
      </p:sp>
      <p:sp>
        <p:nvSpPr>
          <p:cNvPr id="14" name="Text 11"/>
          <p:cNvSpPr/>
          <p:nvPr/>
        </p:nvSpPr>
        <p:spPr>
          <a:xfrm>
            <a:off x="9509760" y="2971800"/>
            <a:ext cx="1828800" cy="1051560"/>
          </a:xfrm>
          <a:prstGeom prst="rect">
            <a:avLst/>
          </a:prstGeom>
          <a:noFill/>
          <a:ln/>
        </p:spPr>
        <p:txBody>
          <a:bodyPr wrap="square" rtlCol="0" anchor="ctr"/>
          <a:lstStyle/>
          <a:p>
            <a:pPr algn="r" indent="0" marL="0">
              <a:buNone/>
            </a:pPr>
            <a:r>
              <a:rPr lang="en-US" sz="2400" b="1" dirty="0">
                <a:solidFill>
                  <a:srgbClr val="F2A93B"/>
                </a:solidFill>
                <a:latin typeface="Cambria" pitchFamily="34" charset="0"/>
                <a:ea typeface="Cambria" pitchFamily="34" charset="-122"/>
                <a:cs typeface="Cambria" pitchFamily="34" charset="-120"/>
              </a:rPr>
              <a:t>28.0%</a:t>
            </a:r>
            <a:endParaRPr lang="en-US" sz="2400" dirty="0"/>
          </a:p>
        </p:txBody>
      </p:sp>
      <p:sp>
        <p:nvSpPr>
          <p:cNvPr id="15" name="Shape 12"/>
          <p:cNvSpPr/>
          <p:nvPr/>
        </p:nvSpPr>
        <p:spPr>
          <a:xfrm>
            <a:off x="6263640" y="4206240"/>
            <a:ext cx="5257800" cy="1051560"/>
          </a:xfrm>
          <a:prstGeom prst="roundRect">
            <a:avLst>
              <a:gd name="adj" fmla="val 6957"/>
            </a:avLst>
          </a:prstGeom>
          <a:solidFill>
            <a:srgbClr val="F3F6F8"/>
          </a:solidFill>
          <a:ln/>
        </p:spPr>
      </p:sp>
      <p:sp>
        <p:nvSpPr>
          <p:cNvPr id="16" name="Shape 13"/>
          <p:cNvSpPr/>
          <p:nvPr/>
        </p:nvSpPr>
        <p:spPr>
          <a:xfrm>
            <a:off x="6263640" y="4206240"/>
            <a:ext cx="109728" cy="1051560"/>
          </a:xfrm>
          <a:prstGeom prst="rect">
            <a:avLst/>
          </a:prstGeom>
          <a:solidFill>
            <a:srgbClr val="D64550"/>
          </a:solidFill>
          <a:ln/>
        </p:spPr>
      </p:sp>
      <p:sp>
        <p:nvSpPr>
          <p:cNvPr id="17" name="Text 14"/>
          <p:cNvSpPr/>
          <p:nvPr/>
        </p:nvSpPr>
        <p:spPr>
          <a:xfrm>
            <a:off x="6583680" y="4343400"/>
            <a:ext cx="2743200" cy="365760"/>
          </a:xfrm>
          <a:prstGeom prst="rect">
            <a:avLst/>
          </a:prstGeom>
          <a:noFill/>
          <a:ln/>
        </p:spPr>
        <p:txBody>
          <a:bodyPr wrap="square" rtlCol="0" anchor="ctr"/>
          <a:lstStyle/>
          <a:p>
            <a:pPr indent="0" marL="0">
              <a:buNone/>
            </a:pPr>
            <a:r>
              <a:rPr lang="en-US" sz="1400" b="1" dirty="0">
                <a:solidFill>
                  <a:srgbClr val="1B2430"/>
                </a:solidFill>
                <a:latin typeface="Cambria" pitchFamily="34" charset="0"/>
                <a:ea typeface="Cambria" pitchFamily="34" charset="-122"/>
                <a:cs typeface="Cambria" pitchFamily="34" charset="-120"/>
              </a:rPr>
              <a:t>Severe Fatigue</a:t>
            </a:r>
            <a:endParaRPr lang="en-US" sz="1400" dirty="0"/>
          </a:p>
        </p:txBody>
      </p:sp>
      <p:sp>
        <p:nvSpPr>
          <p:cNvPr id="18" name="Text 15"/>
          <p:cNvSpPr/>
          <p:nvPr/>
        </p:nvSpPr>
        <p:spPr>
          <a:xfrm>
            <a:off x="6583680" y="4754880"/>
            <a:ext cx="2743200" cy="365760"/>
          </a:xfrm>
          <a:prstGeom prst="rect">
            <a:avLst/>
          </a:prstGeom>
          <a:noFill/>
          <a:ln/>
        </p:spPr>
        <p:txBody>
          <a:bodyPr wrap="square" rtlCol="0" anchor="ctr"/>
          <a:lstStyle/>
          <a:p>
            <a:pPr indent="0" marL="0">
              <a:buNone/>
            </a:pPr>
            <a:r>
              <a:rPr lang="en-US" sz="1100" dirty="0">
                <a:solidFill>
                  <a:srgbClr val="5C6773"/>
                </a:solidFill>
                <a:latin typeface="Calibri" pitchFamily="34" charset="0"/>
                <a:ea typeface="Calibri" pitchFamily="34" charset="-122"/>
                <a:cs typeface="Calibri" pitchFamily="34" charset="-120"/>
              </a:rPr>
              <a:t>109 frames</a:t>
            </a:r>
            <a:endParaRPr lang="en-US" sz="1100" dirty="0"/>
          </a:p>
        </p:txBody>
      </p:sp>
      <p:sp>
        <p:nvSpPr>
          <p:cNvPr id="19" name="Text 16"/>
          <p:cNvSpPr/>
          <p:nvPr/>
        </p:nvSpPr>
        <p:spPr>
          <a:xfrm>
            <a:off x="9509760" y="4206240"/>
            <a:ext cx="1828800" cy="1051560"/>
          </a:xfrm>
          <a:prstGeom prst="rect">
            <a:avLst/>
          </a:prstGeom>
          <a:noFill/>
          <a:ln/>
        </p:spPr>
        <p:txBody>
          <a:bodyPr wrap="square" rtlCol="0" anchor="ctr"/>
          <a:lstStyle/>
          <a:p>
            <a:pPr algn="r" indent="0" marL="0">
              <a:buNone/>
            </a:pPr>
            <a:r>
              <a:rPr lang="en-US" sz="2400" b="1" dirty="0">
                <a:solidFill>
                  <a:srgbClr val="D64550"/>
                </a:solidFill>
                <a:latin typeface="Cambria" pitchFamily="34" charset="0"/>
                <a:ea typeface="Cambria" pitchFamily="34" charset="-122"/>
                <a:cs typeface="Cambria" pitchFamily="34" charset="-120"/>
              </a:rPr>
              <a:t>50.0%</a:t>
            </a:r>
            <a:endParaRPr lang="en-US" sz="2400" dirty="0"/>
          </a:p>
        </p:txBody>
      </p:sp>
      <p:sp>
        <p:nvSpPr>
          <p:cNvPr id="20" name="Text 17"/>
          <p:cNvSpPr/>
          <p:nvPr/>
        </p:nvSpPr>
        <p:spPr>
          <a:xfrm>
            <a:off x="6263640" y="5486400"/>
            <a:ext cx="5257800" cy="594360"/>
          </a:xfrm>
          <a:prstGeom prst="rect">
            <a:avLst/>
          </a:prstGeom>
          <a:noFill/>
          <a:ln/>
        </p:spPr>
        <p:txBody>
          <a:bodyPr wrap="square" rtlCol="0" anchor="ctr"/>
          <a:lstStyle/>
          <a:p>
            <a:pPr indent="0" marL="0">
              <a:lnSpc>
                <a:spcPct val="120000"/>
              </a:lnSpc>
              <a:buNone/>
            </a:pPr>
            <a:r>
              <a:rPr lang="en-US" sz="1050" i="1" dirty="0">
                <a:solidFill>
                  <a:srgbClr val="5C6773"/>
                </a:solidFill>
                <a:latin typeface="Calibri" pitchFamily="34" charset="0"/>
                <a:ea typeface="Calibri" pitchFamily="34" charset="-122"/>
                <a:cs typeface="Calibri" pitchFamily="34" charset="-120"/>
              </a:rPr>
              <a:t>Half of the simulated test frames fall into Severe Fatigue — largely reflecting that the priority rule classifies eyes-closed as severe regardless of mouth state.</a:t>
            </a:r>
            <a:endParaRPr lang="en-US" sz="1050" dirty="0"/>
          </a:p>
        </p:txBody>
      </p:sp>
      <p:sp>
        <p:nvSpPr>
          <p:cNvPr id="21" name="Text 18"/>
          <p:cNvSpPr/>
          <p:nvPr/>
        </p:nvSpPr>
        <p:spPr>
          <a:xfrm>
            <a:off x="457200" y="6492240"/>
            <a:ext cx="6400800" cy="274320"/>
          </a:xfrm>
          <a:prstGeom prst="rect">
            <a:avLst/>
          </a:prstGeom>
          <a:noFill/>
          <a:ln/>
        </p:spPr>
        <p:txBody>
          <a:bodyPr wrap="square" rtlCol="0" anchor="ctr"/>
          <a:lstStyle/>
          <a:p>
            <a:pPr algn="l" indent="0" marL="0">
              <a:buNone/>
            </a:pPr>
            <a:r>
              <a:rPr lang="en-US" sz="900" dirty="0">
                <a:solidFill>
                  <a:srgbClr val="5C6773"/>
                </a:solidFill>
                <a:latin typeface="Calibri" pitchFamily="34" charset="0"/>
                <a:ea typeface="Calibri" pitchFamily="34" charset="-122"/>
                <a:cs typeface="Calibri" pitchFamily="34" charset="-120"/>
              </a:rPr>
              <a:t>Driver Drowsiness Detection</a:t>
            </a:r>
            <a:endParaRPr lang="en-US" sz="900" dirty="0"/>
          </a:p>
        </p:txBody>
      </p:sp>
      <p:sp>
        <p:nvSpPr>
          <p:cNvPr id="22" name="Text 19"/>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C6773"/>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indent="0" marL="0">
              <a:buNone/>
            </a:pPr>
            <a:r>
              <a:rPr lang="en-US" sz="2900" b="1" dirty="0">
                <a:solidFill>
                  <a:srgbClr val="1B2430"/>
                </a:solidFill>
                <a:latin typeface="Cambria" pitchFamily="34" charset="0"/>
                <a:ea typeface="Cambria" pitchFamily="34" charset="-122"/>
                <a:cs typeface="Cambria" pitchFamily="34" charset="-120"/>
              </a:rPr>
              <a:t>Driver Fatigue Progression Curve</a:t>
            </a:r>
            <a:endParaRPr lang="en-US" sz="2900" dirty="0"/>
          </a:p>
        </p:txBody>
      </p:sp>
      <p:sp>
        <p:nvSpPr>
          <p:cNvPr id="3" name="Text 1"/>
          <p:cNvSpPr/>
          <p:nvPr/>
        </p:nvSpPr>
        <p:spPr>
          <a:xfrm>
            <a:off x="548640" y="960120"/>
            <a:ext cx="11064240" cy="365760"/>
          </a:xfrm>
          <a:prstGeom prst="rect">
            <a:avLst/>
          </a:prstGeom>
          <a:noFill/>
          <a:ln/>
        </p:spPr>
        <p:txBody>
          <a:bodyPr wrap="square" rtlCol="0" anchor="ctr"/>
          <a:lstStyle/>
          <a:p>
            <a:pPr indent="0" marL="0">
              <a:buNone/>
            </a:pPr>
            <a:r>
              <a:rPr lang="en-US" sz="1300" dirty="0">
                <a:solidFill>
                  <a:srgbClr val="5C6773"/>
                </a:solidFill>
                <a:latin typeface="Calibri" pitchFamily="34" charset="0"/>
                <a:ea typeface="Calibri" pitchFamily="34" charset="-122"/>
                <a:cs typeface="Calibri" pitchFamily="34" charset="-120"/>
              </a:rPr>
              <a:t>Grouping sequential predictions into simulated time intervals</a:t>
            </a:r>
            <a:endParaRPr lang="en-US" sz="1300" dirty="0"/>
          </a:p>
        </p:txBody>
      </p:sp>
      <p:sp>
        <p:nvSpPr>
          <p:cNvPr id="4" name="Shape 2"/>
          <p:cNvSpPr/>
          <p:nvPr/>
        </p:nvSpPr>
        <p:spPr>
          <a:xfrm>
            <a:off x="548640" y="1691640"/>
            <a:ext cx="457200" cy="457200"/>
          </a:xfrm>
          <a:prstGeom prst="roundRect">
            <a:avLst>
              <a:gd name="adj" fmla="val 50000"/>
            </a:avLst>
          </a:prstGeom>
          <a:solidFill>
            <a:srgbClr val="2E86AB"/>
          </a:solidFill>
          <a:ln/>
        </p:spPr>
      </p:sp>
      <p:sp>
        <p:nvSpPr>
          <p:cNvPr id="5" name="Text 3"/>
          <p:cNvSpPr/>
          <p:nvPr/>
        </p:nvSpPr>
        <p:spPr>
          <a:xfrm>
            <a:off x="548640" y="1691640"/>
            <a:ext cx="457200" cy="45720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6" name="Text 4"/>
          <p:cNvSpPr/>
          <p:nvPr/>
        </p:nvSpPr>
        <p:spPr>
          <a:xfrm>
            <a:off x="1234440" y="1664208"/>
            <a:ext cx="2834640" cy="777240"/>
          </a:xfrm>
          <a:prstGeom prst="rect">
            <a:avLst/>
          </a:prstGeom>
          <a:noFill/>
          <a:ln/>
        </p:spPr>
        <p:txBody>
          <a:bodyPr wrap="square" rtlCol="0" anchor="t"/>
          <a:lstStyle/>
          <a:p>
            <a:pPr indent="0" marL="0">
              <a:buNone/>
            </a:pPr>
            <a:r>
              <a:rPr lang="en-US" sz="1300" b="1" dirty="0">
                <a:solidFill>
                  <a:srgbClr val="1B2430"/>
                </a:solidFill>
                <a:latin typeface="Cambria" pitchFamily="34" charset="0"/>
                <a:ea typeface="Cambria" pitchFamily="34" charset="-122"/>
                <a:cs typeface="Cambria" pitchFamily="34" charset="-120"/>
              </a:rPr>
              <a:t>Build a Time Sequence</a:t>
            </a:r>
            <a:endParaRPr lang="en-US" sz="1300" dirty="0"/>
          </a:p>
        </p:txBody>
      </p:sp>
      <p:sp>
        <p:nvSpPr>
          <p:cNvPr id="7" name="Text 5"/>
          <p:cNvSpPr/>
          <p:nvPr/>
        </p:nvSpPr>
        <p:spPr>
          <a:xfrm>
            <a:off x="4206240" y="1664208"/>
            <a:ext cx="7452360" cy="777240"/>
          </a:xfrm>
          <a:prstGeom prst="rect">
            <a:avLst/>
          </a:prstGeom>
          <a:noFill/>
          <a:ln/>
        </p:spPr>
        <p:txBody>
          <a:bodyPr wrap="square" rtlCol="0" anchor="t"/>
          <a:lstStyle/>
          <a:p>
            <a:pPr indent="0" marL="0">
              <a:lnSpc>
                <a:spcPct val="115000"/>
              </a:lnSpc>
              <a:buNone/>
            </a:pPr>
            <a:r>
              <a:rPr lang="en-US" sz="1130" dirty="0">
                <a:solidFill>
                  <a:srgbClr val="5C6773"/>
                </a:solidFill>
                <a:latin typeface="Calibri" pitchFamily="34" charset="0"/>
                <a:ea typeface="Calibri" pitchFamily="34" charset="-122"/>
                <a:cs typeface="Calibri" pitchFamily="34" charset="-120"/>
              </a:rPr>
              <a:t>Test predictions are indexed as sequential frames; FRAMES_PER_MINUTE = 10 groups them into 1-minute intervals.</a:t>
            </a:r>
            <a:endParaRPr lang="en-US" sz="1130" dirty="0"/>
          </a:p>
        </p:txBody>
      </p:sp>
      <p:sp>
        <p:nvSpPr>
          <p:cNvPr id="8" name="Shape 6"/>
          <p:cNvSpPr/>
          <p:nvPr/>
        </p:nvSpPr>
        <p:spPr>
          <a:xfrm>
            <a:off x="548640" y="2560320"/>
            <a:ext cx="457200" cy="457200"/>
          </a:xfrm>
          <a:prstGeom prst="roundRect">
            <a:avLst>
              <a:gd name="adj" fmla="val 50000"/>
            </a:avLst>
          </a:prstGeom>
          <a:solidFill>
            <a:srgbClr val="2E86AB"/>
          </a:solidFill>
          <a:ln/>
        </p:spPr>
      </p:sp>
      <p:sp>
        <p:nvSpPr>
          <p:cNvPr id="9" name="Text 7"/>
          <p:cNvSpPr/>
          <p:nvPr/>
        </p:nvSpPr>
        <p:spPr>
          <a:xfrm>
            <a:off x="548640" y="2560320"/>
            <a:ext cx="457200" cy="45720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0" name="Text 8"/>
          <p:cNvSpPr/>
          <p:nvPr/>
        </p:nvSpPr>
        <p:spPr>
          <a:xfrm>
            <a:off x="1234440" y="2532888"/>
            <a:ext cx="2834640" cy="777240"/>
          </a:xfrm>
          <a:prstGeom prst="rect">
            <a:avLst/>
          </a:prstGeom>
          <a:noFill/>
          <a:ln/>
        </p:spPr>
        <p:txBody>
          <a:bodyPr wrap="square" rtlCol="0" anchor="t"/>
          <a:lstStyle/>
          <a:p>
            <a:pPr indent="0" marL="0">
              <a:buNone/>
            </a:pPr>
            <a:r>
              <a:rPr lang="en-US" sz="1300" b="1" dirty="0">
                <a:solidFill>
                  <a:srgbClr val="1B2430"/>
                </a:solidFill>
                <a:latin typeface="Cambria" pitchFamily="34" charset="0"/>
                <a:ea typeface="Cambria" pitchFamily="34" charset="-122"/>
                <a:cs typeface="Cambria" pitchFamily="34" charset="-120"/>
              </a:rPr>
              <a:t>Average Stage per Interval</a:t>
            </a:r>
            <a:endParaRPr lang="en-US" sz="1300" dirty="0"/>
          </a:p>
        </p:txBody>
      </p:sp>
      <p:sp>
        <p:nvSpPr>
          <p:cNvPr id="11" name="Text 9"/>
          <p:cNvSpPr/>
          <p:nvPr/>
        </p:nvSpPr>
        <p:spPr>
          <a:xfrm>
            <a:off x="4206240" y="2532888"/>
            <a:ext cx="7452360" cy="777240"/>
          </a:xfrm>
          <a:prstGeom prst="rect">
            <a:avLst/>
          </a:prstGeom>
          <a:noFill/>
          <a:ln/>
        </p:spPr>
        <p:txBody>
          <a:bodyPr wrap="square" rtlCol="0" anchor="t"/>
          <a:lstStyle/>
          <a:p>
            <a:pPr indent="0" marL="0">
              <a:lnSpc>
                <a:spcPct val="115000"/>
              </a:lnSpc>
              <a:buNone/>
            </a:pPr>
            <a:r>
              <a:rPr lang="en-US" sz="1130" dirty="0">
                <a:solidFill>
                  <a:srgbClr val="5C6773"/>
                </a:solidFill>
                <a:latin typeface="Calibri" pitchFamily="34" charset="0"/>
                <a:ea typeface="Calibri" pitchFamily="34" charset="-122"/>
                <a:cs typeface="Calibri" pitchFamily="34" charset="-120"/>
              </a:rPr>
              <a:t>The mean fatigue stage (0/1/2) is computed per interval and mapped back to Alert / Mild / Severe.</a:t>
            </a:r>
            <a:endParaRPr lang="en-US" sz="1130" dirty="0"/>
          </a:p>
        </p:txBody>
      </p:sp>
      <p:sp>
        <p:nvSpPr>
          <p:cNvPr id="12" name="Shape 10"/>
          <p:cNvSpPr/>
          <p:nvPr/>
        </p:nvSpPr>
        <p:spPr>
          <a:xfrm>
            <a:off x="548640" y="3429000"/>
            <a:ext cx="457200" cy="457200"/>
          </a:xfrm>
          <a:prstGeom prst="roundRect">
            <a:avLst>
              <a:gd name="adj" fmla="val 50000"/>
            </a:avLst>
          </a:prstGeom>
          <a:solidFill>
            <a:srgbClr val="2E86AB"/>
          </a:solidFill>
          <a:ln/>
        </p:spPr>
      </p:sp>
      <p:sp>
        <p:nvSpPr>
          <p:cNvPr id="13" name="Text 11"/>
          <p:cNvSpPr/>
          <p:nvPr/>
        </p:nvSpPr>
        <p:spPr>
          <a:xfrm>
            <a:off x="548640" y="3429000"/>
            <a:ext cx="457200" cy="45720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4" name="Text 12"/>
          <p:cNvSpPr/>
          <p:nvPr/>
        </p:nvSpPr>
        <p:spPr>
          <a:xfrm>
            <a:off x="1234440" y="3401568"/>
            <a:ext cx="2834640" cy="777240"/>
          </a:xfrm>
          <a:prstGeom prst="rect">
            <a:avLst/>
          </a:prstGeom>
          <a:noFill/>
          <a:ln/>
        </p:spPr>
        <p:txBody>
          <a:bodyPr wrap="square" rtlCol="0" anchor="t"/>
          <a:lstStyle/>
          <a:p>
            <a:pPr indent="0" marL="0">
              <a:buNone/>
            </a:pPr>
            <a:r>
              <a:rPr lang="en-US" sz="1300" b="1" dirty="0">
                <a:solidFill>
                  <a:srgbClr val="1B2430"/>
                </a:solidFill>
                <a:latin typeface="Cambria" pitchFamily="34" charset="0"/>
                <a:ea typeface="Cambria" pitchFamily="34" charset="-122"/>
                <a:cs typeface="Cambria" pitchFamily="34" charset="-120"/>
              </a:rPr>
              <a:t>Detect Real Transitions</a:t>
            </a:r>
            <a:endParaRPr lang="en-US" sz="1300" dirty="0"/>
          </a:p>
        </p:txBody>
      </p:sp>
      <p:sp>
        <p:nvSpPr>
          <p:cNvPr id="15" name="Text 13"/>
          <p:cNvSpPr/>
          <p:nvPr/>
        </p:nvSpPr>
        <p:spPr>
          <a:xfrm>
            <a:off x="4206240" y="3401568"/>
            <a:ext cx="7452360" cy="777240"/>
          </a:xfrm>
          <a:prstGeom prst="rect">
            <a:avLst/>
          </a:prstGeom>
          <a:noFill/>
          <a:ln/>
        </p:spPr>
        <p:txBody>
          <a:bodyPr wrap="square" rtlCol="0" anchor="t"/>
          <a:lstStyle/>
          <a:p>
            <a:pPr indent="0" marL="0">
              <a:lnSpc>
                <a:spcPct val="115000"/>
              </a:lnSpc>
              <a:buNone/>
            </a:pPr>
            <a:r>
              <a:rPr lang="en-US" sz="1130" dirty="0">
                <a:solidFill>
                  <a:srgbClr val="5C6773"/>
                </a:solidFill>
                <a:latin typeface="Calibri" pitchFamily="34" charset="0"/>
                <a:ea typeface="Calibri" pitchFamily="34" charset="-122"/>
                <a:cs typeface="Calibri" pitchFamily="34" charset="-120"/>
              </a:rPr>
              <a:t>The system flags only actual category changes between consecutive intervals — not simply the first minute crossing a threshold.</a:t>
            </a:r>
            <a:endParaRPr lang="en-US" sz="1130" dirty="0"/>
          </a:p>
        </p:txBody>
      </p:sp>
      <p:sp>
        <p:nvSpPr>
          <p:cNvPr id="16" name="Shape 14"/>
          <p:cNvSpPr/>
          <p:nvPr/>
        </p:nvSpPr>
        <p:spPr>
          <a:xfrm>
            <a:off x="548640" y="4434840"/>
            <a:ext cx="11064240" cy="1737360"/>
          </a:xfrm>
          <a:prstGeom prst="roundRect">
            <a:avLst>
              <a:gd name="adj" fmla="val 4211"/>
            </a:avLst>
          </a:prstGeom>
          <a:solidFill>
            <a:srgbClr val="0D1B2A"/>
          </a:solidFill>
          <a:ln/>
        </p:spPr>
      </p:sp>
      <p:sp>
        <p:nvSpPr>
          <p:cNvPr id="17" name="Text 15"/>
          <p:cNvSpPr/>
          <p:nvPr/>
        </p:nvSpPr>
        <p:spPr>
          <a:xfrm>
            <a:off x="822960" y="4572000"/>
            <a:ext cx="10515600" cy="320040"/>
          </a:xfrm>
          <a:prstGeom prst="rect">
            <a:avLst/>
          </a:prstGeom>
          <a:noFill/>
          <a:ln/>
        </p:spPr>
        <p:txBody>
          <a:bodyPr wrap="square" rtlCol="0" anchor="ctr"/>
          <a:lstStyle/>
          <a:p>
            <a:pPr indent="0" marL="0">
              <a:buNone/>
            </a:pPr>
            <a:r>
              <a:rPr lang="en-US" sz="1250" b="1" dirty="0">
                <a:solidFill>
                  <a:srgbClr val="F2A93B"/>
                </a:solidFill>
                <a:latin typeface="Calibri" pitchFamily="34" charset="0"/>
                <a:ea typeface="Calibri" pitchFamily="34" charset="-122"/>
                <a:cs typeface="Calibri" pitchFamily="34" charset="-120"/>
              </a:rPr>
              <a:t>⚠ Interpretation Caveat</a:t>
            </a:r>
            <a:endParaRPr lang="en-US" sz="1250" dirty="0"/>
          </a:p>
        </p:txBody>
      </p:sp>
      <p:sp>
        <p:nvSpPr>
          <p:cNvPr id="18" name="Text 16"/>
          <p:cNvSpPr/>
          <p:nvPr/>
        </p:nvSpPr>
        <p:spPr>
          <a:xfrm>
            <a:off x="822960" y="4937760"/>
            <a:ext cx="10515600" cy="1188720"/>
          </a:xfrm>
          <a:prstGeom prst="rect">
            <a:avLst/>
          </a:prstGeom>
          <a:noFill/>
          <a:ln/>
        </p:spPr>
        <p:txBody>
          <a:bodyPr wrap="square" rtlCol="0" anchor="ctr"/>
          <a:lstStyle/>
          <a:p>
            <a:pPr indent="0" marL="0">
              <a:lnSpc>
                <a:spcPct val="125000"/>
              </a:lnSpc>
              <a:buNone/>
            </a:pPr>
            <a:r>
              <a:rPr lang="en-US" sz="1150" dirty="0">
                <a:solidFill>
                  <a:srgbClr val="D5E1EA"/>
                </a:solidFill>
                <a:latin typeface="Calibri" pitchFamily="34" charset="0"/>
                <a:ea typeface="Calibri" pitchFamily="34" charset="-122"/>
                <a:cs typeface="Calibri" pitchFamily="34" charset="-120"/>
              </a:rPr>
              <a:t>A static test dataset is not a real driving session, so this section uses a simulated sequence rather than a live video feed. Do not describe the driver as "naturally progressing" from Alert → Mild → Severe unless minute_summary and transition_df actually show those transitions in chronological order. The result demonstrates the requested processing logic — it does not prove real-time physiological fatigue progression.</a:t>
            </a:r>
            <a:endParaRPr lang="en-US" sz="1150" dirty="0"/>
          </a:p>
        </p:txBody>
      </p:sp>
      <p:sp>
        <p:nvSpPr>
          <p:cNvPr id="19" name="Text 17"/>
          <p:cNvSpPr/>
          <p:nvPr/>
        </p:nvSpPr>
        <p:spPr>
          <a:xfrm>
            <a:off x="457200" y="6492240"/>
            <a:ext cx="6400800" cy="274320"/>
          </a:xfrm>
          <a:prstGeom prst="rect">
            <a:avLst/>
          </a:prstGeom>
          <a:noFill/>
          <a:ln/>
        </p:spPr>
        <p:txBody>
          <a:bodyPr wrap="square" rtlCol="0" anchor="ctr"/>
          <a:lstStyle/>
          <a:p>
            <a:pPr algn="l" indent="0" marL="0">
              <a:buNone/>
            </a:pPr>
            <a:r>
              <a:rPr lang="en-US" sz="900" dirty="0">
                <a:solidFill>
                  <a:srgbClr val="5C6773"/>
                </a:solidFill>
                <a:latin typeface="Calibri" pitchFamily="34" charset="0"/>
                <a:ea typeface="Calibri" pitchFamily="34" charset="-122"/>
                <a:cs typeface="Calibri" pitchFamily="34" charset="-120"/>
              </a:rPr>
              <a:t>Driver Drowsiness Detection</a:t>
            </a:r>
            <a:endParaRPr lang="en-US" sz="900" dirty="0"/>
          </a:p>
        </p:txBody>
      </p:sp>
      <p:sp>
        <p:nvSpPr>
          <p:cNvPr id="20" name="Text 18"/>
          <p:cNvSpPr/>
          <p:nvPr/>
        </p:nvSpPr>
        <p:spPr>
          <a:xfrm>
            <a:off x="11274552" y="6492240"/>
            <a:ext cx="457200" cy="274320"/>
          </a:xfrm>
          <a:prstGeom prst="rect">
            <a:avLst/>
          </a:prstGeom>
          <a:noFill/>
          <a:ln/>
        </p:spPr>
        <p:txBody>
          <a:bodyPr wrap="square" rtlCol="0" anchor="ctr"/>
          <a:lstStyle/>
          <a:p>
            <a:pPr algn="r" indent="0" marL="0">
              <a:buNone/>
            </a:pPr>
            <a:r>
              <a:rPr lang="en-US" sz="900" dirty="0">
                <a:solidFill>
                  <a:srgbClr val="5C6773"/>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1371600" y="-1371600"/>
            <a:ext cx="4114800" cy="4114800"/>
          </a:xfrm>
          <a:prstGeom prst="ellipse">
            <a:avLst/>
          </a:prstGeom>
          <a:solidFill>
            <a:srgbClr val="132A42"/>
          </a:solidFill>
          <a:ln/>
        </p:spPr>
      </p:sp>
      <p:sp>
        <p:nvSpPr>
          <p:cNvPr id="3" name="Shape 1"/>
          <p:cNvSpPr/>
          <p:nvPr/>
        </p:nvSpPr>
        <p:spPr>
          <a:xfrm>
            <a:off x="9875520" y="4389120"/>
            <a:ext cx="3657600" cy="3657600"/>
          </a:xfrm>
          <a:prstGeom prst="ellipse">
            <a:avLst/>
          </a:prstGeom>
          <a:solidFill>
            <a:srgbClr val="132A42"/>
          </a:solidFill>
          <a:ln/>
        </p:spPr>
      </p:sp>
      <p:sp>
        <p:nvSpPr>
          <p:cNvPr id="4" name="Text 2"/>
          <p:cNvSpPr/>
          <p:nvPr/>
        </p:nvSpPr>
        <p:spPr>
          <a:xfrm>
            <a:off x="640080" y="457200"/>
            <a:ext cx="10881360" cy="64008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Robustness, Limitations &amp; Conclusion</a:t>
            </a:r>
            <a:endParaRPr lang="en-US" sz="2800" dirty="0"/>
          </a:p>
        </p:txBody>
      </p:sp>
      <p:sp>
        <p:nvSpPr>
          <p:cNvPr id="5" name="Text 3"/>
          <p:cNvSpPr/>
          <p:nvPr/>
        </p:nvSpPr>
        <p:spPr>
          <a:xfrm>
            <a:off x="640080" y="1280160"/>
            <a:ext cx="5303520" cy="320040"/>
          </a:xfrm>
          <a:prstGeom prst="rect">
            <a:avLst/>
          </a:prstGeom>
          <a:noFill/>
          <a:ln/>
        </p:spPr>
        <p:txBody>
          <a:bodyPr wrap="square" rtlCol="0" anchor="ctr"/>
          <a:lstStyle/>
          <a:p>
            <a:pPr indent="0" marL="0">
              <a:buNone/>
            </a:pPr>
            <a:r>
              <a:rPr lang="en-US" sz="1300" b="1" dirty="0">
                <a:solidFill>
                  <a:srgbClr val="F2A93B"/>
                </a:solidFill>
                <a:latin typeface="Calibri" pitchFamily="34" charset="0"/>
                <a:ea typeface="Calibri" pitchFamily="34" charset="-122"/>
                <a:cs typeface="Calibri" pitchFamily="34" charset="-120"/>
              </a:rPr>
              <a:t>Real-World Risk Factors</a:t>
            </a:r>
            <a:endParaRPr lang="en-US" sz="1300" dirty="0"/>
          </a:p>
        </p:txBody>
      </p:sp>
      <p:sp>
        <p:nvSpPr>
          <p:cNvPr id="6" name="Text 4"/>
          <p:cNvSpPr/>
          <p:nvPr/>
        </p:nvSpPr>
        <p:spPr>
          <a:xfrm>
            <a:off x="640080" y="1645920"/>
            <a:ext cx="5303520" cy="292608"/>
          </a:xfrm>
          <a:prstGeom prst="rect">
            <a:avLst/>
          </a:prstGeom>
          <a:noFill/>
          <a:ln/>
        </p:spPr>
        <p:txBody>
          <a:bodyPr wrap="square" rtlCol="0" anchor="ctr"/>
          <a:lstStyle/>
          <a:p>
            <a:pPr indent="0" marL="0">
              <a:buNone/>
            </a:pPr>
            <a:r>
              <a:rPr lang="en-US" sz="1150" dirty="0">
                <a:solidFill>
                  <a:srgbClr val="D5E1EA"/>
                </a:solidFill>
                <a:latin typeface="Calibri" pitchFamily="34" charset="0"/>
                <a:ea typeface="Calibri" pitchFamily="34" charset="-122"/>
                <a:cs typeface="Calibri" pitchFamily="34" charset="-120"/>
              </a:rPr>
              <a:t>•  Low or changing illumination</a:t>
            </a:r>
            <a:endParaRPr lang="en-US" sz="1150" dirty="0"/>
          </a:p>
        </p:txBody>
      </p:sp>
      <p:sp>
        <p:nvSpPr>
          <p:cNvPr id="7" name="Text 5"/>
          <p:cNvSpPr/>
          <p:nvPr/>
        </p:nvSpPr>
        <p:spPr>
          <a:xfrm>
            <a:off x="640080" y="2011680"/>
            <a:ext cx="5303520" cy="292608"/>
          </a:xfrm>
          <a:prstGeom prst="rect">
            <a:avLst/>
          </a:prstGeom>
          <a:noFill/>
          <a:ln/>
        </p:spPr>
        <p:txBody>
          <a:bodyPr wrap="square" rtlCol="0" anchor="ctr"/>
          <a:lstStyle/>
          <a:p>
            <a:pPr indent="0" marL="0">
              <a:buNone/>
            </a:pPr>
            <a:r>
              <a:rPr lang="en-US" sz="1150" dirty="0">
                <a:solidFill>
                  <a:srgbClr val="D5E1EA"/>
                </a:solidFill>
                <a:latin typeface="Calibri" pitchFamily="34" charset="0"/>
                <a:ea typeface="Calibri" pitchFamily="34" charset="-122"/>
                <a:cs typeface="Calibri" pitchFamily="34" charset="-120"/>
              </a:rPr>
              <a:t>•  Head rotation / unusual camera angles</a:t>
            </a:r>
            <a:endParaRPr lang="en-US" sz="1150" dirty="0"/>
          </a:p>
        </p:txBody>
      </p:sp>
      <p:sp>
        <p:nvSpPr>
          <p:cNvPr id="8" name="Text 6"/>
          <p:cNvSpPr/>
          <p:nvPr/>
        </p:nvSpPr>
        <p:spPr>
          <a:xfrm>
            <a:off x="640080" y="2377440"/>
            <a:ext cx="5303520" cy="292608"/>
          </a:xfrm>
          <a:prstGeom prst="rect">
            <a:avLst/>
          </a:prstGeom>
          <a:noFill/>
          <a:ln/>
        </p:spPr>
        <p:txBody>
          <a:bodyPr wrap="square" rtlCol="0" anchor="ctr"/>
          <a:lstStyle/>
          <a:p>
            <a:pPr indent="0" marL="0">
              <a:buNone/>
            </a:pPr>
            <a:r>
              <a:rPr lang="en-US" sz="1150" dirty="0">
                <a:solidFill>
                  <a:srgbClr val="D5E1EA"/>
                </a:solidFill>
                <a:latin typeface="Calibri" pitchFamily="34" charset="0"/>
                <a:ea typeface="Calibri" pitchFamily="34" charset="-122"/>
                <a:cs typeface="Calibri" pitchFamily="34" charset="-120"/>
              </a:rPr>
              <a:t>•  Occluded eyes or mouth</a:t>
            </a:r>
            <a:endParaRPr lang="en-US" sz="1150" dirty="0"/>
          </a:p>
        </p:txBody>
      </p:sp>
      <p:sp>
        <p:nvSpPr>
          <p:cNvPr id="9" name="Text 7"/>
          <p:cNvSpPr/>
          <p:nvPr/>
        </p:nvSpPr>
        <p:spPr>
          <a:xfrm>
            <a:off x="640080" y="2743200"/>
            <a:ext cx="5303520" cy="292608"/>
          </a:xfrm>
          <a:prstGeom prst="rect">
            <a:avLst/>
          </a:prstGeom>
          <a:noFill/>
          <a:ln/>
        </p:spPr>
        <p:txBody>
          <a:bodyPr wrap="square" rtlCol="0" anchor="ctr"/>
          <a:lstStyle/>
          <a:p>
            <a:pPr indent="0" marL="0">
              <a:buNone/>
            </a:pPr>
            <a:r>
              <a:rPr lang="en-US" sz="1150" dirty="0">
                <a:solidFill>
                  <a:srgbClr val="D5E1EA"/>
                </a:solidFill>
                <a:latin typeface="Calibri" pitchFamily="34" charset="0"/>
                <a:ea typeface="Calibri" pitchFamily="34" charset="-122"/>
                <a:cs typeface="Calibri" pitchFamily="34" charset="-120"/>
              </a:rPr>
              <a:t>•  Glasses or reflections</a:t>
            </a:r>
            <a:endParaRPr lang="en-US" sz="1150" dirty="0"/>
          </a:p>
        </p:txBody>
      </p:sp>
      <p:sp>
        <p:nvSpPr>
          <p:cNvPr id="10" name="Text 8"/>
          <p:cNvSpPr/>
          <p:nvPr/>
        </p:nvSpPr>
        <p:spPr>
          <a:xfrm>
            <a:off x="640080" y="3108960"/>
            <a:ext cx="5303520" cy="292608"/>
          </a:xfrm>
          <a:prstGeom prst="rect">
            <a:avLst/>
          </a:prstGeom>
          <a:noFill/>
          <a:ln/>
        </p:spPr>
        <p:txBody>
          <a:bodyPr wrap="square" rtlCol="0" anchor="ctr"/>
          <a:lstStyle/>
          <a:p>
            <a:pPr indent="0" marL="0">
              <a:buNone/>
            </a:pPr>
            <a:r>
              <a:rPr lang="en-US" sz="1150" dirty="0">
                <a:solidFill>
                  <a:srgbClr val="D5E1EA"/>
                </a:solidFill>
                <a:latin typeface="Calibri" pitchFamily="34" charset="0"/>
                <a:ea typeface="Calibri" pitchFamily="34" charset="-122"/>
                <a:cs typeface="Calibri" pitchFamily="34" charset="-120"/>
              </a:rPr>
              <a:t>•  Facial-expression variation</a:t>
            </a:r>
            <a:endParaRPr lang="en-US" sz="1150" dirty="0"/>
          </a:p>
        </p:txBody>
      </p:sp>
      <p:sp>
        <p:nvSpPr>
          <p:cNvPr id="11" name="Text 9"/>
          <p:cNvSpPr/>
          <p:nvPr/>
        </p:nvSpPr>
        <p:spPr>
          <a:xfrm>
            <a:off x="640080" y="3474720"/>
            <a:ext cx="5303520" cy="292608"/>
          </a:xfrm>
          <a:prstGeom prst="rect">
            <a:avLst/>
          </a:prstGeom>
          <a:noFill/>
          <a:ln/>
        </p:spPr>
        <p:txBody>
          <a:bodyPr wrap="square" rtlCol="0" anchor="ctr"/>
          <a:lstStyle/>
          <a:p>
            <a:pPr indent="0" marL="0">
              <a:buNone/>
            </a:pPr>
            <a:r>
              <a:rPr lang="en-US" sz="1150" dirty="0">
                <a:solidFill>
                  <a:srgbClr val="D5E1EA"/>
                </a:solidFill>
                <a:latin typeface="Calibri" pitchFamily="34" charset="0"/>
                <a:ea typeface="Calibri" pitchFamily="34" charset="-122"/>
                <a:cs typeface="Calibri" pitchFamily="34" charset="-120"/>
              </a:rPr>
              <a:t>•  Poor image quality or camera placement</a:t>
            </a:r>
            <a:endParaRPr lang="en-US" sz="1150" dirty="0"/>
          </a:p>
        </p:txBody>
      </p:sp>
      <p:sp>
        <p:nvSpPr>
          <p:cNvPr id="12" name="Text 10"/>
          <p:cNvSpPr/>
          <p:nvPr/>
        </p:nvSpPr>
        <p:spPr>
          <a:xfrm>
            <a:off x="640080" y="3840480"/>
            <a:ext cx="5303520" cy="292608"/>
          </a:xfrm>
          <a:prstGeom prst="rect">
            <a:avLst/>
          </a:prstGeom>
          <a:noFill/>
          <a:ln/>
        </p:spPr>
        <p:txBody>
          <a:bodyPr wrap="square" rtlCol="0" anchor="ctr"/>
          <a:lstStyle/>
          <a:p>
            <a:pPr indent="0" marL="0">
              <a:buNone/>
            </a:pPr>
            <a:r>
              <a:rPr lang="en-US" sz="1150" dirty="0">
                <a:solidFill>
                  <a:srgbClr val="D5E1EA"/>
                </a:solidFill>
                <a:latin typeface="Calibri" pitchFamily="34" charset="0"/>
                <a:ea typeface="Calibri" pitchFamily="34" charset="-122"/>
                <a:cs typeface="Calibri" pitchFamily="34" charset="-120"/>
              </a:rPr>
              <a:t>•  Training data vs. real-world driver differences</a:t>
            </a:r>
            <a:endParaRPr lang="en-US" sz="1150" dirty="0"/>
          </a:p>
        </p:txBody>
      </p:sp>
      <p:sp>
        <p:nvSpPr>
          <p:cNvPr id="13" name="Text 11"/>
          <p:cNvSpPr/>
          <p:nvPr/>
        </p:nvSpPr>
        <p:spPr>
          <a:xfrm>
            <a:off x="6309360" y="1280160"/>
            <a:ext cx="5212080" cy="320040"/>
          </a:xfrm>
          <a:prstGeom prst="rect">
            <a:avLst/>
          </a:prstGeom>
          <a:noFill/>
          <a:ln/>
        </p:spPr>
        <p:txBody>
          <a:bodyPr wrap="square" rtlCol="0" anchor="ctr"/>
          <a:lstStyle/>
          <a:p>
            <a:pPr indent="0" marL="0">
              <a:buNone/>
            </a:pPr>
            <a:r>
              <a:rPr lang="en-US" sz="1300" b="1" dirty="0">
                <a:solidFill>
                  <a:srgbClr val="F2A93B"/>
                </a:solidFill>
                <a:latin typeface="Calibri" pitchFamily="34" charset="0"/>
                <a:ea typeface="Calibri" pitchFamily="34" charset="-122"/>
                <a:cs typeface="Calibri" pitchFamily="34" charset="-120"/>
              </a:rPr>
              <a:t>Conclusion &amp; Recommendations</a:t>
            </a:r>
            <a:endParaRPr lang="en-US" sz="1300" dirty="0"/>
          </a:p>
        </p:txBody>
      </p:sp>
      <p:sp>
        <p:nvSpPr>
          <p:cNvPr id="14" name="Text 12"/>
          <p:cNvSpPr/>
          <p:nvPr/>
        </p:nvSpPr>
        <p:spPr>
          <a:xfrm>
            <a:off x="6309360" y="1645920"/>
            <a:ext cx="5212080" cy="3108960"/>
          </a:xfrm>
          <a:prstGeom prst="rect">
            <a:avLst/>
          </a:prstGeom>
          <a:noFill/>
          <a:ln/>
        </p:spPr>
        <p:txBody>
          <a:bodyPr wrap="square" rtlCol="0" anchor="ctr"/>
          <a:lstStyle/>
          <a:p>
            <a:pPr marL="342900" indent="-342900">
              <a:lnSpc>
                <a:spcPct val="128000"/>
              </a:lnSpc>
              <a:spcAft>
                <a:spcPts val="900"/>
              </a:spcAft>
              <a:buSzPct val="100000"/>
              <a:buChar char="•"/>
            </a:pPr>
            <a:r>
              <a:rPr lang="en-US" sz="1150" dirty="0">
                <a:solidFill>
                  <a:srgbClr val="D5E1EA"/>
                </a:solidFill>
                <a:latin typeface="Calibri" pitchFamily="34" charset="0"/>
                <a:ea typeface="Calibri" pitchFamily="34" charset="-122"/>
                <a:cs typeface="Calibri" pitchFamily="34" charset="-120"/>
              </a:rPr>
              <a:t>MobileNetV2 transfer learning outperforms the Custom CNN on both tasks — 99.08% (eye) and 72.94% (mouth) test accuracy.</a:t>
            </a:r>
            <a:endParaRPr lang="en-US" sz="1150" dirty="0"/>
          </a:p>
          <a:p>
            <a:pPr marL="342900" indent="-342900">
              <a:lnSpc>
                <a:spcPct val="128000"/>
              </a:lnSpc>
              <a:spcAft>
                <a:spcPts val="900"/>
              </a:spcAft>
              <a:buSzPct val="100000"/>
              <a:buChar char="•"/>
            </a:pPr>
            <a:r>
              <a:rPr lang="en-US" sz="1150" dirty="0">
                <a:solidFill>
                  <a:srgbClr val="D5E1EA"/>
                </a:solidFill>
                <a:latin typeface="Calibri" pitchFamily="34" charset="0"/>
                <a:ea typeface="Calibri" pitchFamily="34" charset="-122"/>
                <a:cs typeface="Calibri" pitchFamily="34" charset="-120"/>
              </a:rPr>
              <a:t>Eye-state detection is production-ready; yawn detection needs more data, better mouth cropping, or additional fine-tuning.</a:t>
            </a:r>
            <a:endParaRPr lang="en-US" sz="1150" dirty="0"/>
          </a:p>
          <a:p>
            <a:pPr marL="342900" indent="-342900">
              <a:lnSpc>
                <a:spcPct val="128000"/>
              </a:lnSpc>
              <a:spcAft>
                <a:spcPts val="900"/>
              </a:spcAft>
              <a:buSzPct val="100000"/>
              <a:buChar char="•"/>
            </a:pPr>
            <a:r>
              <a:rPr lang="en-US" sz="1150" dirty="0">
                <a:solidFill>
                  <a:srgbClr val="D5E1EA"/>
                </a:solidFill>
                <a:latin typeface="Calibri" pitchFamily="34" charset="0"/>
                <a:ea typeface="Calibri" pitchFamily="34" charset="-122"/>
                <a:cs typeface="Calibri" pitchFamily="34" charset="-120"/>
              </a:rPr>
              <a:t>Frame-level fusion requires paired eye/mouth crops from the same original image — a prerequisite for a valid real-time system.</a:t>
            </a:r>
            <a:endParaRPr lang="en-US" sz="1150" dirty="0"/>
          </a:p>
          <a:p>
            <a:pPr marL="342900" indent="-342900">
              <a:lnSpc>
                <a:spcPct val="128000"/>
              </a:lnSpc>
              <a:spcAft>
                <a:spcPts val="900"/>
              </a:spcAft>
              <a:buSzPct val="100000"/>
              <a:buChar char="•"/>
            </a:pPr>
            <a:r>
              <a:rPr lang="en-US" sz="1150" dirty="0">
                <a:solidFill>
                  <a:srgbClr val="D5E1EA"/>
                </a:solidFill>
                <a:latin typeface="Calibri" pitchFamily="34" charset="0"/>
                <a:ea typeface="Calibri" pitchFamily="34" charset="-122"/>
                <a:cs typeface="Calibri" pitchFamily="34" charset="-120"/>
              </a:rPr>
              <a:t>Next steps: unfreeze and fine-tune MobileNetV2 layers, collect more yawn examples, and validate on real driving footage.</a:t>
            </a:r>
            <a:endParaRPr lang="en-US" sz="1150" dirty="0"/>
          </a:p>
        </p:txBody>
      </p:sp>
      <p:sp>
        <p:nvSpPr>
          <p:cNvPr id="15" name="Shape 13"/>
          <p:cNvSpPr/>
          <p:nvPr/>
        </p:nvSpPr>
        <p:spPr>
          <a:xfrm>
            <a:off x="640080" y="5577840"/>
            <a:ext cx="10972800" cy="0"/>
          </a:xfrm>
          <a:prstGeom prst="line">
            <a:avLst/>
          </a:prstGeom>
          <a:noFill/>
          <a:ln w="12700">
            <a:solidFill>
              <a:srgbClr val="22405A"/>
            </a:solidFill>
            <a:prstDash val="solid"/>
          </a:ln>
        </p:spPr>
      </p:sp>
      <p:sp>
        <p:nvSpPr>
          <p:cNvPr id="16" name="Text 14"/>
          <p:cNvSpPr/>
          <p:nvPr/>
        </p:nvSpPr>
        <p:spPr>
          <a:xfrm>
            <a:off x="640080" y="5742432"/>
            <a:ext cx="8229600" cy="365760"/>
          </a:xfrm>
          <a:prstGeom prst="rect">
            <a:avLst/>
          </a:prstGeom>
          <a:noFill/>
          <a:ln/>
        </p:spPr>
        <p:txBody>
          <a:bodyPr wrap="square" rtlCol="0" anchor="ctr"/>
          <a:lstStyle/>
          <a:p>
            <a:pPr indent="0" marL="0">
              <a:buNone/>
            </a:pPr>
            <a:r>
              <a:rPr lang="en-US" sz="1050" dirty="0">
                <a:solidFill>
                  <a:srgbClr val="6E8AA0"/>
                </a:solidFill>
                <a:latin typeface="Calibri" pitchFamily="34" charset="0"/>
                <a:ea typeface="Calibri" pitchFamily="34" charset="-122"/>
                <a:cs typeface="Calibri" pitchFamily="34" charset="-120"/>
              </a:rPr>
              <a:t>Driver Drowsiness Detection — Eye Closure and Yawning Analysis with Deep Learning</a:t>
            </a:r>
            <a:endParaRPr lang="en-US" sz="1050" dirty="0"/>
          </a:p>
        </p:txBody>
      </p:sp>
      <p:sp>
        <p:nvSpPr>
          <p:cNvPr id="17" name="Text 15"/>
          <p:cNvSpPr/>
          <p:nvPr/>
        </p:nvSpPr>
        <p:spPr>
          <a:xfrm>
            <a:off x="11274552" y="5742432"/>
            <a:ext cx="457200" cy="365760"/>
          </a:xfrm>
          <a:prstGeom prst="rect">
            <a:avLst/>
          </a:prstGeom>
          <a:noFill/>
          <a:ln/>
        </p:spPr>
        <p:txBody>
          <a:bodyPr wrap="square" rtlCol="0" anchor="ctr"/>
          <a:lstStyle/>
          <a:p>
            <a:pPr algn="r" indent="0" marL="0">
              <a:buNone/>
            </a:pPr>
            <a:r>
              <a:rPr lang="en-US" sz="1050" dirty="0">
                <a:solidFill>
                  <a:srgbClr val="6E8AA0"/>
                </a:solidFill>
                <a:latin typeface="Calibri" pitchFamily="34" charset="0"/>
                <a:ea typeface="Calibri" pitchFamily="34" charset="-122"/>
                <a:cs typeface="Calibri" pitchFamily="34" charset="-120"/>
              </a:rPr>
              <a:t>14</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2026-08-27T11:30:29Z</dcterms:created>
  <dcterms:modified xsi:type="dcterms:W3CDTF">2026-08-27T11:30:29Z</dcterms:modified>
</cp:coreProperties>
</file>